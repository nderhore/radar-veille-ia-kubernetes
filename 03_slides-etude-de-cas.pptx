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 cas" id="{ab75761e-c3d1-e89f-3410-5eeb519bba6f}">
          <p14:sldIdLst>
            <p14:sldId id="256"/>
            <p14:sldId id="257"/>
            <p14:sldId id="258"/>
            <p14:sldId id="259"/>
            <p14:sldId id="260"/>
            <p14:sldId id="261"/>
            <p14:sldId id="262"/>
          </p14:sldIdLst>
        </p14:section>
        <p14:section name="Décisions" id="{c72e30d5-0a31-2a96-f436-7ee2d44739cb}">
          <p14:sldIdLst>
            <p14:sldId id="263"/>
            <p14:sldId id="264"/>
            <p14:sldId id="265"/>
            <p14:sldId id="266"/>
            <p14:sldId id="267"/>
            <p14:sldId id="268"/>
            <p14:sldId id="269"/>
            <p14:sldId id="270"/>
            <p14:sldId id="271"/>
            <p14:sldId id="272"/>
          </p14:sldIdLst>
        </p14:section>
        <p14:section name="Mises en situation" id="{06b01e7a-2458-8214-b83e-240f0dff972a}">
          <p14:sldIdLst>
            <p14:sldId id="273"/>
            <p14:sldId id="274"/>
            <p14:sldId id="275"/>
            <p14:sldId id="276"/>
          </p14:sldIdLst>
        </p14:section>
        <p14:section name="Synthèse" id="{1e4a6287-e81a-ccb0-2886-ee600af7838b}">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cas comme la suite du live : le radar construit en Python fonctionne, on doit maintenant l'industrialiser.
Annoncer la forme : un contexte, des exigences, treize décisions argumentées, puis des mises en situation reproduites en direct sur la plateforme.
Le code complet est fourni dans le dossier plateforme : backend Java, front Angular, manifestes Kubernetes, scripts de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l'entreprise : fictive mais réaliste. 1 400 personnes, trois marchés : industrie, santé, secteur public.
Son modèle repose en grande partie sur des prestations de développement et de recette, précisément ce que l'IA commence à automatiser.
Ses clients santé et public imposent des exigences fortes : hébergement en France, conformité, sécurité.
Message : pour Altéa, la veille technologique conditionne son modèle économique. Si le radar tombe en panne, les décisions se prennent sur des informations périmées.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défi correspond à une décision à prendre dans les 6 à 18 mois, et donc à une question du protocole de veille.
Défi 1 : les agents d'IA automatisent une partie des prestations. C'est une menace sur le chiffre d'affaires, mais aussi une opportunité d'offre.
Défi 2 : les appels d'offres santé et public imposent souveraineté et conformité AI Act.
Défi 3 : la facture d'API des modèles pèse sur les marges des offres IA.
Défi 4 : les attaques par injection de consignes visent les assistants connectés aux données.
Conséquence : le radar devient un outil de décision. Or il est déjà tombé deux fois en panne sans que personne ne le voie. C'est le point de départ de l'industrialisation.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Altéa est fictive mais réaliste : une ESN de taille intermédiaire, trois unités d'affaires, des clients exigeants sur l'hébergement.
Le pilote a fonctionné : deux décisions du CODIR s'appuient sur ses fiches. D'où trois demandes simultanées.
Insister sur la troisième : les pannes silencieuses. C'est le fil rouge du cas. Une veille qui tombe en panne sans que personne ne le sache est pire qu'une absence de veille, car elle donne une fausse assurance.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la problématique, puis montrer les deux risques symétriques.
Chaque décision qui suit est un arbitrage entre ces deux colonnes. Demander à la salle de garder cette grille en tête.
Exemple pour amorcer : un service mesh pour trois services, est-ce de la sur-industrialisation ? Réponse à la décision D3.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calculer le budget d'erreur : 0,5 % de 30 jours, soit environ 3 h 36 min d'indisponibilité tolérée par mois.
NF3 est la réponse directe aux pannes silencieuses : la fraîcheur de la veille devient une exigence mesurée, donc une alerte.
NF4 : distinguer RPO (combien de données peut-on perdre) et RTO (combien de temps pour rétablir).
NF9 annonce la séparation des alertes métier et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Suivre une requête : le navigateur atteint la passerelle Istio, qui route / vers le front et /api vers radar-api. radar-api passe par PgBouncer pour atteindre le primaire PostgreSQL.
Suivre une collecte : le collecteur sort vers les sources autorisées (liste blanche), puis appelle l'API interne avec son identité mTLS.
La base est hors maillage, choix expliqué en D3.
En bas : l'observabilité. Vector lit les journaux de tous les conteneurs, Prometheus collecte les métriques, Alertmanager route les alertes.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voter avant de révéler : monolithe, deux services, microservices fins ?
Argument décisif : la collecte et l'API ont des profils de panne opposés. Une source tierce instable ne doit pas dégrader l'API soumise au SLO.
Le collecteur est un singleton : ce n'est pas un défaut, c'est un choix. Une collecte manquée est rattrapée au cycle suivant, et l'alerte de fraîcheur détecte une absence prolongée.
Signal de révision : au-delà de dix sources, extraire des collecteurs par famille avec une file de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de vigilance à énoncer clairement : pour une équipe sans compétence Kubernetes, la décision rationnelle serait un PaaS avec une base managée.
D2 est juste dans le contexte d'Altéa parce que la plateforme existe déjà : le coût marginal est faible.
C'est une leçon générale : une décision d'architecture n'est jamais bonne dans l'absolu, elle l'est dans un contexte.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zero trust impose mTLS et identités : sans maillage, il faudrait le coder dans chaque service.
Istio sidecar plutôt qu'ambient : autorisations L7 directement sur chaque pod, maturité et compétences du marché. Ambient est le signal de révision, car il réduirait l'empreinte mémoire.
La base est hors maillage : l'opérateur doit joindre les instances directement, PostgreSQL chiffre déjà en TLS, et un proxy dans le chemin des données ajouterait latence et point de défaillance.
Cas particuliers rencontrés : Prometheus hors maillage (exception PERMISSIVE sur le port 8081), ordre de démarrage (holdApplicationUntilProxyStarts).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volume est faible mais les verdicts des analystes sont irremplaçables : la durabilité prime.
CloudNativePG apporte bascule automatique, sauvegardes continues et restauration à un instant donné, en configuration déclarative versionnée dans Git.
Le prix : l'équipe devient responsable de la base. Insister : une sauvegarde jamais restaurée n'est pas une sauvegarde, d'où un exercice de restauration trimestriel.
La DBaaS reste une option défendable, c'est le signal de 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arbitrage : avec l'autoscaling, chaque réplica ouvre son pool ; PgBouncer en mode transaction mutualise. Les requêtes préparées JDBC sont compatibles grâce à max_prepared_statements.
Second arbitrage, plus profond : la réplication synchrone garantit zéro perte, mais les écritures attendent un réplica. Sans réplica disponible, elles sont bloquées.
C'est le théorème CAP, dans sa lecture PACELC. Ce choix crée un nouveau mode de défaillance, qu'il faut instrumenter : alerte critique RadarPostgresNoSyncReplica et runbook.
Leçon : toute décision crée de nouveaux risques ; une bonne décision les nomme et les surveille.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principes. Un : alerter sur les symptômes perçus (SLO), calculés à partir des métriques Envoy, donc homogènes sans code.
Deux : alertes multi-fenêtres sur le taux de consommation du budget d'erreur. ×14,4 sur 1 h et 5 min consomme 2 % du budget mensuel en une heure : critique. ×6 sur 6 h et 30 min : avertissement. La double fenêtre filtre les pics brefs et laisse l'alerte se résorber vite.
Trois : séparer les destinataires. La route team=veille envoie le signal de rupture à l'équipe veille, jamais à l'astreinte.
La panne silencieuse du pilote devient l'alerte RadarCollectorStale.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lit les journaux de tous les conteneurs. La transformation VRL extrait niveau et message des journaux JSON de Spring Boot et convertit les journaux d'accès Envoy en événements.
Masquage RGPD des adresses électroniques avant stockage : la minimisation est faite au plus près de la source.
Les sondes de santé sont filtrées : c'est l'essentiel du volume, et elles n'apportent aucune information.
Vector produit aussi des métriques à partir des journaux, qui alimentent l'alerte RadarErrorLogsSpike.
Anecdote de préparation : vector validate a détecté quatre erreurs de typage VRL avant tout déploiement. Argument fort pour un langage typé.
Loki n'indexe que trois labels à faible cardinalité : c'est ce qui le rend économique.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D9 : la CI ne touche jamais le cluster. Elle teste, construit, analyse avec Trivy, signe avec cosign, puis modifie le dépôt. Argo CD réconcilie.
Bénéfices : Git devient le journal des déploiements (NF6), retour arrière par git revert, aucune clé du cluster dans la CI, dérive corrigée automatiquement.
Contrepartie : plus de correction à chaud hors Git, y compris en incident, sauf procédure d'urgence.
D8 : Tempo reçoit les traces des proxys Envoy à 10 %. Limite : sans propagation dans le code, les traces s'arrêtent à chaque service ; c'est inscrit à la feuille de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mise à jour progressive classique remplace tous les pods en quelques minutes : une version défectueuse atteint 100 % du trafic.
Avec Istio, la v2 reçoit 10 % du trafic par simple configuration (VirtualService pondéré), à l'entrée comme à l'intérieur du maillage.
On observe le taux d'erreur par version sur le tableau de bord, puis on promeut ou on revient en arrière en une commande.
Signal de révision : au-delà d'une mise en production par semaine, automatiser avec Argo Rollouts, à partir des mêmes règles SLO.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D11 : Angular est le standard interne ; composants autonomes, signaux, sans zone.js. Servi par nginx non privilégié, système de fichiers en lecture seule, Content Security Policy.
D12 : aucun secret dans Git. External Secrets synchronise depuis un coffre. Les identifiants PostgreSQL sont générés par l'opérateur et ne quittent pas le cluster. Alertmanager lit ses webhooks dans des fichiers montés.
D13 : défense en profondeur, une mesure par menace. Insister sur l'egress en liste blanche : un collecteur compromis ne peut rien exfiltrer.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sous Docker Compose (dossier demo) : même code Java et Angular, même chaîne d'observabilité que la plateforme complète, sans Kubernetes. Choix de fiabilité pour le live.
Ouvrir le radar (http://localhost:8088) : sujets, derniers signaux. Rendre un verdict « bruit » et montrer que le sujet disparaît au recalcul.
Ouvrir Grafana (http://localhost:3000) : disponibilité, requêtes, fraîcheur de la collecte par source, indice de rupture, journaux Loki.
Lancer make charge pour animer les courbes pendant les explications.
Ce que Compose ne montre pas (maillage Istio, cluster PostgreSQL, canari) se présente par lecture des manifestes du dossier plateforme.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make panne-collecteur. Montrer que le front et l'API fonctionnent toujours : c'est le bénéfice direct du découpage en deux services (D1).
En environ une minute, RadarCollectorDown apparaît dans Alertmanager, routée vers ops : c'est un avertissement, pas une urgence.
Faire le lien avec S3 : une source qui change de format produit le même effet. Ce n'est pas un incident technique mais un incident de veille, car le radar se fige sans que personne ne le voie. C'est exactement la panne silencieuse du pilote, désormais détectée.
Terminer par make retour-collecteur.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make panne-api. Le front affiche « API indisponible ». En environ une minute, RadarApiDown, critique, est routée vers l'astreinte.
Question à la salle : rétablir d'abord ou diagnostiquer d'abord ? Rétablir d'abord : le budget d'erreur est une ressource commune et chaque minute sous incident le consomme. Puis make retour-api.
Sur la plateforme complète, la même logique s'applique au canari (S2) : la v2 ne reçoit que 10 % du trafic, et le retour arrière consiste à remettre les poids à 100/0. Montrer le composant canary.
Rappeler pourquoi la cible surveille le taux de consommation du budget d'erreur plutôt qu'un seuil fixe : l'alerte mesure l'impact sur l'objectif contractuel.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lecture de cluster.yaml : trois instances, réplication synchrone. Si le primaire tombe, l'opérateur promeut un réplica en quelques secondes, sans perte de transaction validée. Pas d'astreinte : avertissement seulement.
S4, en direct dans Alertmanager : trois destinataires. Le signal de rupture (team=veille) va à l'équipe veille, jamais à l'astreinte. Règle : une alerte qui réveille doit exiger une action immédiate.
S5, lecture de egress.yaml et security.yaml : un collecteur compromis ne peut joindre que les sources déclarées, et son identité n'est autorisée que sur POST /internal/signals. Risque résiduel : l'empoisonnement de la veille, traité par la méthode du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registre est le livrable de pilotage : chaque ligne porte la condition de sa propre révision.
Faire remarquer que les signaux de révision sont des questions de veille. C'est la transition vers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Boucler avec le live : les signaux de révision deviennent des questions de veille, formalisées en un KIT-5.
L'architecture n'est plus figée : elle devient elle-même un objet de veille, et chaque décision porte la condition de sa révision.
Message final : un CTO ne prend pas des décisions définitives, il prend des décisions révisables, avec les capteurs qui lui diront quand les réviser.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Choisir deux ou trois questions selon le temps et l'intérêt de la salle.
Question 1 : pour une jeune pousse de cinq personnes, D2 bascule vers un PaaS ; les critères de compétences et de coût fixe changent de poids.
Question 3 : verrou distribué (ShedLock sur PostgreSQL) ou élection de leader (Lease Kubernetes) pour un collecteur hautement disponible sans double collecte.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11094415" cy="292608"/>
          </a:xfrm>
          <a:prstGeom prst="rect">
            <a:avLst/>
          </a:prstGeom>
          <a:noFill/>
          <a:ln/>
        </p:spPr>
        <p:txBody>
          <a:bodyPr wrap="square" rtlCol="0"/>
          <a:lstStyle>
            <a:lvl1pPr indent="0" marL="0">
              <a:buNone/>
              <a:defRPr lang="en-US" sz="1200" b="1" spc="2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1600200"/>
            <a:ext cx="7680960" cy="21031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4" name="Text 0"/>
          <p:cNvSpPr/>
          <p:nvPr>
            <p:ph idx="102" type="body" hasCustomPrompt="1"/>
          </p:nvPr>
        </p:nvSpPr>
        <p:spPr>
          <a:xfrm>
            <a:off x="548640" y="3794760"/>
            <a:ext cx="7498080" cy="731520"/>
          </a:xfrm>
          <a:prstGeom prst="rect">
            <a:avLst/>
          </a:prstGeom>
          <a:noFill/>
          <a:ln/>
        </p:spPr>
        <p:txBody>
          <a:bodyPr wrap="square" rtlCol="0"/>
          <a:lstStyle>
            <a:lvl1pPr indent="0" marL="0">
              <a:buNone/>
              <a:defRPr lang="en-US" sz="1800" dirty="0">
                <a:solidFill>
                  <a:schemeClr val="accent6"/>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rtlCol="0"/>
          <a:lstStyle>
            <a:lvl1pPr indent="0" marL="0">
              <a:buNone/>
              <a:defRPr lang="en-US" sz="1200" b="1" spc="2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Étude de cas · Industrialiser le radar d'innovation · Mastère CTO &amp; Tech Lead</a:t>
            </a:r>
            <a:endParaRPr lang="en-US" sz="10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rtlCol="0"/>
          <a:lstStyle>
            <a:lvl1pPr indent="0" marL="0">
              <a:buNone/>
              <a:defRPr lang="en-US" sz="1200" b="1" spc="200" kern="0" dirty="0">
                <a:solidFill>
                  <a:schemeClr val="accent5"/>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Étude de cas · Industrialiser le radar d'innovation · Mastère CTO &amp; Tech Lead</a:t>
            </a:r>
            <a:endParaRPr lang="en-US" sz="10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234440"/>
            <a:ext cx="11094415" cy="292608"/>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ÉTUDE DE CAS · MASTÈRE CTO &amp; TECH LEAD</a:t>
            </a:r>
            <a:endParaRPr lang="en-US" sz="1200" dirty="0"/>
          </a:p>
        </p:txBody>
      </p:sp>
      <p:sp>
        <p:nvSpPr>
          <p:cNvPr id="3" name="Text 0"/>
          <p:cNvSpPr/>
          <p:nvPr>
            <p:ph idx="101" type="title" hasCustomPrompt="1"/>
          </p:nvPr>
        </p:nvSpPr>
        <p:spPr>
          <a:xfrm>
            <a:off x="548640" y="160020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Industrialiser le radar d'innovation</a:t>
            </a:r>
            <a:endParaRPr lang="en-US" sz="4400" dirty="0"/>
          </a:p>
        </p:txBody>
      </p:sp>
      <p:sp>
        <p:nvSpPr>
          <p:cNvPr id="4" name="Text 0"/>
          <p:cNvSpPr/>
          <p:nvPr>
            <p:ph idx="102" type="body" hasCustomPrompt="1"/>
          </p:nvPr>
        </p:nvSpPr>
        <p:spPr>
          <a:xfrm>
            <a:off x="548640" y="3794760"/>
            <a:ext cx="7498080" cy="73152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Kubernetes, Istio, PostgreSQL haute disponibilité et observabilité : treize décisions d'architecture</a:t>
            </a:r>
            <a:endParaRPr lang="en-US" sz="1800" dirty="0"/>
          </a:p>
        </p:txBody>
      </p:sp>
      <p:sp>
        <p:nvSpPr>
          <p:cNvPr id="5" name="pastille-1"/>
          <p:cNvSpPr/>
          <p:nvPr/>
        </p:nvSpPr>
        <p:spPr>
          <a:xfrm>
            <a:off x="548640" y="5074920"/>
            <a:ext cx="2377440" cy="438912"/>
          </a:xfrm>
          <a:prstGeom prst="roundRect">
            <a:avLst>
              <a:gd name="adj" fmla="val 50000"/>
            </a:avLst>
          </a:prstGeom>
          <a:solidFill>
            <a:schemeClr val="accent1"/>
          </a:solidFill>
          <a:ln/>
        </p:spPr>
      </p:sp>
      <p:sp>
        <p:nvSpPr>
          <p:cNvPr id="6" name="texte-2"/>
          <p:cNvSpPr txBox="1"/>
          <p:nvPr/>
        </p:nvSpPr>
        <p:spPr>
          <a:xfrm>
            <a:off x="548640" y="5074920"/>
            <a:ext cx="2377440" cy="438912"/>
          </a:xfrm>
          <a:prstGeom prst="rect">
            <a:avLst/>
          </a:prstGeom>
          <a:noFill/>
          <a:ln/>
        </p:spPr>
        <p:txBody>
          <a:bodyPr wrap="square" lIns="0" tIns="0" rIns="0" bIns="0" rtlCol="0" anchor="ctr"/>
          <a:lstStyle/>
          <a:p>
            <a:pPr algn="ctr" indent="0" marL="0">
              <a:buNone/>
            </a:pPr>
            <a:r>
              <a:rPr lang="en-US" sz="1300" b="1" dirty="0">
                <a:solidFill>
                  <a:schemeClr val="tx2"/>
                </a:solidFill>
              </a:rPr>
              <a:t>Java 21 · Spring Boot 4.1</a:t>
            </a:r>
            <a:endParaRPr lang="en-US" sz="1300" dirty="0"/>
          </a:p>
        </p:txBody>
      </p:sp>
      <p:sp>
        <p:nvSpPr>
          <p:cNvPr id="7" name="pastille-3"/>
          <p:cNvSpPr/>
          <p:nvPr/>
        </p:nvSpPr>
        <p:spPr>
          <a:xfrm>
            <a:off x="3063240" y="5074920"/>
            <a:ext cx="1600200" cy="438912"/>
          </a:xfrm>
          <a:prstGeom prst="roundRect">
            <a:avLst>
              <a:gd name="adj" fmla="val 50000"/>
            </a:avLst>
          </a:prstGeom>
          <a:solidFill>
            <a:schemeClr val="accent2"/>
          </a:solidFill>
          <a:ln/>
        </p:spPr>
      </p:sp>
      <p:sp>
        <p:nvSpPr>
          <p:cNvPr id="8" name="texte-4"/>
          <p:cNvSpPr txBox="1"/>
          <p:nvPr/>
        </p:nvSpPr>
        <p:spPr>
          <a:xfrm>
            <a:off x="3063240" y="5074920"/>
            <a:ext cx="1600200" cy="438912"/>
          </a:xfrm>
          <a:prstGeom prst="rect">
            <a:avLst/>
          </a:prstGeom>
          <a:noFill/>
          <a:ln/>
        </p:spPr>
        <p:txBody>
          <a:bodyPr wrap="square" lIns="0" tIns="0" rIns="0" bIns="0" rtlCol="0" anchor="ctr"/>
          <a:lstStyle/>
          <a:p>
            <a:pPr algn="ctr" indent="0" marL="0">
              <a:buNone/>
            </a:pPr>
            <a:r>
              <a:rPr lang="en-US" sz="1300" b="1" dirty="0">
                <a:solidFill>
                  <a:schemeClr val="tx2"/>
                </a:solidFill>
              </a:rPr>
              <a:t>Angular 22</a:t>
            </a:r>
            <a:endParaRPr lang="en-US" sz="1300" dirty="0"/>
          </a:p>
        </p:txBody>
      </p:sp>
      <p:sp>
        <p:nvSpPr>
          <p:cNvPr id="9" name="pastille-5"/>
          <p:cNvSpPr/>
          <p:nvPr/>
        </p:nvSpPr>
        <p:spPr>
          <a:xfrm>
            <a:off x="4800600" y="5074920"/>
            <a:ext cx="2011680" cy="438912"/>
          </a:xfrm>
          <a:prstGeom prst="roundRect">
            <a:avLst>
              <a:gd name="adj" fmla="val 50000"/>
            </a:avLst>
          </a:prstGeom>
          <a:solidFill>
            <a:schemeClr val="accent1"/>
          </a:solidFill>
          <a:ln/>
        </p:spPr>
      </p:sp>
      <p:sp>
        <p:nvSpPr>
          <p:cNvPr id="10" name="texte-6"/>
          <p:cNvSpPr txBox="1"/>
          <p:nvPr/>
        </p:nvSpPr>
        <p:spPr>
          <a:xfrm>
            <a:off x="4800600" y="5074920"/>
            <a:ext cx="2011680" cy="438912"/>
          </a:xfrm>
          <a:prstGeom prst="rect">
            <a:avLst/>
          </a:prstGeom>
          <a:noFill/>
          <a:ln/>
        </p:spPr>
        <p:txBody>
          <a:bodyPr wrap="square" lIns="0" tIns="0" rIns="0" bIns="0" rtlCol="0" anchor="ctr"/>
          <a:lstStyle/>
          <a:p>
            <a:pPr algn="ctr" indent="0" marL="0">
              <a:buNone/>
            </a:pPr>
            <a:r>
              <a:rPr lang="en-US" sz="1300" b="1" dirty="0">
                <a:solidFill>
                  <a:schemeClr val="tx2"/>
                </a:solidFill>
              </a:rPr>
              <a:t>Istio · CloudNativePG</a:t>
            </a:r>
            <a:endParaRPr lang="en-US" sz="1300" dirty="0"/>
          </a:p>
        </p:txBody>
      </p:sp>
      <p:sp>
        <p:nvSpPr>
          <p:cNvPr id="11" name="pastille-7"/>
          <p:cNvSpPr/>
          <p:nvPr/>
        </p:nvSpPr>
        <p:spPr>
          <a:xfrm>
            <a:off x="6949440" y="5074920"/>
            <a:ext cx="2834640" cy="438912"/>
          </a:xfrm>
          <a:prstGeom prst="roundRect">
            <a:avLst>
              <a:gd name="adj" fmla="val 50000"/>
            </a:avLst>
          </a:prstGeom>
          <a:solidFill>
            <a:schemeClr val="accent2"/>
          </a:solidFill>
          <a:ln/>
        </p:spPr>
      </p:sp>
      <p:sp>
        <p:nvSpPr>
          <p:cNvPr id="12" name="texte-8"/>
          <p:cNvSpPr txBox="1"/>
          <p:nvPr/>
        </p:nvSpPr>
        <p:spPr>
          <a:xfrm>
            <a:off x="6949440" y="5074920"/>
            <a:ext cx="2834640" cy="438912"/>
          </a:xfrm>
          <a:prstGeom prst="rect">
            <a:avLst/>
          </a:prstGeom>
          <a:noFill/>
          <a:ln/>
        </p:spPr>
        <p:txBody>
          <a:bodyPr wrap="square" lIns="0" tIns="0" rIns="0" bIns="0" rtlCol="0" anchor="ctr"/>
          <a:lstStyle/>
          <a:p>
            <a:pPr algn="ctr" indent="0" marL="0">
              <a:buNone/>
            </a:pPr>
            <a:r>
              <a:rPr lang="en-US" sz="1300" b="1" dirty="0">
                <a:solidFill>
                  <a:schemeClr val="tx2"/>
                </a:solidFill>
              </a:rPr>
              <a:t>Prometheus · Grafana · Vector</a:t>
            </a:r>
            <a:endParaRPr lang="en-US" sz="1300" dirty="0"/>
          </a:p>
        </p:txBody>
      </p:sp>
      <p:sp>
        <p:nvSpPr>
          <p:cNvPr id="13" name="texte-9"/>
          <p:cNvSpPr txBox="1"/>
          <p:nvPr/>
        </p:nvSpPr>
        <p:spPr>
          <a:xfrm>
            <a:off x="548640" y="5897880"/>
            <a:ext cx="9144000" cy="320040"/>
          </a:xfrm>
          <a:prstGeom prst="rect">
            <a:avLst/>
          </a:prstGeom>
          <a:noFill/>
          <a:ln/>
        </p:spPr>
        <p:txBody>
          <a:bodyPr wrap="square" lIns="0" tIns="0" rIns="0" bIns="0" rtlCol="0" anchor="t"/>
          <a:lstStyle/>
          <a:p>
            <a:pPr indent="0" marL="0">
              <a:buNone/>
            </a:pPr>
            <a:r>
              <a:rPr lang="en-US" sz="1200" dirty="0">
                <a:solidFill>
                  <a:schemeClr val="accent6"/>
                </a:solidFill>
              </a:rPr>
              <a:t>Nathan DERHORE · Prolongement du live « Définition du protocole de veille stratégique »</a:t>
            </a:r>
            <a:endParaRPr lang="en-US" sz="1200" dirty="0"/>
          </a:p>
        </p:txBody>
      </p:sp>
      <p:sp>
        <p:nvSpPr>
          <p:cNvPr id="14" name="couche-10"/>
          <p:cNvSpPr/>
          <p:nvPr/>
        </p:nvSpPr>
        <p:spPr>
          <a:xfrm>
            <a:off x="8549640" y="1005840"/>
            <a:ext cx="3017520" cy="566928"/>
          </a:xfrm>
          <a:prstGeom prst="roundRect">
            <a:avLst>
              <a:gd name="adj" fmla="val 12903"/>
            </a:avLst>
          </a:prstGeom>
          <a:solidFill>
            <a:schemeClr val="accent1"/>
          </a:solidFill>
          <a:ln/>
        </p:spPr>
      </p:sp>
      <p:sp>
        <p:nvSpPr>
          <p:cNvPr id="15" name="texte-11"/>
          <p:cNvSpPr txBox="1"/>
          <p:nvPr/>
        </p:nvSpPr>
        <p:spPr>
          <a:xfrm>
            <a:off x="8549640" y="1005840"/>
            <a:ext cx="3017520" cy="566928"/>
          </a:xfrm>
          <a:prstGeom prst="rect">
            <a:avLst/>
          </a:prstGeom>
          <a:noFill/>
          <a:ln/>
        </p:spPr>
        <p:txBody>
          <a:bodyPr wrap="square" lIns="0" tIns="0" rIns="0" bIns="0" rtlCol="0" anchor="ctr"/>
          <a:lstStyle/>
          <a:p>
            <a:pPr algn="ctr" indent="0" marL="0">
              <a:buNone/>
            </a:pPr>
            <a:r>
              <a:rPr lang="en-US" sz="1400" b="1" dirty="0">
                <a:solidFill>
                  <a:schemeClr val="tx2"/>
                </a:solidFill>
              </a:rPr>
              <a:t>Application</a:t>
            </a:r>
            <a:endParaRPr lang="en-US" sz="1400" dirty="0"/>
          </a:p>
        </p:txBody>
      </p:sp>
      <p:sp>
        <p:nvSpPr>
          <p:cNvPr id="16" name="couche-12"/>
          <p:cNvSpPr/>
          <p:nvPr/>
        </p:nvSpPr>
        <p:spPr>
          <a:xfrm>
            <a:off x="8659368" y="1719072"/>
            <a:ext cx="2798064" cy="566928"/>
          </a:xfrm>
          <a:prstGeom prst="roundRect">
            <a:avLst>
              <a:gd name="adj" fmla="val 12903"/>
            </a:avLst>
          </a:prstGeom>
          <a:solidFill>
            <a:schemeClr val="accent2"/>
          </a:solidFill>
          <a:ln/>
        </p:spPr>
      </p:sp>
      <p:sp>
        <p:nvSpPr>
          <p:cNvPr id="17" name="texte-13"/>
          <p:cNvSpPr txBox="1"/>
          <p:nvPr/>
        </p:nvSpPr>
        <p:spPr>
          <a:xfrm>
            <a:off x="8659368" y="1719072"/>
            <a:ext cx="2798064" cy="566928"/>
          </a:xfrm>
          <a:prstGeom prst="rect">
            <a:avLst/>
          </a:prstGeom>
          <a:noFill/>
          <a:ln/>
        </p:spPr>
        <p:txBody>
          <a:bodyPr wrap="square" lIns="0" tIns="0" rIns="0" bIns="0" rtlCol="0" anchor="ctr"/>
          <a:lstStyle/>
          <a:p>
            <a:pPr algn="ctr" indent="0" marL="0">
              <a:buNone/>
            </a:pPr>
            <a:r>
              <a:rPr lang="en-US" sz="1400" b="1" dirty="0">
                <a:solidFill>
                  <a:schemeClr val="tx2"/>
                </a:solidFill>
              </a:rPr>
              <a:t>Maillage Istio</a:t>
            </a:r>
            <a:endParaRPr lang="en-US" sz="1400" dirty="0"/>
          </a:p>
        </p:txBody>
      </p:sp>
      <p:sp>
        <p:nvSpPr>
          <p:cNvPr id="18" name="couche-14"/>
          <p:cNvSpPr/>
          <p:nvPr/>
        </p:nvSpPr>
        <p:spPr>
          <a:xfrm>
            <a:off x="8769096" y="2432304"/>
            <a:ext cx="2578608" cy="566928"/>
          </a:xfrm>
          <a:prstGeom prst="roundRect">
            <a:avLst>
              <a:gd name="adj" fmla="val 12903"/>
            </a:avLst>
          </a:prstGeom>
          <a:solidFill>
            <a:schemeClr val="accent3"/>
          </a:solidFill>
          <a:ln/>
        </p:spPr>
      </p:sp>
      <p:sp>
        <p:nvSpPr>
          <p:cNvPr id="19" name="texte-15"/>
          <p:cNvSpPr txBox="1"/>
          <p:nvPr/>
        </p:nvSpPr>
        <p:spPr>
          <a:xfrm>
            <a:off x="8769096" y="2432304"/>
            <a:ext cx="2578608" cy="566928"/>
          </a:xfrm>
          <a:prstGeom prst="rect">
            <a:avLst/>
          </a:prstGeom>
          <a:noFill/>
          <a:ln/>
        </p:spPr>
        <p:txBody>
          <a:bodyPr wrap="square" lIns="0" tIns="0" rIns="0" bIns="0" rtlCol="0" anchor="ctr"/>
          <a:lstStyle/>
          <a:p>
            <a:pPr algn="ctr" indent="0" marL="0">
              <a:buNone/>
            </a:pPr>
            <a:r>
              <a:rPr lang="en-US" sz="1400" b="1" dirty="0">
                <a:solidFill>
                  <a:schemeClr val="tx2"/>
                </a:solidFill>
              </a:rPr>
              <a:t>PostgreSQL HA</a:t>
            </a:r>
            <a:endParaRPr lang="en-US" sz="1400" dirty="0"/>
          </a:p>
        </p:txBody>
      </p:sp>
      <p:sp>
        <p:nvSpPr>
          <p:cNvPr id="20" name="couche-16"/>
          <p:cNvSpPr/>
          <p:nvPr/>
        </p:nvSpPr>
        <p:spPr>
          <a:xfrm>
            <a:off x="8878824" y="3145536"/>
            <a:ext cx="2359152" cy="566928"/>
          </a:xfrm>
          <a:prstGeom prst="roundRect">
            <a:avLst>
              <a:gd name="adj" fmla="val 12903"/>
            </a:avLst>
          </a:prstGeom>
          <a:solidFill>
            <a:schemeClr val="accent5"/>
          </a:solidFill>
          <a:ln/>
        </p:spPr>
      </p:sp>
      <p:sp>
        <p:nvSpPr>
          <p:cNvPr id="21" name="texte-17"/>
          <p:cNvSpPr txBox="1"/>
          <p:nvPr/>
        </p:nvSpPr>
        <p:spPr>
          <a:xfrm>
            <a:off x="8878824" y="3145536"/>
            <a:ext cx="2359152" cy="566928"/>
          </a:xfrm>
          <a:prstGeom prst="rect">
            <a:avLst/>
          </a:prstGeom>
          <a:noFill/>
          <a:ln/>
        </p:spPr>
        <p:txBody>
          <a:bodyPr wrap="square" lIns="0" tIns="0" rIns="0" bIns="0" rtlCol="0" anchor="ctr"/>
          <a:lstStyle/>
          <a:p>
            <a:pPr algn="ctr" indent="0" marL="0">
              <a:buNone/>
            </a:pPr>
            <a:r>
              <a:rPr lang="en-US" sz="1400" b="1" dirty="0">
                <a:solidFill>
                  <a:schemeClr val="tx2"/>
                </a:solidFill>
              </a:rPr>
              <a:t>Observabilité</a:t>
            </a:r>
            <a:endParaRPr lang="en-US" sz="1400" dirty="0"/>
          </a:p>
        </p:txBody>
      </p:sp>
      <p:sp>
        <p:nvSpPr>
          <p:cNvPr id="22" name="couche-18"/>
          <p:cNvSpPr/>
          <p:nvPr/>
        </p:nvSpPr>
        <p:spPr>
          <a:xfrm>
            <a:off x="8988552" y="3858768"/>
            <a:ext cx="2139696" cy="566928"/>
          </a:xfrm>
          <a:prstGeom prst="roundRect">
            <a:avLst>
              <a:gd name="adj" fmla="val 12903"/>
            </a:avLst>
          </a:prstGeom>
          <a:solidFill>
            <a:schemeClr val="accent6"/>
          </a:solidFill>
          <a:ln/>
        </p:spPr>
      </p:sp>
      <p:sp>
        <p:nvSpPr>
          <p:cNvPr id="23" name="texte-19"/>
          <p:cNvSpPr txBox="1"/>
          <p:nvPr/>
        </p:nvSpPr>
        <p:spPr>
          <a:xfrm>
            <a:off x="8988552" y="3858768"/>
            <a:ext cx="2139696" cy="566928"/>
          </a:xfrm>
          <a:prstGeom prst="rect">
            <a:avLst/>
          </a:prstGeom>
          <a:noFill/>
          <a:ln/>
        </p:spPr>
        <p:txBody>
          <a:bodyPr wrap="square" lIns="0" tIns="0" rIns="0" bIns="0" rtlCol="0" anchor="ctr"/>
          <a:lstStyle/>
          <a:p>
            <a:pPr algn="ctr" indent="0" marL="0">
              <a:buNone/>
            </a:pPr>
            <a:r>
              <a:rPr lang="en-US" sz="1400" b="1" dirty="0">
                <a:solidFill>
                  <a:schemeClr val="tx2"/>
                </a:solidFill>
              </a:rPr>
              <a:t>Kubernetes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LE CAS · L'ENTREPRISE</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Altéa Services, une ESN face à l'IA</a:t>
            </a:r>
            <a:endParaRPr lang="en-US" sz="3200" dirty="0"/>
          </a:p>
        </p:txBody>
      </p:sp>
      <p:sp>
        <p:nvSpPr>
          <p:cNvPr id="5" name="carte-20"/>
          <p:cNvSpPr/>
          <p:nvPr/>
        </p:nvSpPr>
        <p:spPr>
          <a:xfrm>
            <a:off x="548640" y="1691640"/>
            <a:ext cx="3566160" cy="2011680"/>
          </a:xfrm>
          <a:prstGeom prst="roundRect">
            <a:avLst>
              <a:gd name="adj" fmla="val 3636"/>
            </a:avLst>
          </a:prstGeom>
          <a:solidFill>
            <a:schemeClr val="bg1"/>
          </a:solidFill>
          <a:ln w="9525">
            <a:solidFill>
              <a:schemeClr val="accent6"/>
            </a:solidFill>
            <a:prstDash val="solid"/>
          </a:ln>
        </p:spPr>
      </p:sp>
      <p:sp>
        <p:nvSpPr>
          <p:cNvPr id="6" name="pastille-21"/>
          <p:cNvSpPr/>
          <p:nvPr/>
        </p:nvSpPr>
        <p:spPr>
          <a:xfrm>
            <a:off x="822960" y="1920240"/>
            <a:ext cx="640080" cy="640080"/>
          </a:xfrm>
          <a:prstGeom prst="ellipse">
            <a:avLst/>
          </a:prstGeom>
          <a:solidFill>
            <a:schemeClr val="accent3"/>
          </a:solidFill>
          <a:ln/>
        </p:spPr>
      </p:sp>
      <p:pic>
        <p:nvPicPr>
          <p:cNvPr id="7" name="icone-22" descr="preencoded.png">    </p:cNvPr>
          <p:cNvPicPr>
            <a:picLocks noChangeAspect="1"/>
          </p:cNvPicPr>
          <p:nvPr/>
        </p:nvPicPr>
        <p:blipFill>
          <a:blip r:embed="rId1"/>
          <a:stretch>
            <a:fillRect/>
          </a:stretch>
        </p:blipFill>
        <p:spPr>
          <a:xfrm>
            <a:off x="963778" y="2061058"/>
            <a:ext cx="358445" cy="358445"/>
          </a:xfrm>
          <a:prstGeom prst="rect">
            <a:avLst/>
          </a:prstGeom>
        </p:spPr>
      </p:pic>
      <p:sp>
        <p:nvSpPr>
          <p:cNvPr id="8" name="texte-23"/>
          <p:cNvSpPr txBox="1"/>
          <p:nvPr/>
        </p:nvSpPr>
        <p:spPr>
          <a:xfrm>
            <a:off x="1645920" y="1783080"/>
            <a:ext cx="2286000" cy="86868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1 400</a:t>
            </a:r>
            <a:endParaRPr lang="en-US" sz="4000" dirty="0"/>
          </a:p>
        </p:txBody>
      </p:sp>
      <p:sp>
        <p:nvSpPr>
          <p:cNvPr id="9" name="texte-24"/>
          <p:cNvSpPr txBox="1"/>
          <p:nvPr/>
        </p:nvSpPr>
        <p:spPr>
          <a:xfrm>
            <a:off x="822960" y="2743200"/>
            <a:ext cx="3017520" cy="822960"/>
          </a:xfrm>
          <a:prstGeom prst="rect">
            <a:avLst/>
          </a:prstGeom>
          <a:noFill/>
          <a:ln/>
        </p:spPr>
        <p:txBody>
          <a:bodyPr wrap="square" lIns="0" tIns="0" rIns="0" bIns="0" rtlCol="0" anchor="t"/>
          <a:lstStyle/>
          <a:p>
            <a:pPr indent="0" marL="0">
              <a:buNone/>
            </a:pPr>
            <a:r>
              <a:rPr lang="en-US" sz="1600" dirty="0">
                <a:solidFill>
                  <a:schemeClr val="tx1"/>
                </a:solidFill>
              </a:rPr>
              <a:t>collaborateurs, siège à Lyon</a:t>
            </a:r>
            <a:endParaRPr lang="en-US" sz="1600" dirty="0"/>
          </a:p>
        </p:txBody>
      </p:sp>
      <p:sp>
        <p:nvSpPr>
          <p:cNvPr id="10" name="carte-25"/>
          <p:cNvSpPr/>
          <p:nvPr/>
        </p:nvSpPr>
        <p:spPr>
          <a:xfrm>
            <a:off x="4297680" y="1691640"/>
            <a:ext cx="3566160" cy="2011680"/>
          </a:xfrm>
          <a:prstGeom prst="roundRect">
            <a:avLst>
              <a:gd name="adj" fmla="val 3636"/>
            </a:avLst>
          </a:prstGeom>
          <a:solidFill>
            <a:schemeClr val="bg1"/>
          </a:solidFill>
          <a:ln w="9525">
            <a:solidFill>
              <a:schemeClr val="accent6"/>
            </a:solidFill>
            <a:prstDash val="solid"/>
          </a:ln>
        </p:spPr>
      </p:sp>
      <p:sp>
        <p:nvSpPr>
          <p:cNvPr id="11" name="pastille-26"/>
          <p:cNvSpPr/>
          <p:nvPr/>
        </p:nvSpPr>
        <p:spPr>
          <a:xfrm>
            <a:off x="4572000" y="1920240"/>
            <a:ext cx="640080" cy="640080"/>
          </a:xfrm>
          <a:prstGeom prst="ellipse">
            <a:avLst/>
          </a:prstGeom>
          <a:solidFill>
            <a:schemeClr val="accent1"/>
          </a:solidFill>
          <a:ln/>
        </p:spPr>
      </p:sp>
      <p:pic>
        <p:nvPicPr>
          <p:cNvPr id="12" name="icone-27" descr="preencoded.png">    </p:cNvPr>
          <p:cNvPicPr>
            <a:picLocks noChangeAspect="1"/>
          </p:cNvPicPr>
          <p:nvPr/>
        </p:nvPicPr>
        <p:blipFill>
          <a:blip r:embed="rId2"/>
          <a:stretch>
            <a:fillRect/>
          </a:stretch>
        </p:blipFill>
        <p:spPr>
          <a:xfrm>
            <a:off x="4712818" y="2061058"/>
            <a:ext cx="358445" cy="358445"/>
          </a:xfrm>
          <a:prstGeom prst="rect">
            <a:avLst/>
          </a:prstGeom>
        </p:spPr>
      </p:pic>
      <p:sp>
        <p:nvSpPr>
          <p:cNvPr id="13" name="texte-28"/>
          <p:cNvSpPr txBox="1"/>
          <p:nvPr/>
        </p:nvSpPr>
        <p:spPr>
          <a:xfrm>
            <a:off x="5394960" y="1783080"/>
            <a:ext cx="2286000" cy="8686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14" name="texte-29"/>
          <p:cNvSpPr txBox="1"/>
          <p:nvPr/>
        </p:nvSpPr>
        <p:spPr>
          <a:xfrm>
            <a:off x="4572000" y="2743200"/>
            <a:ext cx="3017520" cy="822960"/>
          </a:xfrm>
          <a:prstGeom prst="rect">
            <a:avLst/>
          </a:prstGeom>
          <a:noFill/>
          <a:ln/>
        </p:spPr>
        <p:txBody>
          <a:bodyPr wrap="square" lIns="0" tIns="0" rIns="0" bIns="0" rtlCol="0" anchor="t"/>
          <a:lstStyle/>
          <a:p>
            <a:pPr indent="0" marL="0">
              <a:buNone/>
            </a:pPr>
            <a:r>
              <a:rPr lang="en-US" sz="1600" dirty="0">
                <a:solidFill>
                  <a:schemeClr val="tx1"/>
                </a:solidFill>
              </a:rPr>
              <a:t>marchés : industrie, santé, secteur public</a:t>
            </a:r>
            <a:endParaRPr lang="en-US" sz="1600" dirty="0"/>
          </a:p>
        </p:txBody>
      </p:sp>
      <p:sp>
        <p:nvSpPr>
          <p:cNvPr id="15" name="carte-30"/>
          <p:cNvSpPr/>
          <p:nvPr/>
        </p:nvSpPr>
        <p:spPr>
          <a:xfrm>
            <a:off x="8046720" y="1691640"/>
            <a:ext cx="3566160" cy="2011680"/>
          </a:xfrm>
          <a:prstGeom prst="roundRect">
            <a:avLst>
              <a:gd name="adj" fmla="val 3636"/>
            </a:avLst>
          </a:prstGeom>
          <a:solidFill>
            <a:schemeClr val="bg1"/>
          </a:solidFill>
          <a:ln w="9525">
            <a:solidFill>
              <a:schemeClr val="accent6"/>
            </a:solidFill>
            <a:prstDash val="solid"/>
          </a:ln>
        </p:spPr>
      </p:sp>
      <p:sp>
        <p:nvSpPr>
          <p:cNvPr id="16" name="pastille-31"/>
          <p:cNvSpPr/>
          <p:nvPr/>
        </p:nvSpPr>
        <p:spPr>
          <a:xfrm>
            <a:off x="8321040" y="1920240"/>
            <a:ext cx="640080" cy="640080"/>
          </a:xfrm>
          <a:prstGeom prst="ellipse">
            <a:avLst/>
          </a:prstGeom>
          <a:solidFill>
            <a:schemeClr val="tx2"/>
          </a:solidFill>
          <a:ln/>
        </p:spPr>
      </p:sp>
      <p:pic>
        <p:nvPicPr>
          <p:cNvPr id="17" name="icone-32" descr="preencoded.png">    </p:cNvPr>
          <p:cNvPicPr>
            <a:picLocks noChangeAspect="1"/>
          </p:cNvPicPr>
          <p:nvPr/>
        </p:nvPicPr>
        <p:blipFill>
          <a:blip r:embed="rId3"/>
          <a:stretch>
            <a:fillRect/>
          </a:stretch>
        </p:blipFill>
        <p:spPr>
          <a:xfrm>
            <a:off x="8461858" y="2061058"/>
            <a:ext cx="358445" cy="358445"/>
          </a:xfrm>
          <a:prstGeom prst="rect">
            <a:avLst/>
          </a:prstGeom>
        </p:spPr>
      </p:pic>
      <p:sp>
        <p:nvSpPr>
          <p:cNvPr id="18" name="texte-33"/>
          <p:cNvSpPr txBox="1"/>
          <p:nvPr/>
        </p:nvSpPr>
        <p:spPr>
          <a:xfrm>
            <a:off x="9144000" y="1783080"/>
            <a:ext cx="2286000" cy="86868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6 mois</a:t>
            </a:r>
            <a:endParaRPr lang="en-US" sz="4000" dirty="0"/>
          </a:p>
        </p:txBody>
      </p:sp>
      <p:sp>
        <p:nvSpPr>
          <p:cNvPr id="19" name="texte-34"/>
          <p:cNvSpPr txBox="1"/>
          <p:nvPr/>
        </p:nvSpPr>
        <p:spPr>
          <a:xfrm>
            <a:off x="8321040" y="2743200"/>
            <a:ext cx="3017520" cy="822960"/>
          </a:xfrm>
          <a:prstGeom prst="rect">
            <a:avLst/>
          </a:prstGeom>
          <a:noFill/>
          <a:ln/>
        </p:spPr>
        <p:txBody>
          <a:bodyPr wrap="square" lIns="0" tIns="0" rIns="0" bIns="0" rtlCol="0" anchor="t"/>
          <a:lstStyle/>
          <a:p>
            <a:pPr indent="0" marL="0">
              <a:buNone/>
            </a:pPr>
            <a:r>
              <a:rPr lang="en-US" sz="1600" dirty="0">
                <a:solidFill>
                  <a:schemeClr val="tx1"/>
                </a:solidFill>
              </a:rPr>
              <a:t>d'existence du pilote de veille, déjà utilisé par le CODIR</a:t>
            </a:r>
            <a:endParaRPr lang="en-US" sz="1600" dirty="0"/>
          </a:p>
        </p:txBody>
      </p:sp>
      <p:sp>
        <p:nvSpPr>
          <p:cNvPr id="20" name="carte-35"/>
          <p:cNvSpPr/>
          <p:nvPr/>
        </p:nvSpPr>
        <p:spPr>
          <a:xfrm>
            <a:off x="548640" y="3931920"/>
            <a:ext cx="5394960" cy="2011680"/>
          </a:xfrm>
          <a:prstGeom prst="roundRect">
            <a:avLst>
              <a:gd name="adj" fmla="val 3636"/>
            </a:avLst>
          </a:prstGeom>
          <a:solidFill>
            <a:schemeClr val="bg1"/>
          </a:solidFill>
          <a:ln w="9525">
            <a:solidFill>
              <a:schemeClr val="accent6"/>
            </a:solidFill>
            <a:prstDash val="solid"/>
          </a:ln>
        </p:spPr>
      </p:sp>
      <p:sp>
        <p:nvSpPr>
          <p:cNvPr id="21" name="pastille-36"/>
          <p:cNvSpPr/>
          <p:nvPr/>
        </p:nvSpPr>
        <p:spPr>
          <a:xfrm>
            <a:off x="777240" y="4160520"/>
            <a:ext cx="548640" cy="548640"/>
          </a:xfrm>
          <a:prstGeom prst="ellipse">
            <a:avLst/>
          </a:prstGeom>
          <a:solidFill>
            <a:schemeClr val="accent1"/>
          </a:solidFill>
          <a:ln/>
        </p:spPr>
      </p:sp>
      <p:pic>
        <p:nvPicPr>
          <p:cNvPr id="22" name="icone-37" descr="preencoded.png">    </p:cNvPr>
          <p:cNvPicPr>
            <a:picLocks noChangeAspect="1"/>
          </p:cNvPicPr>
          <p:nvPr/>
        </p:nvPicPr>
        <p:blipFill>
          <a:blip r:embed="rId4"/>
          <a:stretch>
            <a:fillRect/>
          </a:stretch>
        </p:blipFill>
        <p:spPr>
          <a:xfrm>
            <a:off x="897941" y="4281221"/>
            <a:ext cx="307238" cy="307238"/>
          </a:xfrm>
          <a:prstGeom prst="rect">
            <a:avLst/>
          </a:prstGeom>
        </p:spPr>
      </p:pic>
      <p:sp>
        <p:nvSpPr>
          <p:cNvPr id="23" name="texte-38"/>
          <p:cNvSpPr txBox="1"/>
          <p:nvPr/>
        </p:nvSpPr>
        <p:spPr>
          <a:xfrm>
            <a:off x="1463040" y="4160520"/>
            <a:ext cx="4297680" cy="548640"/>
          </a:xfrm>
          <a:prstGeom prst="rect">
            <a:avLst/>
          </a:prstGeom>
          <a:noFill/>
          <a:ln/>
        </p:spPr>
        <p:txBody>
          <a:bodyPr wrap="square" lIns="0" tIns="0" rIns="0" bIns="0" rtlCol="0" anchor="ctr"/>
          <a:lstStyle/>
          <a:p>
            <a:pPr indent="0" marL="0">
              <a:buNone/>
            </a:pPr>
            <a:r>
              <a:rPr lang="en-US" sz="1700" b="1" dirty="0">
                <a:solidFill>
                  <a:schemeClr val="tx2"/>
                </a:solidFill>
              </a:rPr>
              <a:t>Ce qu'Altéa vend aujourd'hui</a:t>
            </a:r>
            <a:endParaRPr lang="en-US" sz="1700" dirty="0"/>
          </a:p>
        </p:txBody>
      </p:sp>
      <p:sp>
        <p:nvSpPr>
          <p:cNvPr id="24" name="texte-39"/>
          <p:cNvSpPr txBox="1"/>
          <p:nvPr/>
        </p:nvSpPr>
        <p:spPr>
          <a:xfrm>
            <a:off x="777240" y="4846320"/>
            <a:ext cx="4937760" cy="960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Développement et recette de logiciels métier</a:t>
            </a:r>
            <a:endParaRPr lang="en-US" sz="1500" dirty="0"/>
          </a:p>
          <a:p>
            <a:pPr marL="203200" indent="-203200">
              <a:spcAft>
                <a:spcPts val="800"/>
              </a:spcAft>
              <a:buSzPct val="100000"/>
              <a:buChar char="•"/>
            </a:pPr>
            <a:r>
              <a:rPr lang="en-US" sz="1500" dirty="0">
                <a:solidFill>
                  <a:schemeClr val="tx1"/>
                </a:solidFill>
              </a:rPr>
              <a:t>Intégration de solutions d'IA chez ses clients</a:t>
            </a:r>
            <a:endParaRPr lang="en-US" sz="1500" dirty="0"/>
          </a:p>
          <a:p>
            <a:pPr marL="203200" indent="-203200">
              <a:spcAft>
                <a:spcPts val="800"/>
              </a:spcAft>
              <a:buSzPct val="100000"/>
              <a:buChar char="•"/>
            </a:pPr>
            <a:r>
              <a:rPr lang="en-US" sz="1500" dirty="0">
                <a:solidFill>
                  <a:schemeClr val="tx1"/>
                </a:solidFill>
              </a:rPr>
              <a:t>Hébergement et maintenance applicative</a:t>
            </a:r>
            <a:endParaRPr lang="en-US" sz="1500" dirty="0"/>
          </a:p>
        </p:txBody>
      </p:sp>
      <p:sp>
        <p:nvSpPr>
          <p:cNvPr id="25" name="carte-40"/>
          <p:cNvSpPr/>
          <p:nvPr/>
        </p:nvSpPr>
        <p:spPr>
          <a:xfrm>
            <a:off x="6245352" y="3931920"/>
            <a:ext cx="5394960" cy="2011680"/>
          </a:xfrm>
          <a:prstGeom prst="roundRect">
            <a:avLst>
              <a:gd name="adj" fmla="val 3636"/>
            </a:avLst>
          </a:prstGeom>
          <a:solidFill>
            <a:schemeClr val="bg1"/>
          </a:solidFill>
          <a:ln w="9525">
            <a:solidFill>
              <a:schemeClr val="accent6"/>
            </a:solidFill>
            <a:prstDash val="solid"/>
          </a:ln>
        </p:spPr>
      </p:sp>
      <p:sp>
        <p:nvSpPr>
          <p:cNvPr id="26" name="pastille-41"/>
          <p:cNvSpPr/>
          <p:nvPr/>
        </p:nvSpPr>
        <p:spPr>
          <a:xfrm>
            <a:off x="6473952" y="4160520"/>
            <a:ext cx="548640" cy="548640"/>
          </a:xfrm>
          <a:prstGeom prst="ellipse">
            <a:avLst/>
          </a:prstGeom>
          <a:solidFill>
            <a:schemeClr val="tx2"/>
          </a:solidFill>
          <a:ln/>
        </p:spPr>
      </p:sp>
      <p:pic>
        <p:nvPicPr>
          <p:cNvPr id="27" name="icone-42" descr="preencoded.png">    </p:cNvPr>
          <p:cNvPicPr>
            <a:picLocks noChangeAspect="1"/>
          </p:cNvPicPr>
          <p:nvPr/>
        </p:nvPicPr>
        <p:blipFill>
          <a:blip r:embed="rId5"/>
          <a:stretch>
            <a:fillRect/>
          </a:stretch>
        </p:blipFill>
        <p:spPr>
          <a:xfrm>
            <a:off x="6594653" y="4281221"/>
            <a:ext cx="307238" cy="307238"/>
          </a:xfrm>
          <a:prstGeom prst="rect">
            <a:avLst/>
          </a:prstGeom>
        </p:spPr>
      </p:pic>
      <p:sp>
        <p:nvSpPr>
          <p:cNvPr id="28" name="texte-43"/>
          <p:cNvSpPr txBox="1"/>
          <p:nvPr/>
        </p:nvSpPr>
        <p:spPr>
          <a:xfrm>
            <a:off x="7159752" y="4160520"/>
            <a:ext cx="4297680" cy="548640"/>
          </a:xfrm>
          <a:prstGeom prst="rect">
            <a:avLst/>
          </a:prstGeom>
          <a:noFill/>
          <a:ln/>
        </p:spPr>
        <p:txBody>
          <a:bodyPr wrap="square" lIns="0" tIns="0" rIns="0" bIns="0" rtlCol="0" anchor="ctr"/>
          <a:lstStyle/>
          <a:p>
            <a:pPr indent="0" marL="0">
              <a:buNone/>
            </a:pPr>
            <a:r>
              <a:rPr lang="en-US" sz="1700" b="1" dirty="0">
                <a:solidFill>
                  <a:schemeClr val="tx2"/>
                </a:solidFill>
              </a:rPr>
              <a:t>Ce que ses clients exigent</a:t>
            </a:r>
            <a:endParaRPr lang="en-US" sz="1700" dirty="0"/>
          </a:p>
        </p:txBody>
      </p:sp>
      <p:sp>
        <p:nvSpPr>
          <p:cNvPr id="29" name="texte-44"/>
          <p:cNvSpPr txBox="1"/>
          <p:nvPr/>
        </p:nvSpPr>
        <p:spPr>
          <a:xfrm>
            <a:off x="6473952" y="4846320"/>
            <a:ext cx="4937760" cy="960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Hébergement des données en France</a:t>
            </a:r>
            <a:endParaRPr lang="en-US" sz="1500" dirty="0"/>
          </a:p>
          <a:p>
            <a:pPr marL="203200" indent="-203200">
              <a:spcAft>
                <a:spcPts val="800"/>
              </a:spcAft>
              <a:buSzPct val="100000"/>
              <a:buChar char="•"/>
            </a:pPr>
            <a:r>
              <a:rPr lang="en-US" sz="1500" dirty="0">
                <a:solidFill>
                  <a:schemeClr val="tx1"/>
                </a:solidFill>
              </a:rPr>
              <a:t>Conformité RGPD et AI Act</a:t>
            </a:r>
            <a:endParaRPr lang="en-US" sz="1500" dirty="0"/>
          </a:p>
          <a:p>
            <a:pPr marL="203200" indent="-203200">
              <a:spcAft>
                <a:spcPts val="800"/>
              </a:spcAft>
              <a:buSzPct val="100000"/>
              <a:buChar char="•"/>
            </a:pPr>
            <a:r>
              <a:rPr lang="en-US" sz="1500" dirty="0">
                <a:solidFill>
                  <a:schemeClr val="tx1"/>
                </a:solidFill>
              </a:rPr>
              <a:t>Sécurité des assistants connectés à leurs données</a:t>
            </a:r>
            <a:endParaRPr lang="en-US" sz="15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LE CAS · LES DÉFIS</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Pourquoi le radar compte pour Altéa</a:t>
            </a:r>
            <a:endParaRPr lang="en-US" sz="3200" dirty="0"/>
          </a:p>
        </p:txBody>
      </p:sp>
      <p:graphicFrame>
        <p:nvGraphicFramePr>
          <p:cNvPr id="4" name="tableau-45"/>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108960"/>
                <a:gridCol w="3931920"/>
                <a:gridCol w="4050792"/>
              </a:tblGrid>
              <a:tr h="56692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Défi d'Altéa</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Pourquoi c'est urgent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Ce que le radar doit éclairer</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56692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Les agents d'IA automatisent nos prestations</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Une part importante du chiffre d'affaires vient du développement et de la recette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Quels processus deviennent automatisables ? Quelle offre lancer ?</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Souveraineté et conformité exigées</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Appels d'offres santé et public : hébergement en France, AI Act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Quelles technologies souveraines ? Quelles obligations, et quand ?</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Le coût des modèles pèse sur les marges</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Les factures d'API de modèles augmentent avec l'usage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Quand un petit modèle hébergé chez nous suffira-t-il ?</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Les attaques sur les assistants IA</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Nos assistants sont connectés aux données des clients</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Quelles nouvelles attaques nous menacent ?</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bl>
          </a:graphicData>
        </a:graphic>
      </p:graphicFrame>
      <p:sp>
        <p:nvSpPr>
          <p:cNvPr id="6" name="carte-46"/>
          <p:cNvSpPr/>
          <p:nvPr/>
        </p:nvSpPr>
        <p:spPr>
          <a:xfrm>
            <a:off x="548640" y="4709160"/>
            <a:ext cx="11094415" cy="1188720"/>
          </a:xfrm>
          <a:prstGeom prst="roundRect">
            <a:avLst>
              <a:gd name="adj" fmla="val 6154"/>
            </a:avLst>
          </a:prstGeom>
          <a:solidFill>
            <a:srgbClr val="FBE3DC"/>
          </a:solidFill>
          <a:ln w="9525">
            <a:solidFill>
              <a:srgbClr val="FBE3DC"/>
            </a:solidFill>
            <a:prstDash val="solid"/>
          </a:ln>
        </p:spPr>
      </p:sp>
      <p:sp>
        <p:nvSpPr>
          <p:cNvPr id="7" name="pastille-47"/>
          <p:cNvSpPr/>
          <p:nvPr/>
        </p:nvSpPr>
        <p:spPr>
          <a:xfrm>
            <a:off x="822960" y="4983480"/>
            <a:ext cx="640080" cy="640080"/>
          </a:xfrm>
          <a:prstGeom prst="ellipse">
            <a:avLst/>
          </a:prstGeom>
          <a:solidFill>
            <a:schemeClr val="accent4"/>
          </a:solidFill>
          <a:ln/>
        </p:spPr>
      </p:sp>
      <p:pic>
        <p:nvPicPr>
          <p:cNvPr id="8" name="icone-48" descr="preencoded.png">    </p:cNvPr>
          <p:cNvPicPr>
            <a:picLocks noChangeAspect="1"/>
          </p:cNvPicPr>
          <p:nvPr/>
        </p:nvPicPr>
        <p:blipFill>
          <a:blip r:embed="rId1"/>
          <a:stretch>
            <a:fillRect/>
          </a:stretch>
        </p:blipFill>
        <p:spPr>
          <a:xfrm>
            <a:off x="963778" y="5124298"/>
            <a:ext cx="358445" cy="358445"/>
          </a:xfrm>
          <a:prstGeom prst="rect">
            <a:avLst/>
          </a:prstGeom>
        </p:spPr>
      </p:pic>
      <p:sp>
        <p:nvSpPr>
          <p:cNvPr id="9" name="texte-49"/>
          <p:cNvSpPr txBox="1"/>
          <p:nvPr/>
        </p:nvSpPr>
        <p:spPr>
          <a:xfrm>
            <a:off x="1691640" y="4709160"/>
            <a:ext cx="9722815" cy="1188720"/>
          </a:xfrm>
          <a:prstGeom prst="rect">
            <a:avLst/>
          </a:prstGeom>
          <a:noFill/>
          <a:ln/>
        </p:spPr>
        <p:txBody>
          <a:bodyPr wrap="square" lIns="0" tIns="0" rIns="0" bIns="0" rtlCol="0" anchor="ctr"/>
          <a:lstStyle/>
          <a:p>
            <a:pPr indent="0" marL="0">
              <a:buNone/>
            </a:pPr>
            <a:r>
              <a:rPr lang="en-US" sz="1600" b="1" dirty="0">
                <a:solidFill>
                  <a:schemeClr val="tx2"/>
                </a:solidFill>
              </a:rPr>
              <a:t>Si le radar tombe en panne, Altéa décide sur des informations périmées. </a:t>
            </a:r>
            <a:r>
              <a:rPr lang="en-US" sz="1600" dirty="0">
                <a:solidFill>
                  <a:schemeClr val="tx1"/>
                </a:solidFill>
              </a:rPr>
              <a:t>C'est déjà arrivé deux fois pendant le pilote, sans que personne ne s'en aperçoive.</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LE CAS · CONTEXTE</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Altéa Services : un pilote qui a convaincu</a:t>
            </a:r>
            <a:endParaRPr lang="en-US" sz="3200" dirty="0"/>
          </a:p>
        </p:txBody>
      </p:sp>
      <p:sp>
        <p:nvSpPr>
          <p:cNvPr id="5" name="carte-50"/>
          <p:cNvSpPr/>
          <p:nvPr/>
        </p:nvSpPr>
        <p:spPr>
          <a:xfrm>
            <a:off x="548640" y="1691640"/>
            <a:ext cx="3566160" cy="2194560"/>
          </a:xfrm>
          <a:prstGeom prst="roundRect">
            <a:avLst>
              <a:gd name="adj" fmla="val 3333"/>
            </a:avLst>
          </a:prstGeom>
          <a:solidFill>
            <a:schemeClr val="bg1"/>
          </a:solidFill>
          <a:ln w="9525">
            <a:solidFill>
              <a:schemeClr val="accent6"/>
            </a:solidFill>
            <a:prstDash val="solid"/>
          </a:ln>
        </p:spPr>
      </p:sp>
      <p:sp>
        <p:nvSpPr>
          <p:cNvPr id="6" name="pastille-51"/>
          <p:cNvSpPr/>
          <p:nvPr/>
        </p:nvSpPr>
        <p:spPr>
          <a:xfrm>
            <a:off x="822960" y="1920240"/>
            <a:ext cx="640080" cy="640080"/>
          </a:xfrm>
          <a:prstGeom prst="ellipse">
            <a:avLst/>
          </a:prstGeom>
          <a:solidFill>
            <a:schemeClr val="accent3"/>
          </a:solidFill>
          <a:ln/>
        </p:spPr>
      </p:sp>
      <p:pic>
        <p:nvPicPr>
          <p:cNvPr id="7" name="icone-52" descr="preencoded.png">    </p:cNvPr>
          <p:cNvPicPr>
            <a:picLocks noChangeAspect="1"/>
          </p:cNvPicPr>
          <p:nvPr/>
        </p:nvPicPr>
        <p:blipFill>
          <a:blip r:embed="rId1"/>
          <a:stretch>
            <a:fillRect/>
          </a:stretch>
        </p:blipFill>
        <p:spPr>
          <a:xfrm>
            <a:off x="963778" y="2061058"/>
            <a:ext cx="358445" cy="358445"/>
          </a:xfrm>
          <a:prstGeom prst="rect">
            <a:avLst/>
          </a:prstGeom>
        </p:spPr>
      </p:pic>
      <p:sp>
        <p:nvSpPr>
          <p:cNvPr id="8" name="texte-53"/>
          <p:cNvSpPr txBox="1"/>
          <p:nvPr/>
        </p:nvSpPr>
        <p:spPr>
          <a:xfrm>
            <a:off x="1645920" y="1783080"/>
            <a:ext cx="2286000" cy="868680"/>
          </a:xfrm>
          <a:prstGeom prst="rect">
            <a:avLst/>
          </a:prstGeom>
          <a:noFill/>
          <a:ln/>
        </p:spPr>
        <p:txBody>
          <a:bodyPr wrap="square" lIns="0" tIns="0" rIns="0" bIns="0" rtlCol="0" anchor="ctr"/>
          <a:lstStyle/>
          <a:p>
            <a:pPr indent="0" marL="0">
              <a:buNone/>
            </a:pPr>
            <a:r>
              <a:rPr lang="en-US" sz="4800" b="1" dirty="0">
                <a:solidFill>
                  <a:schemeClr val="accent3"/>
                </a:solidFill>
                <a:latin typeface="Cambria" pitchFamily="34" charset="0"/>
                <a:ea typeface="Cambria" pitchFamily="34" charset="-122"/>
                <a:cs typeface="Cambria" pitchFamily="34" charset="-120"/>
              </a:rPr>
              <a:t>300</a:t>
            </a:r>
            <a:endParaRPr lang="en-US" sz="4800" dirty="0"/>
          </a:p>
        </p:txBody>
      </p:sp>
      <p:sp>
        <p:nvSpPr>
          <p:cNvPr id="9" name="texte-54"/>
          <p:cNvSpPr txBox="1"/>
          <p:nvPr/>
        </p:nvSpPr>
        <p:spPr>
          <a:xfrm>
            <a:off x="822960" y="2788920"/>
            <a:ext cx="3017520" cy="914400"/>
          </a:xfrm>
          <a:prstGeom prst="rect">
            <a:avLst/>
          </a:prstGeom>
          <a:noFill/>
          <a:ln/>
        </p:spPr>
        <p:txBody>
          <a:bodyPr wrap="square" lIns="0" tIns="0" rIns="0" bIns="0" rtlCol="0" anchor="t"/>
          <a:lstStyle/>
          <a:p>
            <a:pPr indent="0" marL="0">
              <a:buNone/>
            </a:pPr>
            <a:r>
              <a:rPr lang="en-US" sz="1600" dirty="0">
                <a:solidFill>
                  <a:schemeClr val="tx1"/>
                </a:solidFill>
              </a:rPr>
              <a:t>collaborateurs à ouvrir en interne</a:t>
            </a:r>
            <a:endParaRPr lang="en-US" sz="1600" dirty="0"/>
          </a:p>
        </p:txBody>
      </p:sp>
      <p:sp>
        <p:nvSpPr>
          <p:cNvPr id="10" name="carte-55"/>
          <p:cNvSpPr/>
          <p:nvPr/>
        </p:nvSpPr>
        <p:spPr>
          <a:xfrm>
            <a:off x="4297680" y="1691640"/>
            <a:ext cx="3566160" cy="2194560"/>
          </a:xfrm>
          <a:prstGeom prst="roundRect">
            <a:avLst>
              <a:gd name="adj" fmla="val 3333"/>
            </a:avLst>
          </a:prstGeom>
          <a:solidFill>
            <a:schemeClr val="bg1"/>
          </a:solidFill>
          <a:ln w="9525">
            <a:solidFill>
              <a:schemeClr val="accent6"/>
            </a:solidFill>
            <a:prstDash val="solid"/>
          </a:ln>
        </p:spPr>
      </p:sp>
      <p:sp>
        <p:nvSpPr>
          <p:cNvPr id="11" name="pastille-56"/>
          <p:cNvSpPr/>
          <p:nvPr/>
        </p:nvSpPr>
        <p:spPr>
          <a:xfrm>
            <a:off x="4572000" y="1920240"/>
            <a:ext cx="640080" cy="640080"/>
          </a:xfrm>
          <a:prstGeom prst="ellipse">
            <a:avLst/>
          </a:prstGeom>
          <a:solidFill>
            <a:schemeClr val="accent1"/>
          </a:solidFill>
          <a:ln/>
        </p:spPr>
      </p:sp>
      <p:pic>
        <p:nvPicPr>
          <p:cNvPr id="12" name="icone-57" descr="preencoded.png">    </p:cNvPr>
          <p:cNvPicPr>
            <a:picLocks noChangeAspect="1"/>
          </p:cNvPicPr>
          <p:nvPr/>
        </p:nvPicPr>
        <p:blipFill>
          <a:blip r:embed="rId2"/>
          <a:stretch>
            <a:fillRect/>
          </a:stretch>
        </p:blipFill>
        <p:spPr>
          <a:xfrm>
            <a:off x="4712818" y="2061058"/>
            <a:ext cx="358445" cy="358445"/>
          </a:xfrm>
          <a:prstGeom prst="rect">
            <a:avLst/>
          </a:prstGeom>
        </p:spPr>
      </p:pic>
      <p:sp>
        <p:nvSpPr>
          <p:cNvPr id="13" name="texte-58"/>
          <p:cNvSpPr txBox="1"/>
          <p:nvPr/>
        </p:nvSpPr>
        <p:spPr>
          <a:xfrm>
            <a:off x="5394960" y="1783080"/>
            <a:ext cx="2286000" cy="8686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5</a:t>
            </a:r>
            <a:endParaRPr lang="en-US" sz="4800" dirty="0"/>
          </a:p>
        </p:txBody>
      </p:sp>
      <p:sp>
        <p:nvSpPr>
          <p:cNvPr id="14" name="texte-59"/>
          <p:cNvSpPr txBox="1"/>
          <p:nvPr/>
        </p:nvSpPr>
        <p:spPr>
          <a:xfrm>
            <a:off x="4572000" y="2788920"/>
            <a:ext cx="3017520" cy="914400"/>
          </a:xfrm>
          <a:prstGeom prst="rect">
            <a:avLst/>
          </a:prstGeom>
          <a:noFill/>
          <a:ln/>
        </p:spPr>
        <p:txBody>
          <a:bodyPr wrap="square" lIns="0" tIns="0" rIns="0" bIns="0" rtlCol="0" anchor="t"/>
          <a:lstStyle/>
          <a:p>
            <a:pPr indent="0" marL="0">
              <a:buNone/>
            </a:pPr>
            <a:r>
              <a:rPr lang="en-US" sz="1600" dirty="0">
                <a:solidFill>
                  <a:schemeClr val="tx1"/>
                </a:solidFill>
              </a:rPr>
              <a:t>clients grands comptes demandeurs d'une offre</a:t>
            </a:r>
            <a:endParaRPr lang="en-US" sz="1600" dirty="0"/>
          </a:p>
        </p:txBody>
      </p:sp>
      <p:sp>
        <p:nvSpPr>
          <p:cNvPr id="15" name="carte-60"/>
          <p:cNvSpPr/>
          <p:nvPr/>
        </p:nvSpPr>
        <p:spPr>
          <a:xfrm>
            <a:off x="8046720" y="1691640"/>
            <a:ext cx="3566160" cy="2194560"/>
          </a:xfrm>
          <a:prstGeom prst="roundRect">
            <a:avLst>
              <a:gd name="adj" fmla="val 3333"/>
            </a:avLst>
          </a:prstGeom>
          <a:solidFill>
            <a:schemeClr val="bg1"/>
          </a:solidFill>
          <a:ln w="9525">
            <a:solidFill>
              <a:schemeClr val="accent6"/>
            </a:solidFill>
            <a:prstDash val="solid"/>
          </a:ln>
        </p:spPr>
      </p:sp>
      <p:sp>
        <p:nvSpPr>
          <p:cNvPr id="16" name="pastille-61"/>
          <p:cNvSpPr/>
          <p:nvPr/>
        </p:nvSpPr>
        <p:spPr>
          <a:xfrm>
            <a:off x="8321040" y="1920240"/>
            <a:ext cx="640080" cy="640080"/>
          </a:xfrm>
          <a:prstGeom prst="ellipse">
            <a:avLst/>
          </a:prstGeom>
          <a:solidFill>
            <a:schemeClr val="accent4"/>
          </a:solidFill>
          <a:ln/>
        </p:spPr>
      </p:sp>
      <p:pic>
        <p:nvPicPr>
          <p:cNvPr id="17" name="icone-62" descr="preencoded.png">    </p:cNvPr>
          <p:cNvPicPr>
            <a:picLocks noChangeAspect="1"/>
          </p:cNvPicPr>
          <p:nvPr/>
        </p:nvPicPr>
        <p:blipFill>
          <a:blip r:embed="rId3"/>
          <a:stretch>
            <a:fillRect/>
          </a:stretch>
        </p:blipFill>
        <p:spPr>
          <a:xfrm>
            <a:off x="8461858" y="2061058"/>
            <a:ext cx="358445" cy="358445"/>
          </a:xfrm>
          <a:prstGeom prst="rect">
            <a:avLst/>
          </a:prstGeom>
        </p:spPr>
      </p:pic>
      <p:sp>
        <p:nvSpPr>
          <p:cNvPr id="18" name="texte-63"/>
          <p:cNvSpPr txBox="1"/>
          <p:nvPr/>
        </p:nvSpPr>
        <p:spPr>
          <a:xfrm>
            <a:off x="9144000" y="1783080"/>
            <a:ext cx="2286000" cy="86868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2</a:t>
            </a:r>
            <a:endParaRPr lang="en-US" sz="4800" dirty="0"/>
          </a:p>
        </p:txBody>
      </p:sp>
      <p:sp>
        <p:nvSpPr>
          <p:cNvPr id="19" name="texte-64"/>
          <p:cNvSpPr txBox="1"/>
          <p:nvPr/>
        </p:nvSpPr>
        <p:spPr>
          <a:xfrm>
            <a:off x="8321040" y="2788920"/>
            <a:ext cx="3017520" cy="914400"/>
          </a:xfrm>
          <a:prstGeom prst="rect">
            <a:avLst/>
          </a:prstGeom>
          <a:noFill/>
          <a:ln/>
        </p:spPr>
        <p:txBody>
          <a:bodyPr wrap="square" lIns="0" tIns="0" rIns="0" bIns="0" rtlCol="0" anchor="t"/>
          <a:lstStyle/>
          <a:p>
            <a:pPr indent="0" marL="0">
              <a:buNone/>
            </a:pPr>
            <a:r>
              <a:rPr lang="en-US" sz="1600" dirty="0">
                <a:solidFill>
                  <a:schemeClr val="tx1"/>
                </a:solidFill>
              </a:rPr>
              <a:t>pannes silencieuses de la collecte depuis le pilote</a:t>
            </a:r>
            <a:endParaRPr lang="en-US" sz="1600" dirty="0"/>
          </a:p>
        </p:txBody>
      </p:sp>
      <p:graphicFrame>
        <p:nvGraphicFramePr>
          <p:cNvPr id="5" name="tableau-65"/>
          <p:cNvGraphicFramePr>
            <a:graphicFrameLocks noGrp="1"/>
          </p:cNvGraphicFramePr>
          <p:nvPr>
            <p:extLst>
              <p:ext uri="{D42A27DB-BD31-4B8C-83A1-F6EECF244321}">
                <p14:modId xmlns:p14="http://schemas.microsoft.com/office/powerpoint/2010/main" val="1579011935"/>
              </p:ext>
            </p:extLst>
          </p:nvPr>
        </p:nvGraphicFramePr>
        <p:xfrm>
          <a:off x="548640" y="4114800"/>
          <a:ext cx="11094415" cy="914400"/>
        </p:xfrm>
        <a:graphic>
          <a:graphicData uri="http://schemas.openxmlformats.org/drawingml/2006/table">
            <a:tbl>
              <a:tblPr/>
              <a:tblGrid>
                <a:gridCol w="2743200"/>
                <a:gridCol w="8348472"/>
              </a:tblGrid>
              <a:tr h="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Ressource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Situation</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Équipe plateforme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4 ingénieurs ; exploitent déjà 2 clusters Kubernetes managés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Développement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Standard interne : Java / Spring Boot et Angular</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Hébergement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Hébergeur européen ; clients santé et public : données dans l'UE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Budget et sécurité</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Pas de licence d'observabilité ; politique zero trust depuis 2025</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LE CAS · PROBLÉMATIQUE</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Ni sous-industrialiser, ni sur-industrialiser</a:t>
            </a:r>
            <a:endParaRPr lang="en-US" sz="3200" dirty="0"/>
          </a:p>
        </p:txBody>
      </p:sp>
      <p:sp>
        <p:nvSpPr>
          <p:cNvPr id="5" name="carte-66"/>
          <p:cNvSpPr/>
          <p:nvPr/>
        </p:nvSpPr>
        <p:spPr>
          <a:xfrm>
            <a:off x="548640" y="1645920"/>
            <a:ext cx="11094415" cy="1188720"/>
          </a:xfrm>
          <a:prstGeom prst="roundRect">
            <a:avLst>
              <a:gd name="adj" fmla="val 6154"/>
            </a:avLst>
          </a:prstGeom>
          <a:solidFill>
            <a:srgbClr val="EAF4F9"/>
          </a:solidFill>
          <a:ln w="9525">
            <a:solidFill>
              <a:srgbClr val="EAF4F9"/>
            </a:solidFill>
            <a:prstDash val="solid"/>
          </a:ln>
        </p:spPr>
      </p:sp>
      <p:sp>
        <p:nvSpPr>
          <p:cNvPr id="6" name="texte-67"/>
          <p:cNvSpPr txBox="1"/>
          <p:nvPr/>
        </p:nvSpPr>
        <p:spPr>
          <a:xfrm>
            <a:off x="822960" y="1783080"/>
            <a:ext cx="10545775" cy="914400"/>
          </a:xfrm>
          <a:prstGeom prst="rect">
            <a:avLst/>
          </a:prstGeom>
          <a:noFill/>
          <a:ln/>
        </p:spPr>
        <p:txBody>
          <a:bodyPr wrap="square" lIns="0" tIns="0" rIns="0" bIns="0" rtlCol="0" anchor="ctr"/>
          <a:lstStyle/>
          <a:p>
            <a:pPr indent="0" marL="0">
              <a:buNone/>
            </a:pPr>
            <a:r>
              <a:rPr lang="en-US" sz="1800" i="1" dirty="0">
                <a:solidFill>
                  <a:schemeClr val="tx2"/>
                </a:solidFill>
              </a:rPr>
              <a:t>Comment transformer un dispositif de veille automatisé en un service fiable, sécurisé et observable, ouvert à des utilisateurs internes et à des clients, sans surdimensionner l'architecture au regard des enjeux et des compétences disponibles ?</a:t>
            </a:r>
            <a:endParaRPr lang="en-US" sz="1800" dirty="0"/>
          </a:p>
        </p:txBody>
      </p:sp>
      <p:sp>
        <p:nvSpPr>
          <p:cNvPr id="7" name="carte-68"/>
          <p:cNvSpPr/>
          <p:nvPr/>
        </p:nvSpPr>
        <p:spPr>
          <a:xfrm>
            <a:off x="548640" y="3108960"/>
            <a:ext cx="5394960" cy="2468880"/>
          </a:xfrm>
          <a:prstGeom prst="roundRect">
            <a:avLst>
              <a:gd name="adj" fmla="val 2963"/>
            </a:avLst>
          </a:prstGeom>
          <a:solidFill>
            <a:schemeClr val="bg1"/>
          </a:solidFill>
          <a:ln w="9525">
            <a:solidFill>
              <a:schemeClr val="accent6"/>
            </a:solidFill>
            <a:prstDash val="solid"/>
          </a:ln>
        </p:spPr>
      </p:sp>
      <p:sp>
        <p:nvSpPr>
          <p:cNvPr id="8" name="pastille-69"/>
          <p:cNvSpPr/>
          <p:nvPr/>
        </p:nvSpPr>
        <p:spPr>
          <a:xfrm>
            <a:off x="777240" y="3337560"/>
            <a:ext cx="548640" cy="548640"/>
          </a:xfrm>
          <a:prstGeom prst="ellipse">
            <a:avLst/>
          </a:prstGeom>
          <a:solidFill>
            <a:schemeClr val="accent4"/>
          </a:solidFill>
          <a:ln/>
        </p:spPr>
      </p:sp>
      <p:pic>
        <p:nvPicPr>
          <p:cNvPr id="9" name="icone-70" descr="preencoded.png">    </p:cNvPr>
          <p:cNvPicPr>
            <a:picLocks noChangeAspect="1"/>
          </p:cNvPicPr>
          <p:nvPr/>
        </p:nvPicPr>
        <p:blipFill>
          <a:blip r:embed="rId1"/>
          <a:stretch>
            <a:fillRect/>
          </a:stretch>
        </p:blipFill>
        <p:spPr>
          <a:xfrm>
            <a:off x="897941" y="3458261"/>
            <a:ext cx="307238" cy="307238"/>
          </a:xfrm>
          <a:prstGeom prst="rect">
            <a:avLst/>
          </a:prstGeom>
        </p:spPr>
      </p:pic>
      <p:sp>
        <p:nvSpPr>
          <p:cNvPr id="10" name="texte-71"/>
          <p:cNvSpPr txBox="1"/>
          <p:nvPr/>
        </p:nvSpPr>
        <p:spPr>
          <a:xfrm>
            <a:off x="1463040" y="3337560"/>
            <a:ext cx="4297680" cy="548640"/>
          </a:xfrm>
          <a:prstGeom prst="rect">
            <a:avLst/>
          </a:prstGeom>
          <a:noFill/>
          <a:ln/>
        </p:spPr>
        <p:txBody>
          <a:bodyPr wrap="square" lIns="0" tIns="0" rIns="0" bIns="0" rtlCol="0" anchor="ctr"/>
          <a:lstStyle/>
          <a:p>
            <a:pPr indent="0" marL="0">
              <a:buNone/>
            </a:pPr>
            <a:r>
              <a:rPr lang="en-US" sz="1700" b="1" dirty="0">
                <a:solidFill>
                  <a:schemeClr val="tx2"/>
                </a:solidFill>
              </a:rPr>
              <a:t>Risque 1 : sous-industrialiser</a:t>
            </a:r>
            <a:endParaRPr lang="en-US" sz="1700" dirty="0"/>
          </a:p>
        </p:txBody>
      </p:sp>
      <p:sp>
        <p:nvSpPr>
          <p:cNvPr id="11" name="texte-72"/>
          <p:cNvSpPr txBox="1"/>
          <p:nvPr/>
        </p:nvSpPr>
        <p:spPr>
          <a:xfrm>
            <a:off x="777240" y="4023360"/>
            <a:ext cx="4937760" cy="14173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Pannes silencieuses, à l'échelle de clients payants</a:t>
            </a:r>
            <a:endParaRPr lang="en-US" sz="1600" dirty="0"/>
          </a:p>
          <a:p>
            <a:pPr marL="203200" indent="-203200">
              <a:spcAft>
                <a:spcPts val="800"/>
              </a:spcAft>
              <a:buSzPct val="100000"/>
              <a:buChar char="•"/>
            </a:pPr>
            <a:r>
              <a:rPr lang="en-US" sz="1600" dirty="0">
                <a:solidFill>
                  <a:schemeClr val="tx1"/>
                </a:solidFill>
              </a:rPr>
              <a:t>Aucune garantie de disponibilité ni de durabilité</a:t>
            </a:r>
            <a:endParaRPr lang="en-US" sz="1600" dirty="0"/>
          </a:p>
          <a:p>
            <a:pPr marL="203200" indent="-203200">
              <a:spcAft>
                <a:spcPts val="800"/>
              </a:spcAft>
              <a:buSzPct val="100000"/>
              <a:buChar char="•"/>
            </a:pPr>
            <a:r>
              <a:rPr lang="en-US" sz="1600" dirty="0">
                <a:solidFill>
                  <a:schemeClr val="tx1"/>
                </a:solidFill>
              </a:rPr>
              <a:t>Flux non chiffrés, identités partagées</a:t>
            </a:r>
            <a:endParaRPr lang="en-US" sz="1600" dirty="0"/>
          </a:p>
        </p:txBody>
      </p:sp>
      <p:sp>
        <p:nvSpPr>
          <p:cNvPr id="12" name="carte-73"/>
          <p:cNvSpPr/>
          <p:nvPr/>
        </p:nvSpPr>
        <p:spPr>
          <a:xfrm>
            <a:off x="6245352" y="3108960"/>
            <a:ext cx="5394960" cy="2468880"/>
          </a:xfrm>
          <a:prstGeom prst="roundRect">
            <a:avLst>
              <a:gd name="adj" fmla="val 2963"/>
            </a:avLst>
          </a:prstGeom>
          <a:solidFill>
            <a:schemeClr val="bg1"/>
          </a:solidFill>
          <a:ln w="9525">
            <a:solidFill>
              <a:schemeClr val="accent6"/>
            </a:solidFill>
            <a:prstDash val="solid"/>
          </a:ln>
        </p:spPr>
      </p:sp>
      <p:sp>
        <p:nvSpPr>
          <p:cNvPr id="13" name="pastille-74"/>
          <p:cNvSpPr/>
          <p:nvPr/>
        </p:nvSpPr>
        <p:spPr>
          <a:xfrm>
            <a:off x="6473952" y="3337560"/>
            <a:ext cx="548640" cy="548640"/>
          </a:xfrm>
          <a:prstGeom prst="ellipse">
            <a:avLst/>
          </a:prstGeom>
          <a:solidFill>
            <a:schemeClr val="accent1"/>
          </a:solidFill>
          <a:ln/>
        </p:spPr>
      </p:sp>
      <p:pic>
        <p:nvPicPr>
          <p:cNvPr id="14" name="icone-75" descr="preencoded.png">    </p:cNvPr>
          <p:cNvPicPr>
            <a:picLocks noChangeAspect="1"/>
          </p:cNvPicPr>
          <p:nvPr/>
        </p:nvPicPr>
        <p:blipFill>
          <a:blip r:embed="rId2"/>
          <a:stretch>
            <a:fillRect/>
          </a:stretch>
        </p:blipFill>
        <p:spPr>
          <a:xfrm>
            <a:off x="6594653" y="3458261"/>
            <a:ext cx="307238" cy="307238"/>
          </a:xfrm>
          <a:prstGeom prst="rect">
            <a:avLst/>
          </a:prstGeom>
        </p:spPr>
      </p:pic>
      <p:sp>
        <p:nvSpPr>
          <p:cNvPr id="15" name="texte-76"/>
          <p:cNvSpPr txBox="1"/>
          <p:nvPr/>
        </p:nvSpPr>
        <p:spPr>
          <a:xfrm>
            <a:off x="7159752" y="3337560"/>
            <a:ext cx="4297680" cy="548640"/>
          </a:xfrm>
          <a:prstGeom prst="rect">
            <a:avLst/>
          </a:prstGeom>
          <a:noFill/>
          <a:ln/>
        </p:spPr>
        <p:txBody>
          <a:bodyPr wrap="square" lIns="0" tIns="0" rIns="0" bIns="0" rtlCol="0" anchor="ctr"/>
          <a:lstStyle/>
          <a:p>
            <a:pPr indent="0" marL="0">
              <a:buNone/>
            </a:pPr>
            <a:r>
              <a:rPr lang="en-US" sz="1700" b="1" dirty="0">
                <a:solidFill>
                  <a:schemeClr val="tx2"/>
                </a:solidFill>
              </a:rPr>
              <a:t>Risque 2 : sur-industrialiser</a:t>
            </a:r>
            <a:endParaRPr lang="en-US" sz="1700" dirty="0"/>
          </a:p>
        </p:txBody>
      </p:sp>
      <p:sp>
        <p:nvSpPr>
          <p:cNvPr id="16" name="texte-77"/>
          <p:cNvSpPr txBox="1"/>
          <p:nvPr/>
        </p:nvSpPr>
        <p:spPr>
          <a:xfrm>
            <a:off x="6473952" y="4023360"/>
            <a:ext cx="4937760" cy="141732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Complexité supérieure à la valeur du service</a:t>
            </a:r>
            <a:endParaRPr lang="en-US" sz="1600" dirty="0"/>
          </a:p>
          <a:p>
            <a:pPr marL="203200" indent="-203200">
              <a:spcAft>
                <a:spcPts val="800"/>
              </a:spcAft>
              <a:buSzPct val="100000"/>
              <a:buChar char="•"/>
            </a:pPr>
            <a:r>
              <a:rPr lang="en-US" sz="1600" dirty="0">
                <a:solidFill>
                  <a:schemeClr val="tx1"/>
                </a:solidFill>
              </a:rPr>
              <a:t>Équipe plateforme absorbée par l'exploitation</a:t>
            </a:r>
            <a:endParaRPr lang="en-US" sz="1600" dirty="0"/>
          </a:p>
          <a:p>
            <a:pPr marL="203200" indent="-203200">
              <a:spcAft>
                <a:spcPts val="800"/>
              </a:spcAft>
              <a:buSzPct val="100000"/>
              <a:buChar char="•"/>
            </a:pPr>
            <a:r>
              <a:rPr lang="en-US" sz="1600" dirty="0">
                <a:solidFill>
                  <a:schemeClr val="tx1"/>
                </a:solidFill>
              </a:rPr>
              <a:t>Coût fixe disproportionné</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LE CAS · EXIGENCES</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Des exigences mesurables</a:t>
            </a:r>
            <a:endParaRPr lang="en-US" sz="3200" dirty="0"/>
          </a:p>
        </p:txBody>
      </p:sp>
      <p:graphicFrame>
        <p:nvGraphicFramePr>
          <p:cNvPr id="7" name="tableau-78"/>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280160"/>
                <a:gridCol w="3291840"/>
                <a:gridCol w="6519672"/>
              </a:tblGrid>
              <a:tr h="47548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Réf.</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Exigence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Cible mesurable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NF1</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Disponibilité de l'API</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SLO 99,5 % sur 30 jours : budget d'erreur ≈ 3 h 36 min</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NF2</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Latence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95ᵉ centile &lt; 1 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NF3</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BD8"/>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Fraîcheur de la veille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BD8"/>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Chaque source collectée toutes les 6 h ; toute panne détectée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BD8"/>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NF4</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Durabilité des données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RPO ≤ 5 min · RTO ≤ 30 min · aucune transaction perdue en bascule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NF5</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Sécurité des flux</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mTLS, autorisation par identité de service, sortie Internet en liste blanche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NF6</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Traçabilité</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Tout changement tracé et réversible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NF7 · NF8</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Souveraineté · RGPD</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Données dans l'UE · journaux expurgés de données personnelles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NF9</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Exploitabilité</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Alertes actionnables et documentées ; aucune alerte métier vers l'astreinte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LE CAS · ARCHITECTURE CIBLE</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Architecture cible</a:t>
            </a:r>
            <a:endParaRPr lang="en-US" sz="3200" dirty="0"/>
          </a:p>
        </p:txBody>
      </p:sp>
      <p:sp>
        <p:nvSpPr>
          <p:cNvPr id="5" name="bloc-79"/>
          <p:cNvSpPr/>
          <p:nvPr/>
        </p:nvSpPr>
        <p:spPr>
          <a:xfrm>
            <a:off x="548640" y="1645920"/>
            <a:ext cx="2377440" cy="685800"/>
          </a:xfrm>
          <a:prstGeom prst="roundRect">
            <a:avLst>
              <a:gd name="adj" fmla="val 8000"/>
            </a:avLst>
          </a:prstGeom>
          <a:solidFill>
            <a:schemeClr val="bg1"/>
          </a:solidFill>
          <a:ln w="9525">
            <a:solidFill>
              <a:schemeClr val="accent6"/>
            </a:solidFill>
            <a:prstDash val="solid"/>
          </a:ln>
        </p:spPr>
      </p:sp>
      <p:sp>
        <p:nvSpPr>
          <p:cNvPr id="6" name="texte-80"/>
          <p:cNvSpPr txBox="1"/>
          <p:nvPr/>
        </p:nvSpPr>
        <p:spPr>
          <a:xfrm>
            <a:off x="621792" y="1645920"/>
            <a:ext cx="2231136" cy="685800"/>
          </a:xfrm>
          <a:prstGeom prst="rect">
            <a:avLst/>
          </a:prstGeom>
          <a:noFill/>
          <a:ln/>
        </p:spPr>
        <p:txBody>
          <a:bodyPr wrap="square" lIns="0" tIns="0" rIns="0" bIns="0" rtlCol="0" anchor="ctr"/>
          <a:lstStyle/>
          <a:p>
            <a:pPr algn="ctr" indent="0" marL="0">
              <a:buNone/>
            </a:pPr>
            <a:r>
              <a:rPr lang="en-US" sz="1300" b="1" dirty="0">
                <a:solidFill>
                  <a:schemeClr val="tx2"/>
                </a:solidFill>
              </a:rPr>
              <a:t>Navigateur</a:t>
            </a:r>
            <a:endParaRPr lang="en-US" sz="1500" dirty="0"/>
          </a:p>
          <a:p>
            <a:pPr algn="ctr" indent="0" marL="0">
              <a:buNone/>
            </a:pPr>
            <a:r>
              <a:rPr lang="en-US" sz="1000" dirty="0">
                <a:solidFill>
                  <a:schemeClr val="accent5"/>
                </a:solidFill>
              </a:rPr>
              <a:t>utilisateurs internes et clients</a:t>
            </a:r>
            <a:endParaRPr lang="en-US" sz="1500" dirty="0"/>
          </a:p>
        </p:txBody>
      </p:sp>
      <p:sp>
        <p:nvSpPr>
          <p:cNvPr id="7" name="bloc-81"/>
          <p:cNvSpPr/>
          <p:nvPr/>
        </p:nvSpPr>
        <p:spPr>
          <a:xfrm>
            <a:off x="9262872" y="1645920"/>
            <a:ext cx="2377440" cy="685800"/>
          </a:xfrm>
          <a:prstGeom prst="roundRect">
            <a:avLst>
              <a:gd name="adj" fmla="val 8000"/>
            </a:avLst>
          </a:prstGeom>
          <a:solidFill>
            <a:schemeClr val="bg1"/>
          </a:solidFill>
          <a:ln w="9525">
            <a:solidFill>
              <a:schemeClr val="accent6"/>
            </a:solidFill>
            <a:prstDash val="solid"/>
          </a:ln>
        </p:spPr>
      </p:sp>
      <p:sp>
        <p:nvSpPr>
          <p:cNvPr id="8" name="texte-82"/>
          <p:cNvSpPr txBox="1"/>
          <p:nvPr/>
        </p:nvSpPr>
        <p:spPr>
          <a:xfrm>
            <a:off x="9336024" y="1645920"/>
            <a:ext cx="2231136" cy="685800"/>
          </a:xfrm>
          <a:prstGeom prst="rect">
            <a:avLst/>
          </a:prstGeom>
          <a:noFill/>
          <a:ln/>
        </p:spPr>
        <p:txBody>
          <a:bodyPr wrap="square" lIns="0" tIns="0" rIns="0" bIns="0" rtlCol="0" anchor="ctr"/>
          <a:lstStyle/>
          <a:p>
            <a:pPr algn="ctr" indent="0" marL="0">
              <a:buNone/>
            </a:pPr>
            <a:r>
              <a:rPr lang="en-US" sz="1300" b="1" dirty="0">
                <a:solidFill>
                  <a:schemeClr val="tx2"/>
                </a:solidFill>
              </a:rPr>
              <a:t>Sources de veille</a:t>
            </a:r>
            <a:endParaRPr lang="en-US" sz="1500" dirty="0"/>
          </a:p>
          <a:p>
            <a:pPr algn="ctr" indent="0" marL="0">
              <a:buNone/>
            </a:pPr>
            <a:r>
              <a:rPr lang="en-US" sz="1000" dirty="0">
                <a:solidFill>
                  <a:schemeClr val="accent5"/>
                </a:solidFill>
              </a:rPr>
              <a:t>arXiv · Hacker News · GitHub</a:t>
            </a:r>
            <a:endParaRPr lang="en-US" sz="1500" dirty="0"/>
          </a:p>
        </p:txBody>
      </p:sp>
      <p:sp>
        <p:nvSpPr>
          <p:cNvPr id="9" name="cluster-83"/>
          <p:cNvSpPr/>
          <p:nvPr/>
        </p:nvSpPr>
        <p:spPr>
          <a:xfrm>
            <a:off x="548640" y="2606040"/>
            <a:ext cx="11094415" cy="3611880"/>
          </a:xfrm>
          <a:prstGeom prst="roundRect">
            <a:avLst>
              <a:gd name="adj" fmla="val 1519"/>
            </a:avLst>
          </a:prstGeom>
          <a:solidFill>
            <a:srgbClr val="EEF2F8"/>
          </a:solidFill>
          <a:ln w="12700">
            <a:solidFill>
              <a:schemeClr val="accent5"/>
            </a:solidFill>
            <a:prstDash val="dash"/>
          </a:ln>
        </p:spPr>
      </p:sp>
      <p:sp>
        <p:nvSpPr>
          <p:cNvPr id="10" name="texte-84"/>
          <p:cNvSpPr txBox="1"/>
          <p:nvPr/>
        </p:nvSpPr>
        <p:spPr>
          <a:xfrm>
            <a:off x="3383280" y="2651760"/>
            <a:ext cx="5486400" cy="274320"/>
          </a:xfrm>
          <a:prstGeom prst="rect">
            <a:avLst/>
          </a:prstGeom>
          <a:noFill/>
          <a:ln/>
        </p:spPr>
        <p:txBody>
          <a:bodyPr wrap="square" lIns="0" tIns="0" rIns="0" bIns="0" rtlCol="0" anchor="t"/>
          <a:lstStyle/>
          <a:p>
            <a:pPr indent="0" marL="0">
              <a:buNone/>
            </a:pPr>
            <a:r>
              <a:rPr lang="en-US" sz="1100" b="1" dirty="0">
                <a:solidFill>
                  <a:schemeClr val="accent5"/>
                </a:solidFill>
              </a:rPr>
              <a:t>Cluster Kubernetes · hébergeur UE · 3 zones</a:t>
            </a:r>
            <a:endParaRPr lang="en-US" sz="1100" dirty="0"/>
          </a:p>
        </p:txBody>
      </p:sp>
      <p:sp>
        <p:nvSpPr>
          <p:cNvPr id="11" name="bloc-85"/>
          <p:cNvSpPr/>
          <p:nvPr/>
        </p:nvSpPr>
        <p:spPr>
          <a:xfrm>
            <a:off x="914400" y="3017520"/>
            <a:ext cx="2286000" cy="685800"/>
          </a:xfrm>
          <a:prstGeom prst="roundRect">
            <a:avLst>
              <a:gd name="adj" fmla="val 8000"/>
            </a:avLst>
          </a:prstGeom>
          <a:solidFill>
            <a:schemeClr val="tx2"/>
          </a:solidFill>
          <a:ln w="9525">
            <a:solidFill>
              <a:schemeClr val="accent6"/>
            </a:solidFill>
            <a:prstDash val="solid"/>
          </a:ln>
        </p:spPr>
      </p:sp>
      <p:sp>
        <p:nvSpPr>
          <p:cNvPr id="12" name="texte-86"/>
          <p:cNvSpPr txBox="1"/>
          <p:nvPr/>
        </p:nvSpPr>
        <p:spPr>
          <a:xfrm>
            <a:off x="987552" y="3017520"/>
            <a:ext cx="2139696" cy="685800"/>
          </a:xfrm>
          <a:prstGeom prst="rect">
            <a:avLst/>
          </a:prstGeom>
          <a:noFill/>
          <a:ln/>
        </p:spPr>
        <p:txBody>
          <a:bodyPr wrap="square" lIns="0" tIns="0" rIns="0" bIns="0" rtlCol="0" anchor="ctr"/>
          <a:lstStyle/>
          <a:p>
            <a:pPr algn="ctr" indent="0" marL="0">
              <a:buNone/>
            </a:pPr>
            <a:r>
              <a:rPr lang="en-US" sz="1300" b="1" dirty="0">
                <a:solidFill>
                  <a:schemeClr val="bg1"/>
                </a:solidFill>
              </a:rPr>
              <a:t>Passerelle Istio</a:t>
            </a:r>
            <a:endParaRPr lang="en-US" sz="1500" dirty="0"/>
          </a:p>
          <a:p>
            <a:pPr algn="ctr" indent="0" marL="0">
              <a:buNone/>
            </a:pPr>
            <a:r>
              <a:rPr lang="en-US" sz="1000" dirty="0">
                <a:solidFill>
                  <a:schemeClr val="accent2"/>
                </a:solidFill>
              </a:rPr>
              <a:t>TLS · routage /, /api</a:t>
            </a:r>
            <a:endParaRPr lang="en-US" sz="1500" dirty="0"/>
          </a:p>
        </p:txBody>
      </p:sp>
      <p:sp>
        <p:nvSpPr>
          <p:cNvPr id="13" name="bloc-87"/>
          <p:cNvSpPr/>
          <p:nvPr/>
        </p:nvSpPr>
        <p:spPr>
          <a:xfrm>
            <a:off x="914400" y="4069080"/>
            <a:ext cx="2286000" cy="685800"/>
          </a:xfrm>
          <a:prstGeom prst="roundRect">
            <a:avLst>
              <a:gd name="adj" fmla="val 8000"/>
            </a:avLst>
          </a:prstGeom>
          <a:solidFill>
            <a:schemeClr val="bg1"/>
          </a:solidFill>
          <a:ln w="9525">
            <a:solidFill>
              <a:schemeClr val="accent6"/>
            </a:solidFill>
            <a:prstDash val="solid"/>
          </a:ln>
        </p:spPr>
      </p:sp>
      <p:sp>
        <p:nvSpPr>
          <p:cNvPr id="14" name="texte-88"/>
          <p:cNvSpPr txBox="1"/>
          <p:nvPr/>
        </p:nvSpPr>
        <p:spPr>
          <a:xfrm>
            <a:off x="987552" y="4069080"/>
            <a:ext cx="2139696" cy="685800"/>
          </a:xfrm>
          <a:prstGeom prst="rect">
            <a:avLst/>
          </a:prstGeom>
          <a:noFill/>
          <a:ln/>
        </p:spPr>
        <p:txBody>
          <a:bodyPr wrap="square" lIns="0" tIns="0" rIns="0" bIns="0" rtlCol="0" anchor="ctr"/>
          <a:lstStyle/>
          <a:p>
            <a:pPr algn="ctr" indent="0" marL="0">
              <a:buNone/>
            </a:pPr>
            <a:r>
              <a:rPr lang="en-US" sz="1300" b="1" dirty="0">
                <a:solidFill>
                  <a:schemeClr val="tx2"/>
                </a:solidFill>
              </a:rPr>
              <a:t>radar-web</a:t>
            </a:r>
            <a:endParaRPr lang="en-US" sz="1500" dirty="0"/>
          </a:p>
          <a:p>
            <a:pPr algn="ctr" indent="0" marL="0">
              <a:buNone/>
            </a:pPr>
            <a:r>
              <a:rPr lang="en-US" sz="1000" dirty="0">
                <a:solidFill>
                  <a:schemeClr val="accent5"/>
                </a:solidFill>
              </a:rPr>
              <a:t>Angular · nginx</a:t>
            </a:r>
            <a:endParaRPr lang="en-US" sz="1500" dirty="0"/>
          </a:p>
        </p:txBody>
      </p:sp>
      <p:sp>
        <p:nvSpPr>
          <p:cNvPr id="15" name="bloc-89"/>
          <p:cNvSpPr/>
          <p:nvPr/>
        </p:nvSpPr>
        <p:spPr>
          <a:xfrm>
            <a:off x="3931920" y="3017520"/>
            <a:ext cx="2651760" cy="685800"/>
          </a:xfrm>
          <a:prstGeom prst="roundRect">
            <a:avLst>
              <a:gd name="adj" fmla="val 8000"/>
            </a:avLst>
          </a:prstGeom>
          <a:solidFill>
            <a:schemeClr val="accent1"/>
          </a:solidFill>
          <a:ln w="9525">
            <a:solidFill>
              <a:schemeClr val="accent6"/>
            </a:solidFill>
            <a:prstDash val="solid"/>
          </a:ln>
        </p:spPr>
      </p:sp>
      <p:sp>
        <p:nvSpPr>
          <p:cNvPr id="16" name="texte-90"/>
          <p:cNvSpPr txBox="1"/>
          <p:nvPr/>
        </p:nvSpPr>
        <p:spPr>
          <a:xfrm>
            <a:off x="4005072" y="3017520"/>
            <a:ext cx="2505456" cy="685800"/>
          </a:xfrm>
          <a:prstGeom prst="rect">
            <a:avLst/>
          </a:prstGeom>
          <a:noFill/>
          <a:ln/>
        </p:spPr>
        <p:txBody>
          <a:bodyPr wrap="square" lIns="0" tIns="0" rIns="0" bIns="0" rtlCol="0" anchor="ctr"/>
          <a:lstStyle/>
          <a:p>
            <a:pPr algn="ctr" indent="0" marL="0">
              <a:buNone/>
            </a:pPr>
            <a:r>
              <a:rPr lang="en-US" sz="1300" b="1" dirty="0">
                <a:solidFill>
                  <a:schemeClr val="tx2"/>
                </a:solidFill>
              </a:rPr>
              <a:t>radar-api v1 / v2</a:t>
            </a:r>
            <a:endParaRPr lang="en-US" sz="1500" dirty="0"/>
          </a:p>
          <a:p>
            <a:pPr algn="ctr" indent="0" marL="0">
              <a:buNone/>
            </a:pPr>
            <a:r>
              <a:rPr lang="en-US" sz="1000" dirty="0">
                <a:solidFill>
                  <a:schemeClr val="tx2"/>
                </a:solidFill>
              </a:rPr>
              <a:t>Spring Boot · canari 90/10</a:t>
            </a:r>
            <a:endParaRPr lang="en-US" sz="1500" dirty="0"/>
          </a:p>
        </p:txBody>
      </p:sp>
      <p:sp>
        <p:nvSpPr>
          <p:cNvPr id="17" name="bloc-91"/>
          <p:cNvSpPr/>
          <p:nvPr/>
        </p:nvSpPr>
        <p:spPr>
          <a:xfrm>
            <a:off x="8961120" y="3017520"/>
            <a:ext cx="2377440" cy="685800"/>
          </a:xfrm>
          <a:prstGeom prst="roundRect">
            <a:avLst>
              <a:gd name="adj" fmla="val 8000"/>
            </a:avLst>
          </a:prstGeom>
          <a:solidFill>
            <a:schemeClr val="accent1"/>
          </a:solidFill>
          <a:ln w="9525">
            <a:solidFill>
              <a:schemeClr val="accent6"/>
            </a:solidFill>
            <a:prstDash val="solid"/>
          </a:ln>
        </p:spPr>
      </p:sp>
      <p:sp>
        <p:nvSpPr>
          <p:cNvPr id="18" name="texte-92"/>
          <p:cNvSpPr txBox="1"/>
          <p:nvPr/>
        </p:nvSpPr>
        <p:spPr>
          <a:xfrm>
            <a:off x="9034272" y="3017520"/>
            <a:ext cx="2231136" cy="685800"/>
          </a:xfrm>
          <a:prstGeom prst="rect">
            <a:avLst/>
          </a:prstGeom>
          <a:noFill/>
          <a:ln/>
        </p:spPr>
        <p:txBody>
          <a:bodyPr wrap="square" lIns="0" tIns="0" rIns="0" bIns="0" rtlCol="0" anchor="ctr"/>
          <a:lstStyle/>
          <a:p>
            <a:pPr algn="ctr" indent="0" marL="0">
              <a:buNone/>
            </a:pPr>
            <a:r>
              <a:rPr lang="en-US" sz="1300" b="1" dirty="0">
                <a:solidFill>
                  <a:schemeClr val="tx2"/>
                </a:solidFill>
              </a:rPr>
              <a:t>signal-collector</a:t>
            </a:r>
            <a:endParaRPr lang="en-US" sz="1500" dirty="0"/>
          </a:p>
          <a:p>
            <a:pPr algn="ctr" indent="0" marL="0">
              <a:buNone/>
            </a:pPr>
            <a:r>
              <a:rPr lang="en-US" sz="1000" dirty="0">
                <a:solidFill>
                  <a:schemeClr val="tx2"/>
                </a:solidFill>
              </a:rPr>
              <a:t>Spring Boot · planifié</a:t>
            </a:r>
            <a:endParaRPr lang="en-US" sz="1500" dirty="0"/>
          </a:p>
        </p:txBody>
      </p:sp>
      <p:sp>
        <p:nvSpPr>
          <p:cNvPr id="19" name="bloc-93"/>
          <p:cNvSpPr/>
          <p:nvPr/>
        </p:nvSpPr>
        <p:spPr>
          <a:xfrm>
            <a:off x="3931920" y="4069080"/>
            <a:ext cx="2651760" cy="594360"/>
          </a:xfrm>
          <a:prstGeom prst="roundRect">
            <a:avLst>
              <a:gd name="adj" fmla="val 9231"/>
            </a:avLst>
          </a:prstGeom>
          <a:solidFill>
            <a:schemeClr val="accent2"/>
          </a:solidFill>
          <a:ln w="9525">
            <a:solidFill>
              <a:schemeClr val="accent6"/>
            </a:solidFill>
            <a:prstDash val="solid"/>
          </a:ln>
        </p:spPr>
      </p:sp>
      <p:sp>
        <p:nvSpPr>
          <p:cNvPr id="20" name="texte-94"/>
          <p:cNvSpPr txBox="1"/>
          <p:nvPr/>
        </p:nvSpPr>
        <p:spPr>
          <a:xfrm>
            <a:off x="4005072" y="4069080"/>
            <a:ext cx="2505456" cy="594360"/>
          </a:xfrm>
          <a:prstGeom prst="rect">
            <a:avLst/>
          </a:prstGeom>
          <a:noFill/>
          <a:ln/>
        </p:spPr>
        <p:txBody>
          <a:bodyPr wrap="square" lIns="0" tIns="0" rIns="0" bIns="0" rtlCol="0" anchor="ctr"/>
          <a:lstStyle/>
          <a:p>
            <a:pPr algn="ctr" indent="0" marL="0">
              <a:buNone/>
            </a:pPr>
            <a:r>
              <a:rPr lang="en-US" sz="1300" b="1" dirty="0">
                <a:solidFill>
                  <a:schemeClr val="tx2"/>
                </a:solidFill>
              </a:rPr>
              <a:t>PgBouncer ×2</a:t>
            </a:r>
            <a:endParaRPr lang="en-US" sz="1500" dirty="0"/>
          </a:p>
          <a:p>
            <a:pPr algn="ctr" indent="0" marL="0">
              <a:buNone/>
            </a:pPr>
            <a:r>
              <a:rPr lang="en-US" sz="1000" dirty="0">
                <a:solidFill>
                  <a:schemeClr val="tx2"/>
                </a:solidFill>
              </a:rPr>
              <a:t>Pooler CloudNativePG</a:t>
            </a:r>
            <a:endParaRPr lang="en-US" sz="1500" dirty="0"/>
          </a:p>
        </p:txBody>
      </p:sp>
      <p:sp>
        <p:nvSpPr>
          <p:cNvPr id="21" name="bloc-95"/>
          <p:cNvSpPr/>
          <p:nvPr/>
        </p:nvSpPr>
        <p:spPr>
          <a:xfrm>
            <a:off x="6949440" y="4069080"/>
            <a:ext cx="2743200" cy="594360"/>
          </a:xfrm>
          <a:prstGeom prst="roundRect">
            <a:avLst>
              <a:gd name="adj" fmla="val 9231"/>
            </a:avLst>
          </a:prstGeom>
          <a:solidFill>
            <a:schemeClr val="accent3"/>
          </a:solidFill>
          <a:ln w="9525">
            <a:solidFill>
              <a:schemeClr val="accent6"/>
            </a:solidFill>
            <a:prstDash val="solid"/>
          </a:ln>
        </p:spPr>
      </p:sp>
      <p:sp>
        <p:nvSpPr>
          <p:cNvPr id="22" name="texte-96"/>
          <p:cNvSpPr txBox="1"/>
          <p:nvPr/>
        </p:nvSpPr>
        <p:spPr>
          <a:xfrm>
            <a:off x="7022592" y="4069080"/>
            <a:ext cx="2596896" cy="594360"/>
          </a:xfrm>
          <a:prstGeom prst="rect">
            <a:avLst/>
          </a:prstGeom>
          <a:noFill/>
          <a:ln/>
        </p:spPr>
        <p:txBody>
          <a:bodyPr wrap="square" lIns="0" tIns="0" rIns="0" bIns="0" rtlCol="0" anchor="ctr"/>
          <a:lstStyle/>
          <a:p>
            <a:pPr algn="ctr" indent="0" marL="0">
              <a:buNone/>
            </a:pPr>
            <a:r>
              <a:rPr lang="en-US" sz="1300" b="1" dirty="0">
                <a:solidFill>
                  <a:schemeClr val="bg1"/>
                </a:solidFill>
              </a:rPr>
              <a:t>PostgreSQL ×3</a:t>
            </a:r>
            <a:endParaRPr lang="en-US" sz="1500" dirty="0"/>
          </a:p>
          <a:p>
            <a:pPr algn="ctr" indent="0" marL="0">
              <a:buNone/>
            </a:pPr>
            <a:r>
              <a:rPr lang="en-US" sz="1000" dirty="0">
                <a:solidFill>
                  <a:schemeClr val="bg1"/>
                </a:solidFill>
              </a:rPr>
              <a:t>primaire + 2 réplicas · synchrone</a:t>
            </a:r>
            <a:endParaRPr lang="en-US" sz="1500" dirty="0"/>
          </a:p>
        </p:txBody>
      </p:sp>
      <p:sp>
        <p:nvSpPr>
          <p:cNvPr id="23" name="bloc-97"/>
          <p:cNvSpPr/>
          <p:nvPr/>
        </p:nvSpPr>
        <p:spPr>
          <a:xfrm>
            <a:off x="914400" y="5120640"/>
            <a:ext cx="10424160" cy="731520"/>
          </a:xfrm>
          <a:prstGeom prst="roundRect">
            <a:avLst>
              <a:gd name="adj" fmla="val 7500"/>
            </a:avLst>
          </a:prstGeom>
          <a:solidFill>
            <a:schemeClr val="bg1"/>
          </a:solidFill>
          <a:ln w="9525">
            <a:solidFill>
              <a:schemeClr val="accent6"/>
            </a:solidFill>
            <a:prstDash val="solid"/>
          </a:ln>
        </p:spPr>
      </p:sp>
      <p:sp>
        <p:nvSpPr>
          <p:cNvPr id="24" name="texte-98"/>
          <p:cNvSpPr txBox="1"/>
          <p:nvPr/>
        </p:nvSpPr>
        <p:spPr>
          <a:xfrm>
            <a:off x="987552" y="5120640"/>
            <a:ext cx="10277856" cy="731520"/>
          </a:xfrm>
          <a:prstGeom prst="rect">
            <a:avLst/>
          </a:prstGeom>
          <a:noFill/>
          <a:ln/>
        </p:spPr>
        <p:txBody>
          <a:bodyPr wrap="square" lIns="0" tIns="0" rIns="0" bIns="0" rtlCol="0" anchor="ctr"/>
          <a:lstStyle/>
          <a:p>
            <a:pPr algn="ctr" indent="0" marL="0">
              <a:buNone/>
            </a:pPr>
            <a:r>
              <a:rPr lang="en-US" sz="1300" b="1" dirty="0">
                <a:solidFill>
                  <a:schemeClr val="tx2"/>
                </a:solidFill>
              </a:rPr>
              <a:t>Observabilité</a:t>
            </a:r>
            <a:endParaRPr lang="en-US" sz="1500" dirty="0"/>
          </a:p>
          <a:p>
            <a:pPr algn="ctr" indent="0" marL="0">
              <a:buNone/>
            </a:pPr>
            <a:r>
              <a:rPr lang="en-US" sz="1000" dirty="0">
                <a:solidFill>
                  <a:schemeClr val="accent5"/>
                </a:solidFill>
              </a:rPr>
              <a:t>Prometheus · Alertmanager · Grafana · Vector : Loki · Tempo</a:t>
            </a:r>
            <a:endParaRPr lang="en-US" sz="1500" dirty="0"/>
          </a:p>
        </p:txBody>
      </p:sp>
      <p:sp>
        <p:nvSpPr>
          <p:cNvPr id="25" name="fleche-99"/>
          <p:cNvSpPr/>
          <p:nvPr/>
        </p:nvSpPr>
        <p:spPr>
          <a:xfrm>
            <a:off x="1737360" y="2331720"/>
            <a:ext cx="0" cy="685800"/>
          </a:xfrm>
          <a:prstGeom prst="line">
            <a:avLst/>
          </a:prstGeom>
          <a:noFill/>
          <a:ln w="19050">
            <a:solidFill>
              <a:schemeClr val="accent5"/>
            </a:solidFill>
            <a:prstDash val="solid"/>
            <a:tailEnd type="triangle"/>
          </a:ln>
        </p:spPr>
      </p:sp>
      <p:sp>
        <p:nvSpPr>
          <p:cNvPr id="26" name="fleche-100"/>
          <p:cNvSpPr/>
          <p:nvPr/>
        </p:nvSpPr>
        <p:spPr>
          <a:xfrm>
            <a:off x="2057400" y="3703320"/>
            <a:ext cx="0" cy="365760"/>
          </a:xfrm>
          <a:prstGeom prst="line">
            <a:avLst/>
          </a:prstGeom>
          <a:noFill/>
          <a:ln w="19050">
            <a:solidFill>
              <a:schemeClr val="accent5"/>
            </a:solidFill>
            <a:prstDash val="solid"/>
            <a:tailEnd type="triangle"/>
          </a:ln>
        </p:spPr>
      </p:sp>
      <p:sp>
        <p:nvSpPr>
          <p:cNvPr id="27" name="fleche-101"/>
          <p:cNvSpPr/>
          <p:nvPr/>
        </p:nvSpPr>
        <p:spPr>
          <a:xfrm>
            <a:off x="3200400" y="3355848"/>
            <a:ext cx="731520" cy="0"/>
          </a:xfrm>
          <a:prstGeom prst="line">
            <a:avLst/>
          </a:prstGeom>
          <a:noFill/>
          <a:ln w="19050">
            <a:solidFill>
              <a:schemeClr val="accent5"/>
            </a:solidFill>
            <a:prstDash val="solid"/>
            <a:tailEnd type="triangle"/>
          </a:ln>
        </p:spPr>
      </p:sp>
      <p:sp>
        <p:nvSpPr>
          <p:cNvPr id="28" name="fleche-102"/>
          <p:cNvSpPr/>
          <p:nvPr/>
        </p:nvSpPr>
        <p:spPr>
          <a:xfrm>
            <a:off x="8961120" y="3355848"/>
            <a:ext cx="-2377440" cy="0"/>
          </a:xfrm>
          <a:prstGeom prst="line">
            <a:avLst/>
          </a:prstGeom>
          <a:noFill/>
          <a:ln w="19050">
            <a:solidFill>
              <a:schemeClr val="accent4"/>
            </a:solidFill>
            <a:prstDash val="solid"/>
            <a:tailEnd type="triangle"/>
          </a:ln>
        </p:spPr>
      </p:sp>
      <p:sp>
        <p:nvSpPr>
          <p:cNvPr id="29" name="texte-103"/>
          <p:cNvSpPr txBox="1"/>
          <p:nvPr/>
        </p:nvSpPr>
        <p:spPr>
          <a:xfrm>
            <a:off x="6812280" y="3017520"/>
            <a:ext cx="2011680" cy="274320"/>
          </a:xfrm>
          <a:prstGeom prst="rect">
            <a:avLst/>
          </a:prstGeom>
          <a:noFill/>
          <a:ln/>
        </p:spPr>
        <p:txBody>
          <a:bodyPr wrap="square" lIns="0" tIns="0" rIns="0" bIns="0" rtlCol="0" anchor="t"/>
          <a:lstStyle/>
          <a:p>
            <a:pPr algn="ctr" indent="0" marL="0">
              <a:buNone/>
            </a:pPr>
            <a:r>
              <a:rPr lang="en-US" sz="1100" b="1" dirty="0">
                <a:solidFill>
                  <a:schemeClr val="accent4"/>
                </a:solidFill>
              </a:rPr>
              <a:t>mTLS + identité</a:t>
            </a:r>
            <a:endParaRPr lang="en-US" sz="1100" dirty="0"/>
          </a:p>
        </p:txBody>
      </p:sp>
      <p:sp>
        <p:nvSpPr>
          <p:cNvPr id="30" name="fleche-104"/>
          <p:cNvSpPr/>
          <p:nvPr/>
        </p:nvSpPr>
        <p:spPr>
          <a:xfrm>
            <a:off x="10149840" y="3017520"/>
            <a:ext cx="0" cy="-685800"/>
          </a:xfrm>
          <a:prstGeom prst="line">
            <a:avLst/>
          </a:prstGeom>
          <a:noFill/>
          <a:ln w="19050">
            <a:solidFill>
              <a:schemeClr val="accent5"/>
            </a:solidFill>
            <a:prstDash val="solid"/>
            <a:tailEnd type="triangle"/>
          </a:ln>
        </p:spPr>
      </p:sp>
      <p:sp>
        <p:nvSpPr>
          <p:cNvPr id="31" name="texte-105"/>
          <p:cNvSpPr txBox="1"/>
          <p:nvPr/>
        </p:nvSpPr>
        <p:spPr>
          <a:xfrm>
            <a:off x="10241280" y="2395728"/>
            <a:ext cx="1280160" cy="274320"/>
          </a:xfrm>
          <a:prstGeom prst="rect">
            <a:avLst/>
          </a:prstGeom>
          <a:noFill/>
          <a:ln/>
        </p:spPr>
        <p:txBody>
          <a:bodyPr wrap="square" lIns="0" tIns="0" rIns="0" bIns="0" rtlCol="0" anchor="t"/>
          <a:lstStyle/>
          <a:p>
            <a:pPr indent="0" marL="0">
              <a:buNone/>
            </a:pPr>
            <a:r>
              <a:rPr lang="en-US" sz="1100" b="1" dirty="0">
                <a:solidFill>
                  <a:schemeClr val="accent3"/>
                </a:solidFill>
              </a:rPr>
              <a:t>liste blanche</a:t>
            </a:r>
            <a:endParaRPr lang="en-US" sz="1100" dirty="0"/>
          </a:p>
        </p:txBody>
      </p:sp>
      <p:sp>
        <p:nvSpPr>
          <p:cNvPr id="32" name="fleche-106"/>
          <p:cNvSpPr/>
          <p:nvPr/>
        </p:nvSpPr>
        <p:spPr>
          <a:xfrm>
            <a:off x="5257800" y="3703320"/>
            <a:ext cx="0" cy="365760"/>
          </a:xfrm>
          <a:prstGeom prst="line">
            <a:avLst/>
          </a:prstGeom>
          <a:noFill/>
          <a:ln w="19050">
            <a:solidFill>
              <a:schemeClr val="accent5"/>
            </a:solidFill>
            <a:prstDash val="solid"/>
            <a:tailEnd type="triangle"/>
          </a:ln>
        </p:spPr>
      </p:sp>
      <p:sp>
        <p:nvSpPr>
          <p:cNvPr id="33" name="fleche-107"/>
          <p:cNvSpPr/>
          <p:nvPr/>
        </p:nvSpPr>
        <p:spPr>
          <a:xfrm>
            <a:off x="6583680" y="4370832"/>
            <a:ext cx="365760" cy="0"/>
          </a:xfrm>
          <a:prstGeom prst="line">
            <a:avLst/>
          </a:prstGeom>
          <a:noFill/>
          <a:ln w="19050">
            <a:solidFill>
              <a:schemeClr val="accent5"/>
            </a:solidFill>
            <a:prstDash val="solid"/>
            <a:tailEnd type="triangle"/>
          </a:ln>
        </p:spPr>
      </p:sp>
      <p:sp>
        <p:nvSpPr>
          <p:cNvPr id="34" name="texte-108"/>
          <p:cNvSpPr txBox="1"/>
          <p:nvPr/>
        </p:nvSpPr>
        <p:spPr>
          <a:xfrm>
            <a:off x="9784080" y="4224528"/>
            <a:ext cx="1463040" cy="274320"/>
          </a:xfrm>
          <a:prstGeom prst="rect">
            <a:avLst/>
          </a:prstGeom>
          <a:noFill/>
          <a:ln/>
        </p:spPr>
        <p:txBody>
          <a:bodyPr wrap="square" lIns="0" tIns="0" rIns="0" bIns="0" rtlCol="0" anchor="t"/>
          <a:lstStyle/>
          <a:p>
            <a:pPr indent="0" marL="0">
              <a:buNone/>
            </a:pPr>
            <a:r>
              <a:rPr lang="en-US" sz="1100" i="1" dirty="0">
                <a:solidFill>
                  <a:schemeClr val="accent5"/>
                </a:solidFill>
              </a:rPr>
              <a:t>hors maillage</a:t>
            </a:r>
            <a:endParaRPr lang="en-US" sz="11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DÉCISION D1 · DÉCOUPAGE APPLICATIF</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D1 · Combien de services ?</a:t>
            </a:r>
            <a:endParaRPr lang="en-US" sz="3200" dirty="0"/>
          </a:p>
        </p:txBody>
      </p:sp>
      <p:graphicFrame>
        <p:nvGraphicFramePr>
          <p:cNvPr id="9" name="grille-109"/>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325112"/>
                <a:gridCol w="2194560"/>
                <a:gridCol w="2377440"/>
                <a:gridCol w="2194560"/>
              </a:tblGrid>
              <a:tr h="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Critère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Monolithe modulaire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2 services + front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Microservices fins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Isolation des pannes (source tierce ne dégrade pas API)</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CE6"/>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Mise à l'échelle indépendante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CE6"/>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Complexité (déploiement, contrats, observabilité)</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9D3C7"/>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Adéquation à une équipe de 2 développeurs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9D3C7"/>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Identités distinctes, moindre privilège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CE6"/>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r>
            </a:tbl>
          </a:graphicData>
        </a:graphic>
      </p:graphicFrame>
      <p:sp>
        <p:nvSpPr>
          <p:cNvPr id="6" name="carte-110"/>
          <p:cNvSpPr/>
          <p:nvPr/>
        </p:nvSpPr>
        <p:spPr>
          <a:xfrm>
            <a:off x="548640" y="4343400"/>
            <a:ext cx="11094415" cy="914400"/>
          </a:xfrm>
          <a:prstGeom prst="roundRect">
            <a:avLst>
              <a:gd name="adj" fmla="val 8000"/>
            </a:avLst>
          </a:prstGeom>
          <a:solidFill>
            <a:schemeClr val="tx2"/>
          </a:solidFill>
          <a:ln w="9525">
            <a:solidFill>
              <a:schemeClr val="tx2"/>
            </a:solidFill>
            <a:prstDash val="solid"/>
          </a:ln>
        </p:spPr>
      </p:sp>
      <p:sp>
        <p:nvSpPr>
          <p:cNvPr id="7" name="texte-111"/>
          <p:cNvSpPr txBox="1"/>
          <p:nvPr/>
        </p:nvSpPr>
        <p:spPr>
          <a:xfrm>
            <a:off x="822960" y="4343400"/>
            <a:ext cx="10545775" cy="914400"/>
          </a:xfrm>
          <a:prstGeom prst="rect">
            <a:avLst/>
          </a:prstGeom>
          <a:noFill/>
          <a:ln/>
        </p:spPr>
        <p:txBody>
          <a:bodyPr wrap="square" lIns="0" tIns="0" rIns="0" bIns="0" rtlCol="0" anchor="ctr"/>
          <a:lstStyle/>
          <a:p>
            <a:pPr indent="0" marL="0">
              <a:buNone/>
            </a:pPr>
            <a:r>
              <a:rPr lang="en-US" sz="1600" b="1" dirty="0">
                <a:solidFill>
                  <a:schemeClr val="accent1"/>
                </a:solidFill>
              </a:rPr>
              <a:t>Décision  </a:t>
            </a:r>
            <a:r>
              <a:rPr lang="en-US" sz="1600" dirty="0">
                <a:solidFill>
                  <a:schemeClr val="bg1"/>
                </a:solidFill>
              </a:rPr>
              <a:t>radar-api + signal-collector (singleton, stratégie Recreate) + radar-web. Seul le collecteur sort sur Internet ; seule son identité écrit dans le radar.</a:t>
            </a:r>
            <a:endParaRPr lang="en-US" sz="1600" dirty="0"/>
          </a:p>
        </p:txBody>
      </p:sp>
      <p:sp>
        <p:nvSpPr>
          <p:cNvPr id="8" name="texte-112"/>
          <p:cNvSpPr txBox="1"/>
          <p:nvPr/>
        </p:nvSpPr>
        <p:spPr>
          <a:xfrm>
            <a:off x="548640" y="5532120"/>
            <a:ext cx="11094415" cy="365760"/>
          </a:xfrm>
          <a:prstGeom prst="rect">
            <a:avLst/>
          </a:prstGeom>
          <a:noFill/>
          <a:ln/>
        </p:spPr>
        <p:txBody>
          <a:bodyPr wrap="square" lIns="0" tIns="0" rIns="0" bIns="0" rtlCol="0" anchor="t"/>
          <a:lstStyle/>
          <a:p>
            <a:pPr indent="0" marL="0">
              <a:buNone/>
            </a:pPr>
            <a:r>
              <a:rPr lang="en-US" sz="1300" i="1" dirty="0">
                <a:solidFill>
                  <a:schemeClr val="accent5"/>
                </a:solidFill>
              </a:rPr>
              <a:t>Signal de révision : plus de 10 sources : collecteurs par famille + file de messages (Kafka)</a:t>
            </a:r>
            <a:endParaRPr lang="en-US" sz="13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DÉCISION D2 · HÉBERGEMENT</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D2 · Kubernetes, vraiment ?</a:t>
            </a:r>
            <a:endParaRPr lang="en-US" sz="3200" dirty="0"/>
          </a:p>
        </p:txBody>
      </p:sp>
      <p:graphicFrame>
        <p:nvGraphicFramePr>
          <p:cNvPr id="10" name="grille-113"/>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325112"/>
                <a:gridCol w="2011680"/>
                <a:gridCol w="2377440"/>
                <a:gridCol w="2377440"/>
              </a:tblGrid>
              <a:tr h="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Critère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VM + Compose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PaaS conteneurs (UE)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Kubernetes managé (UE)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accent3"/>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Coût marginal (compétences et outillage existants)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Haute disponibilité de la base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9D3C7"/>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Maillage, politiques réseau, canari</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9D3C7"/>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CE6"/>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Simplicité d'exploitation</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CE6"/>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Souveraineté et réversibilité</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r>
            </a:tbl>
          </a:graphicData>
        </a:graphic>
      </p:graphicFrame>
      <p:sp>
        <p:nvSpPr>
          <p:cNvPr id="6" name="carte-114"/>
          <p:cNvSpPr/>
          <p:nvPr/>
        </p:nvSpPr>
        <p:spPr>
          <a:xfrm>
            <a:off x="548640" y="4343400"/>
            <a:ext cx="11094415" cy="914400"/>
          </a:xfrm>
          <a:prstGeom prst="roundRect">
            <a:avLst>
              <a:gd name="adj" fmla="val 8000"/>
            </a:avLst>
          </a:prstGeom>
          <a:solidFill>
            <a:srgbClr val="FDEBD8"/>
          </a:solidFill>
          <a:ln w="9525">
            <a:solidFill>
              <a:srgbClr val="FDEBD8"/>
            </a:solidFill>
            <a:prstDash val="solid"/>
          </a:ln>
        </p:spPr>
      </p:sp>
      <p:sp>
        <p:nvSpPr>
          <p:cNvPr id="7" name="pastille-115"/>
          <p:cNvSpPr/>
          <p:nvPr/>
        </p:nvSpPr>
        <p:spPr>
          <a:xfrm>
            <a:off x="777240" y="4526280"/>
            <a:ext cx="548640" cy="548640"/>
          </a:xfrm>
          <a:prstGeom prst="ellipse">
            <a:avLst/>
          </a:prstGeom>
          <a:solidFill>
            <a:schemeClr val="accent1"/>
          </a:solidFill>
          <a:ln/>
        </p:spPr>
      </p:sp>
      <p:pic>
        <p:nvPicPr>
          <p:cNvPr id="8" name="icone-116" descr="preencoded.png">    </p:cNvPr>
          <p:cNvPicPr>
            <a:picLocks noChangeAspect="1"/>
          </p:cNvPicPr>
          <p:nvPr/>
        </p:nvPicPr>
        <p:blipFill>
          <a:blip r:embed="rId1"/>
          <a:stretch>
            <a:fillRect/>
          </a:stretch>
        </p:blipFill>
        <p:spPr>
          <a:xfrm>
            <a:off x="897941" y="4646981"/>
            <a:ext cx="307238" cy="307238"/>
          </a:xfrm>
          <a:prstGeom prst="rect">
            <a:avLst/>
          </a:prstGeom>
        </p:spPr>
      </p:pic>
      <p:sp>
        <p:nvSpPr>
          <p:cNvPr id="9" name="texte-117"/>
          <p:cNvSpPr txBox="1"/>
          <p:nvPr/>
        </p:nvSpPr>
        <p:spPr>
          <a:xfrm>
            <a:off x="1508760" y="4343400"/>
            <a:ext cx="9905695" cy="914400"/>
          </a:xfrm>
          <a:prstGeom prst="rect">
            <a:avLst/>
          </a:prstGeom>
          <a:noFill/>
          <a:ln/>
        </p:spPr>
        <p:txBody>
          <a:bodyPr wrap="square" lIns="0" tIns="0" rIns="0" bIns="0" rtlCol="0" anchor="ctr"/>
          <a:lstStyle/>
          <a:p>
            <a:pPr indent="0" marL="0">
              <a:buNone/>
            </a:pPr>
            <a:r>
              <a:rPr lang="en-US" sz="1500" b="1" dirty="0">
                <a:solidFill>
                  <a:schemeClr val="tx2"/>
                </a:solidFill>
              </a:rPr>
              <a:t>Sans compétence Kubernetes, la décision rationnelle serait un PaaS + une base managée. D2 vaut pour le contexte d'Altéa, pas dans l'absolu.</a:t>
            </a:r>
            <a:endParaRPr lang="en-US" sz="1500" dirty="0"/>
          </a:p>
        </p:txBody>
      </p:sp>
      <p:sp>
        <p:nvSpPr>
          <p:cNvPr id="10" name="carte-118"/>
          <p:cNvSpPr/>
          <p:nvPr/>
        </p:nvSpPr>
        <p:spPr>
          <a:xfrm>
            <a:off x="548640" y="5440680"/>
            <a:ext cx="11094415" cy="548640"/>
          </a:xfrm>
          <a:prstGeom prst="roundRect">
            <a:avLst>
              <a:gd name="adj" fmla="val 13333"/>
            </a:avLst>
          </a:prstGeom>
          <a:solidFill>
            <a:schemeClr val="tx2"/>
          </a:solidFill>
          <a:ln w="9525">
            <a:solidFill>
              <a:schemeClr val="tx2"/>
            </a:solidFill>
            <a:prstDash val="solid"/>
          </a:ln>
        </p:spPr>
      </p:sp>
      <p:sp>
        <p:nvSpPr>
          <p:cNvPr id="11" name="texte-119"/>
          <p:cNvSpPr txBox="1"/>
          <p:nvPr/>
        </p:nvSpPr>
        <p:spPr>
          <a:xfrm>
            <a:off x="822960" y="5440680"/>
            <a:ext cx="10545775" cy="548640"/>
          </a:xfrm>
          <a:prstGeom prst="rect">
            <a:avLst/>
          </a:prstGeom>
          <a:noFill/>
          <a:ln/>
        </p:spPr>
        <p:txBody>
          <a:bodyPr wrap="square" lIns="0" tIns="0" rIns="0" bIns="0" rtlCol="0" anchor="ctr"/>
          <a:lstStyle/>
          <a:p>
            <a:pPr indent="0" marL="0">
              <a:buNone/>
            </a:pPr>
            <a:r>
              <a:rPr lang="en-US" sz="1600" b="1" dirty="0">
                <a:solidFill>
                  <a:schemeClr val="accent1"/>
                </a:solidFill>
              </a:rPr>
              <a:t>Décision  </a:t>
            </a:r>
            <a:r>
              <a:rPr lang="en-US" sz="1600" dirty="0">
                <a:solidFill>
                  <a:schemeClr val="bg1"/>
                </a:solidFill>
              </a:rPr>
              <a:t>Kubernetes managé, hébergeur européen déjà sous contrat, 3 zones de disponibilité.</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DÉCISION D3 · MAILLAGE DE SERVICES</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D3 · Quel service mesh ?</a:t>
            </a:r>
            <a:endParaRPr lang="en-US" sz="3200" dirty="0"/>
          </a:p>
        </p:txBody>
      </p:sp>
      <p:graphicFrame>
        <p:nvGraphicFramePr>
          <p:cNvPr id="11" name="grille-12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959352"/>
                <a:gridCol w="1783080"/>
                <a:gridCol w="1783080"/>
                <a:gridCol w="1783080"/>
                <a:gridCol w="1783080"/>
              </a:tblGrid>
              <a:tr h="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Critère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Sans maillage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Linkerd</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Istio sidecar</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Istio ambient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mTLS et identités automatiques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9D3C7"/>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Autorisation L7 (méthode, chemin, identité)</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CE6"/>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Trafic : canari, retries, pannes, egress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9D3C7"/>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Ressources consommées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CE6"/>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Complexité opérationnelle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CE6"/>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Maturité, compétences du marché</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r>
            </a:tbl>
          </a:graphicData>
        </a:graphic>
      </p:graphicFrame>
      <p:sp>
        <p:nvSpPr>
          <p:cNvPr id="6" name="carte-121"/>
          <p:cNvSpPr/>
          <p:nvPr/>
        </p:nvSpPr>
        <p:spPr>
          <a:xfrm>
            <a:off x="548640" y="4800600"/>
            <a:ext cx="11094415" cy="1005840"/>
          </a:xfrm>
          <a:prstGeom prst="roundRect">
            <a:avLst>
              <a:gd name="adj" fmla="val 7273"/>
            </a:avLst>
          </a:prstGeom>
          <a:solidFill>
            <a:schemeClr val="tx2"/>
          </a:solidFill>
          <a:ln w="9525">
            <a:solidFill>
              <a:schemeClr val="tx2"/>
            </a:solidFill>
            <a:prstDash val="solid"/>
          </a:ln>
        </p:spPr>
      </p:sp>
      <p:sp>
        <p:nvSpPr>
          <p:cNvPr id="7" name="texte-122"/>
          <p:cNvSpPr txBox="1"/>
          <p:nvPr/>
        </p:nvSpPr>
        <p:spPr>
          <a:xfrm>
            <a:off x="822960" y="4800600"/>
            <a:ext cx="10545775" cy="1005840"/>
          </a:xfrm>
          <a:prstGeom prst="rect">
            <a:avLst/>
          </a:prstGeom>
          <a:noFill/>
          <a:ln/>
        </p:spPr>
        <p:txBody>
          <a:bodyPr wrap="square" lIns="0" tIns="0" rIns="0" bIns="0" rtlCol="0" anchor="ctr"/>
          <a:lstStyle/>
          <a:p>
            <a:pPr indent="0" marL="0">
              <a:buNone/>
            </a:pPr>
            <a:r>
              <a:rPr lang="en-US" sz="1600" b="1" dirty="0">
                <a:solidFill>
                  <a:schemeClr val="accent1"/>
                </a:solidFill>
              </a:rPr>
              <a:t>Décision  </a:t>
            </a:r>
            <a:r>
              <a:rPr lang="en-US" sz="1600" dirty="0">
                <a:solidFill>
                  <a:schemeClr val="bg1"/>
                </a:solidFill>
              </a:rPr>
              <a:t>Istio sidecar + plugin CNI (aucun conteneur privilégié) ; PostgreSQL hors maillage, protégé par NetworkPolicy. Révision : maturité des waypoints ambient.</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DÉCISION D4 · POSTGRESQL</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D4 · Base managée ou opérateur ?</a:t>
            </a:r>
            <a:endParaRPr lang="en-US" sz="3200" dirty="0"/>
          </a:p>
        </p:txBody>
      </p:sp>
      <p:graphicFrame>
        <p:nvGraphicFramePr>
          <p:cNvPr id="12" name="tableau-123"/>
          <p:cNvGraphicFramePr>
            <a:graphicFrameLocks noGrp="1"/>
          </p:cNvGraphicFramePr>
          <p:nvPr>
            <p:extLst>
              <p:ext uri="{D42A27DB-BD31-4B8C-83A1-F6EECF244321}">
                <p14:modId xmlns:p14="http://schemas.microsoft.com/office/powerpoint/2010/main" val="1579011935"/>
              </p:ext>
            </p:extLst>
          </p:nvPr>
        </p:nvGraphicFramePr>
        <p:xfrm>
          <a:off x="548640" y="1645920"/>
          <a:ext cx="6949440" cy="914400"/>
        </p:xfrm>
        <a:graphic>
          <a:graphicData uri="http://schemas.openxmlformats.org/drawingml/2006/table">
            <a:tbl>
              <a:tblPr/>
              <a:tblGrid>
                <a:gridCol w="2103120"/>
                <a:gridCol w="2926080"/>
                <a:gridCol w="1920240"/>
              </a:tblGrid>
              <a:tr h="56692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Objectif</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Mécanisme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Valeur attendue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RPO, perte d'une instance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Réplication synchrone vers 1 réplica</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 0</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RPO, perte du cluster</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Archivage continu des WAL (stockage objet)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 5 min</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RTO, perte du primaire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Promotion automatique par l'opérateur</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Quelques dizaines de secondes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RTO, perte du cluster</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Restauration à un instant donné (PITR)</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 30 min (exercice trimestriel)</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bl>
          </a:graphicData>
        </a:graphic>
      </p:graphicFrame>
      <p:sp>
        <p:nvSpPr>
          <p:cNvPr id="6" name="carte-124"/>
          <p:cNvSpPr/>
          <p:nvPr/>
        </p:nvSpPr>
        <p:spPr>
          <a:xfrm>
            <a:off x="7754112" y="1645920"/>
            <a:ext cx="3886200" cy="2834640"/>
          </a:xfrm>
          <a:prstGeom prst="roundRect">
            <a:avLst>
              <a:gd name="adj" fmla="val 2581"/>
            </a:avLst>
          </a:prstGeom>
          <a:solidFill>
            <a:schemeClr val="bg1"/>
          </a:solidFill>
          <a:ln w="9525">
            <a:solidFill>
              <a:schemeClr val="accent6"/>
            </a:solidFill>
            <a:prstDash val="solid"/>
          </a:ln>
        </p:spPr>
      </p:sp>
      <p:sp>
        <p:nvSpPr>
          <p:cNvPr id="7" name="pastille-125"/>
          <p:cNvSpPr/>
          <p:nvPr/>
        </p:nvSpPr>
        <p:spPr>
          <a:xfrm>
            <a:off x="7982712" y="1874520"/>
            <a:ext cx="548640" cy="548640"/>
          </a:xfrm>
          <a:prstGeom prst="ellipse">
            <a:avLst/>
          </a:prstGeom>
          <a:solidFill>
            <a:schemeClr val="accent3"/>
          </a:solidFill>
          <a:ln/>
        </p:spPr>
      </p:sp>
      <p:pic>
        <p:nvPicPr>
          <p:cNvPr id="8" name="icone-126" descr="preencoded.png">    </p:cNvPr>
          <p:cNvPicPr>
            <a:picLocks noChangeAspect="1"/>
          </p:cNvPicPr>
          <p:nvPr/>
        </p:nvPicPr>
        <p:blipFill>
          <a:blip r:embed="rId1"/>
          <a:stretch>
            <a:fillRect/>
          </a:stretch>
        </p:blipFill>
        <p:spPr>
          <a:xfrm>
            <a:off x="8103413" y="1995221"/>
            <a:ext cx="307238" cy="307238"/>
          </a:xfrm>
          <a:prstGeom prst="rect">
            <a:avLst/>
          </a:prstGeom>
        </p:spPr>
      </p:pic>
      <p:sp>
        <p:nvSpPr>
          <p:cNvPr id="9" name="texte-127"/>
          <p:cNvSpPr txBox="1"/>
          <p:nvPr/>
        </p:nvSpPr>
        <p:spPr>
          <a:xfrm>
            <a:off x="8668512" y="1874520"/>
            <a:ext cx="2788920" cy="548640"/>
          </a:xfrm>
          <a:prstGeom prst="rect">
            <a:avLst/>
          </a:prstGeom>
          <a:noFill/>
          <a:ln/>
        </p:spPr>
        <p:txBody>
          <a:bodyPr wrap="square" lIns="0" tIns="0" rIns="0" bIns="0" rtlCol="0" anchor="ctr"/>
          <a:lstStyle/>
          <a:p>
            <a:pPr indent="0" marL="0">
              <a:buNone/>
            </a:pPr>
            <a:r>
              <a:rPr lang="en-US" sz="1700" b="1" dirty="0">
                <a:solidFill>
                  <a:schemeClr val="tx2"/>
                </a:solidFill>
              </a:rPr>
              <a:t>CloudNativePG</a:t>
            </a:r>
            <a:endParaRPr lang="en-US" sz="1700" dirty="0"/>
          </a:p>
        </p:txBody>
      </p:sp>
      <p:sp>
        <p:nvSpPr>
          <p:cNvPr id="10" name="texte-128"/>
          <p:cNvSpPr txBox="1"/>
          <p:nvPr/>
        </p:nvSpPr>
        <p:spPr>
          <a:xfrm>
            <a:off x="7982712" y="2560320"/>
            <a:ext cx="3429000" cy="17830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3 instances sur 3 zones</a:t>
            </a:r>
            <a:endParaRPr lang="en-US" sz="1400" dirty="0"/>
          </a:p>
          <a:p>
            <a:pPr marL="203200" indent="-203200">
              <a:spcAft>
                <a:spcPts val="800"/>
              </a:spcAft>
              <a:buSzPct val="100000"/>
              <a:buChar char="•"/>
            </a:pPr>
            <a:r>
              <a:rPr lang="en-US" sz="1400" dirty="0">
                <a:solidFill>
                  <a:schemeClr val="tx1"/>
                </a:solidFill>
              </a:rPr>
              <a:t>Services rw / ro gérés</a:t>
            </a:r>
            <a:endParaRPr lang="en-US" sz="1400" dirty="0"/>
          </a:p>
          <a:p>
            <a:pPr marL="203200" indent="-203200">
              <a:spcAft>
                <a:spcPts val="800"/>
              </a:spcAft>
              <a:buSzPct val="100000"/>
              <a:buChar char="•"/>
            </a:pPr>
            <a:r>
              <a:rPr lang="en-US" sz="1400" dirty="0">
                <a:solidFill>
                  <a:schemeClr val="tx1"/>
                </a:solidFill>
              </a:rPr>
              <a:t>Identifiants générés (secret)</a:t>
            </a:r>
            <a:endParaRPr lang="en-US" sz="1400" dirty="0"/>
          </a:p>
          <a:p>
            <a:pPr marL="203200" indent="-203200">
              <a:spcAft>
                <a:spcPts val="800"/>
              </a:spcAft>
              <a:buSzPct val="100000"/>
              <a:buChar char="•"/>
            </a:pPr>
            <a:r>
              <a:rPr lang="en-US" sz="1400" dirty="0">
                <a:solidFill>
                  <a:schemeClr val="tx1"/>
                </a:solidFill>
              </a:rPr>
              <a:t>Greffon Barman Cloud</a:t>
            </a:r>
            <a:endParaRPr lang="en-US" sz="1400" dirty="0"/>
          </a:p>
        </p:txBody>
      </p:sp>
      <p:sp>
        <p:nvSpPr>
          <p:cNvPr id="11" name="carte-129"/>
          <p:cNvSpPr/>
          <p:nvPr/>
        </p:nvSpPr>
        <p:spPr>
          <a:xfrm>
            <a:off x="548640" y="4754880"/>
            <a:ext cx="11094415" cy="1005840"/>
          </a:xfrm>
          <a:prstGeom prst="roundRect">
            <a:avLst>
              <a:gd name="adj" fmla="val 7273"/>
            </a:avLst>
          </a:prstGeom>
          <a:solidFill>
            <a:schemeClr val="tx2"/>
          </a:solidFill>
          <a:ln w="9525">
            <a:solidFill>
              <a:schemeClr val="tx2"/>
            </a:solidFill>
            <a:prstDash val="solid"/>
          </a:ln>
        </p:spPr>
      </p:sp>
      <p:sp>
        <p:nvSpPr>
          <p:cNvPr id="12" name="texte-130"/>
          <p:cNvSpPr txBox="1"/>
          <p:nvPr/>
        </p:nvSpPr>
        <p:spPr>
          <a:xfrm>
            <a:off x="822960" y="4754880"/>
            <a:ext cx="10545775" cy="1005840"/>
          </a:xfrm>
          <a:prstGeom prst="rect">
            <a:avLst/>
          </a:prstGeom>
          <a:noFill/>
          <a:ln/>
        </p:spPr>
        <p:txBody>
          <a:bodyPr wrap="square" lIns="0" tIns="0" rIns="0" bIns="0" rtlCol="0" anchor="ctr"/>
          <a:lstStyle/>
          <a:p>
            <a:pPr indent="0" marL="0">
              <a:buNone/>
            </a:pPr>
            <a:r>
              <a:rPr lang="en-US" sz="1600" b="1" dirty="0">
                <a:solidFill>
                  <a:schemeClr val="accent1"/>
                </a:solidFill>
              </a:rPr>
              <a:t>Décision  </a:t>
            </a:r>
            <a:r>
              <a:rPr lang="en-US" sz="1600" dirty="0">
                <a:solidFill>
                  <a:schemeClr val="bg1"/>
                </a:solidFill>
              </a:rPr>
              <a:t>CloudNativePG dans le cluster plutôt qu'une DBaaS : portabilité, déclaratif, souveraineté. Contrepartie assumée : exploitation et exercices de restauration.</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DÉCISION D5 · CONNEXIONS ET DURABILITÉ</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D5 · Durabilité contre disponibilité</a:t>
            </a:r>
            <a:endParaRPr lang="en-US" sz="3200" dirty="0"/>
          </a:p>
        </p:txBody>
      </p:sp>
      <p:graphicFrame>
        <p:nvGraphicFramePr>
          <p:cNvPr id="13" name="tableau-131"/>
          <p:cNvGraphicFramePr>
            <a:graphicFrameLocks noGrp="1"/>
          </p:cNvGraphicFramePr>
          <p:nvPr>
            <p:extLst>
              <p:ext uri="{D42A27DB-BD31-4B8C-83A1-F6EECF244321}">
                <p14:modId xmlns:p14="http://schemas.microsoft.com/office/powerpoint/2010/main" val="1579011935"/>
              </p:ext>
            </p:extLst>
          </p:nvPr>
        </p:nvGraphicFramePr>
        <p:xfrm>
          <a:off x="548640" y="1645920"/>
          <a:ext cx="5394960" cy="914400"/>
        </p:xfrm>
        <a:graphic>
          <a:graphicData uri="http://schemas.openxmlformats.org/drawingml/2006/table">
            <a:tbl>
              <a:tblPr/>
              <a:tblGrid>
                <a:gridCol w="2011680"/>
                <a:gridCol w="1691640"/>
                <a:gridCol w="1691640"/>
              </a:tblGrid>
              <a:tr h="50292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Connexions</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Avantage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Inconvénient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5029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HikariCP seul</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Simple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Saturation de max_connections</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PgBouncer transaction (retenu)</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BD8"/>
                    </a:solidFill>
                  </a:tcPr>
                </a:tc>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Mutualisation forte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BD8"/>
                    </a:solidFill>
                  </a:tcPr>
                </a:tc>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Requêtes préparées à activer</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BD8"/>
                    </a:solidFill>
                  </a:tcPr>
                </a:tc>
              </a:tr>
              <a:tr h="5029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PgBouncer session</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Compatibilité totale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Mutualisation faible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bl>
          </a:graphicData>
        </a:graphic>
      </p:graphicFrame>
      <p:graphicFrame>
        <p:nvGraphicFramePr>
          <p:cNvPr id="25" name="tableau-132"/>
          <p:cNvGraphicFramePr>
            <a:graphicFrameLocks noGrp="1"/>
          </p:cNvGraphicFramePr>
          <p:nvPr>
            <p:extLst>
              <p:ext uri="{D42A27DB-BD31-4B8C-83A1-F6EECF244321}">
                <p14:modId xmlns:p14="http://schemas.microsoft.com/office/powerpoint/2010/main" val="1579011935"/>
              </p:ext>
            </p:extLst>
          </p:nvPr>
        </p:nvGraphicFramePr>
        <p:xfrm>
          <a:off x="6245352" y="1645920"/>
          <a:ext cx="5394960" cy="914400"/>
        </p:xfrm>
        <a:graphic>
          <a:graphicData uri="http://schemas.openxmlformats.org/drawingml/2006/table">
            <a:tbl>
              <a:tblPr/>
              <a:tblGrid>
                <a:gridCol w="1920240"/>
                <a:gridCol w="1737360"/>
                <a:gridCol w="1737360"/>
              </a:tblGrid>
              <a:tr h="50292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Réplication</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RPO</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Écritures</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5029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Asynchrone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Quelques transactions</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Toujours possibles</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Synchrone 1/2 (retenu)</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BD8"/>
                    </a:solidFill>
                  </a:tcPr>
                </a:tc>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 0</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BD8"/>
                    </a:solidFill>
                  </a:tcPr>
                </a:tc>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Bloquées sans réplica</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BD8"/>
                    </a:solidFill>
                  </a:tcPr>
                </a:tc>
              </a:tr>
            </a:tbl>
          </a:graphicData>
        </a:graphic>
      </p:graphicFrame>
      <p:sp>
        <p:nvSpPr>
          <p:cNvPr id="7" name="carte-133"/>
          <p:cNvSpPr/>
          <p:nvPr/>
        </p:nvSpPr>
        <p:spPr>
          <a:xfrm>
            <a:off x="548640" y="3931920"/>
            <a:ext cx="11094415" cy="1143000"/>
          </a:xfrm>
          <a:prstGeom prst="roundRect">
            <a:avLst>
              <a:gd name="adj" fmla="val 6400"/>
            </a:avLst>
          </a:prstGeom>
          <a:solidFill>
            <a:srgbClr val="FBE3DC"/>
          </a:solidFill>
          <a:ln w="9525">
            <a:solidFill>
              <a:srgbClr val="FBE3DC"/>
            </a:solidFill>
            <a:prstDash val="solid"/>
          </a:ln>
        </p:spPr>
      </p:sp>
      <p:sp>
        <p:nvSpPr>
          <p:cNvPr id="8" name="pastille-134"/>
          <p:cNvSpPr/>
          <p:nvPr/>
        </p:nvSpPr>
        <p:spPr>
          <a:xfrm>
            <a:off x="822960" y="4160520"/>
            <a:ext cx="640080" cy="640080"/>
          </a:xfrm>
          <a:prstGeom prst="ellipse">
            <a:avLst/>
          </a:prstGeom>
          <a:solidFill>
            <a:schemeClr val="accent4"/>
          </a:solidFill>
          <a:ln/>
        </p:spPr>
      </p:sp>
      <p:pic>
        <p:nvPicPr>
          <p:cNvPr id="9" name="icone-135" descr="preencoded.png">    </p:cNvPr>
          <p:cNvPicPr>
            <a:picLocks noChangeAspect="1"/>
          </p:cNvPicPr>
          <p:nvPr/>
        </p:nvPicPr>
        <p:blipFill>
          <a:blip r:embed="rId1"/>
          <a:stretch>
            <a:fillRect/>
          </a:stretch>
        </p:blipFill>
        <p:spPr>
          <a:xfrm>
            <a:off x="963778" y="4301338"/>
            <a:ext cx="358445" cy="358445"/>
          </a:xfrm>
          <a:prstGeom prst="rect">
            <a:avLst/>
          </a:prstGeom>
        </p:spPr>
      </p:pic>
      <p:sp>
        <p:nvSpPr>
          <p:cNvPr id="10" name="texte-136"/>
          <p:cNvSpPr txBox="1"/>
          <p:nvPr/>
        </p:nvSpPr>
        <p:spPr>
          <a:xfrm>
            <a:off x="1691640" y="3931920"/>
            <a:ext cx="9722815" cy="1143000"/>
          </a:xfrm>
          <a:prstGeom prst="rect">
            <a:avLst/>
          </a:prstGeom>
          <a:noFill/>
          <a:ln/>
        </p:spPr>
        <p:txBody>
          <a:bodyPr wrap="square" lIns="0" tIns="0" rIns="0" bIns="0" rtlCol="0" anchor="ctr"/>
          <a:lstStyle/>
          <a:p>
            <a:pPr indent="0" marL="0">
              <a:buNone/>
            </a:pPr>
            <a:r>
              <a:rPr lang="en-US" sz="1500" b="1" dirty="0">
                <a:solidFill>
                  <a:schemeClr val="tx2"/>
                </a:solidFill>
              </a:rPr>
              <a:t>Nouveau mode de défaillance, donc nouvelle alerte. </a:t>
            </a:r>
            <a:r>
              <a:rPr lang="en-US" sz="1500" dirty="0">
                <a:solidFill>
                  <a:schemeClr val="tx1"/>
                </a:solidFill>
              </a:rPr>
              <a:t>RadarPostgresNoSyncReplica (critique) et son runbook : levée temporaire de la contrainte, uniquement sur décision explicite et tracée.</a:t>
            </a:r>
            <a:endParaRPr lang="en-US" sz="1500" dirty="0"/>
          </a:p>
        </p:txBody>
      </p:sp>
      <p:sp>
        <p:nvSpPr>
          <p:cNvPr id="11" name="carte-137"/>
          <p:cNvSpPr/>
          <p:nvPr/>
        </p:nvSpPr>
        <p:spPr>
          <a:xfrm>
            <a:off x="548640" y="5303520"/>
            <a:ext cx="11094415" cy="685800"/>
          </a:xfrm>
          <a:prstGeom prst="roundRect">
            <a:avLst>
              <a:gd name="adj" fmla="val 10667"/>
            </a:avLst>
          </a:prstGeom>
          <a:solidFill>
            <a:schemeClr val="tx2"/>
          </a:solidFill>
          <a:ln w="9525">
            <a:solidFill>
              <a:schemeClr val="tx2"/>
            </a:solidFill>
            <a:prstDash val="solid"/>
          </a:ln>
        </p:spPr>
      </p:sp>
      <p:sp>
        <p:nvSpPr>
          <p:cNvPr id="12" name="texte-138"/>
          <p:cNvSpPr txBox="1"/>
          <p:nvPr/>
        </p:nvSpPr>
        <p:spPr>
          <a:xfrm>
            <a:off x="822960" y="5303520"/>
            <a:ext cx="10545775" cy="685800"/>
          </a:xfrm>
          <a:prstGeom prst="rect">
            <a:avLst/>
          </a:prstGeom>
          <a:noFill/>
          <a:ln/>
        </p:spPr>
        <p:txBody>
          <a:bodyPr wrap="square" lIns="0" tIns="0" rIns="0" bIns="0" rtlCol="0" anchor="ctr"/>
          <a:lstStyle/>
          <a:p>
            <a:pPr indent="0" marL="0">
              <a:buNone/>
            </a:pPr>
            <a:r>
              <a:rPr lang="en-US" sz="1600" b="1" dirty="0">
                <a:solidFill>
                  <a:schemeClr val="accent1"/>
                </a:solidFill>
              </a:rPr>
              <a:t>Décision  </a:t>
            </a:r>
            <a:r>
              <a:rPr lang="en-US" sz="1600" dirty="0">
                <a:solidFill>
                  <a:schemeClr val="bg1"/>
                </a:solidFill>
              </a:rPr>
              <a:t>PgBouncer en mode transaction (2 instances) ; réplication synchrone vers 1 réplica sur 2. La durabilité prime sur la disponibilité en écriture.</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DÉCISION D6 · MÉTRIQUES ET ALERTES</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D6 · Alerter sur ce qui compte</a:t>
            </a:r>
            <a:endParaRPr lang="en-US" sz="3200" dirty="0"/>
          </a:p>
        </p:txBody>
      </p:sp>
      <p:graphicFrame>
        <p:nvGraphicFramePr>
          <p:cNvPr id="14" name="tableau-139"/>
          <p:cNvGraphicFramePr>
            <a:graphicFrameLocks noGrp="1"/>
          </p:cNvGraphicFramePr>
          <p:nvPr>
            <p:extLst>
              <p:ext uri="{D42A27DB-BD31-4B8C-83A1-F6EECF244321}">
                <p14:modId xmlns:p14="http://schemas.microsoft.com/office/powerpoint/2010/main" val="1579011935"/>
              </p:ext>
            </p:extLst>
          </p:nvPr>
        </p:nvGraphicFramePr>
        <p:xfrm>
          <a:off x="548640" y="1645920"/>
          <a:ext cx="6309360" cy="914400"/>
        </p:xfrm>
        <a:graphic>
          <a:graphicData uri="http://schemas.openxmlformats.org/drawingml/2006/table">
            <a:tbl>
              <a:tblPr/>
              <a:tblGrid>
                <a:gridCol w="2286000"/>
                <a:gridCol w="2560320"/>
                <a:gridCol w="1463040"/>
              </a:tblGrid>
              <a:tr h="47548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Alerte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Condition</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Sévérité</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47548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Budget d'erreur, rapide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×14,4 sur 1 h ET 5 min</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critique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Budget d'erreur, lente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×6 sur 6 h ET 30 min</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avertissement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Collecte obsolète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Source non collectée depuis 6 h</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avertissement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Pas de réplica synchrone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0 réplica en flux</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critique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Signal de rupture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Indice &gt; 0,5 pendant 30 min</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info · team=veille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bl>
          </a:graphicData>
        </a:graphic>
      </p:graphicFrame>
      <p:sp>
        <p:nvSpPr>
          <p:cNvPr id="6" name="carte-140"/>
          <p:cNvSpPr/>
          <p:nvPr/>
        </p:nvSpPr>
        <p:spPr>
          <a:xfrm>
            <a:off x="7159752" y="1645920"/>
            <a:ext cx="4480560" cy="868680"/>
          </a:xfrm>
          <a:prstGeom prst="roundRect">
            <a:avLst>
              <a:gd name="adj" fmla="val 8421"/>
            </a:avLst>
          </a:prstGeom>
          <a:solidFill>
            <a:schemeClr val="bg1"/>
          </a:solidFill>
          <a:ln w="9525">
            <a:solidFill>
              <a:schemeClr val="accent6"/>
            </a:solidFill>
            <a:prstDash val="solid"/>
          </a:ln>
        </p:spPr>
      </p:sp>
      <p:sp>
        <p:nvSpPr>
          <p:cNvPr id="7" name="pastille-141"/>
          <p:cNvSpPr/>
          <p:nvPr/>
        </p:nvSpPr>
        <p:spPr>
          <a:xfrm>
            <a:off x="7315200" y="1783080"/>
            <a:ext cx="594360" cy="594360"/>
          </a:xfrm>
          <a:prstGeom prst="ellipse">
            <a:avLst/>
          </a:prstGeom>
          <a:solidFill>
            <a:schemeClr val="accent4"/>
          </a:solidFill>
          <a:ln/>
        </p:spPr>
      </p:sp>
      <p:pic>
        <p:nvPicPr>
          <p:cNvPr id="8" name="icone-142" descr="preencoded.png">    </p:cNvPr>
          <p:cNvPicPr>
            <a:picLocks noChangeAspect="1"/>
          </p:cNvPicPr>
          <p:nvPr/>
        </p:nvPicPr>
        <p:blipFill>
          <a:blip r:embed="rId1"/>
          <a:stretch>
            <a:fillRect/>
          </a:stretch>
        </p:blipFill>
        <p:spPr>
          <a:xfrm>
            <a:off x="7445959" y="1913839"/>
            <a:ext cx="332842" cy="332842"/>
          </a:xfrm>
          <a:prstGeom prst="rect">
            <a:avLst/>
          </a:prstGeom>
        </p:spPr>
      </p:pic>
      <p:sp>
        <p:nvSpPr>
          <p:cNvPr id="9" name="texte-143"/>
          <p:cNvSpPr txBox="1"/>
          <p:nvPr/>
        </p:nvSpPr>
        <p:spPr>
          <a:xfrm>
            <a:off x="8092440" y="1645920"/>
            <a:ext cx="3474720" cy="868680"/>
          </a:xfrm>
          <a:prstGeom prst="rect">
            <a:avLst/>
          </a:prstGeom>
          <a:noFill/>
          <a:ln/>
        </p:spPr>
        <p:txBody>
          <a:bodyPr wrap="square" lIns="0" tIns="0" rIns="0" bIns="0" rtlCol="0" anchor="ctr"/>
          <a:lstStyle/>
          <a:p>
            <a:pPr indent="0" marL="0">
              <a:buNone/>
            </a:pPr>
            <a:r>
              <a:rPr lang="en-US" sz="1500" b="1" dirty="0">
                <a:solidFill>
                  <a:schemeClr val="tx2"/>
                </a:solidFill>
              </a:rPr>
              <a:t>Critique</a:t>
            </a:r>
            <a:r>
              <a:rPr lang="en-US" sz="1500" dirty="0">
                <a:solidFill>
                  <a:schemeClr val="tx1"/>
                </a:solidFill>
              </a:rPr>
              <a:t>  :  Astreinte</a:t>
            </a:r>
            <a:endParaRPr lang="en-US" sz="1500" dirty="0"/>
          </a:p>
        </p:txBody>
      </p:sp>
      <p:sp>
        <p:nvSpPr>
          <p:cNvPr id="10" name="carte-144"/>
          <p:cNvSpPr/>
          <p:nvPr/>
        </p:nvSpPr>
        <p:spPr>
          <a:xfrm>
            <a:off x="7159752" y="2670048"/>
            <a:ext cx="4480560" cy="868680"/>
          </a:xfrm>
          <a:prstGeom prst="roundRect">
            <a:avLst>
              <a:gd name="adj" fmla="val 8421"/>
            </a:avLst>
          </a:prstGeom>
          <a:solidFill>
            <a:schemeClr val="bg1"/>
          </a:solidFill>
          <a:ln w="9525">
            <a:solidFill>
              <a:schemeClr val="accent6"/>
            </a:solidFill>
            <a:prstDash val="solid"/>
          </a:ln>
        </p:spPr>
      </p:sp>
      <p:sp>
        <p:nvSpPr>
          <p:cNvPr id="11" name="pastille-145"/>
          <p:cNvSpPr/>
          <p:nvPr/>
        </p:nvSpPr>
        <p:spPr>
          <a:xfrm>
            <a:off x="7315200" y="2807208"/>
            <a:ext cx="594360" cy="594360"/>
          </a:xfrm>
          <a:prstGeom prst="ellipse">
            <a:avLst/>
          </a:prstGeom>
          <a:solidFill>
            <a:schemeClr val="accent1"/>
          </a:solidFill>
          <a:ln/>
        </p:spPr>
      </p:sp>
      <p:pic>
        <p:nvPicPr>
          <p:cNvPr id="12" name="icone-146" descr="preencoded.png">    </p:cNvPr>
          <p:cNvPicPr>
            <a:picLocks noChangeAspect="1"/>
          </p:cNvPicPr>
          <p:nvPr/>
        </p:nvPicPr>
        <p:blipFill>
          <a:blip r:embed="rId2"/>
          <a:stretch>
            <a:fillRect/>
          </a:stretch>
        </p:blipFill>
        <p:spPr>
          <a:xfrm>
            <a:off x="7445959" y="2937967"/>
            <a:ext cx="332842" cy="332842"/>
          </a:xfrm>
          <a:prstGeom prst="rect">
            <a:avLst/>
          </a:prstGeom>
        </p:spPr>
      </p:pic>
      <p:sp>
        <p:nvSpPr>
          <p:cNvPr id="13" name="texte-147"/>
          <p:cNvSpPr txBox="1"/>
          <p:nvPr/>
        </p:nvSpPr>
        <p:spPr>
          <a:xfrm>
            <a:off x="8092440" y="2670048"/>
            <a:ext cx="3474720" cy="868680"/>
          </a:xfrm>
          <a:prstGeom prst="rect">
            <a:avLst/>
          </a:prstGeom>
          <a:noFill/>
          <a:ln/>
        </p:spPr>
        <p:txBody>
          <a:bodyPr wrap="square" lIns="0" tIns="0" rIns="0" bIns="0" rtlCol="0" anchor="ctr"/>
          <a:lstStyle/>
          <a:p>
            <a:pPr indent="0" marL="0">
              <a:buNone/>
            </a:pPr>
            <a:r>
              <a:rPr lang="en-US" sz="1500" b="1" dirty="0">
                <a:solidFill>
                  <a:schemeClr val="tx2"/>
                </a:solidFill>
              </a:rPr>
              <a:t>Avertissement</a:t>
            </a:r>
            <a:r>
              <a:rPr lang="en-US" sz="1500" dirty="0">
                <a:solidFill>
                  <a:schemeClr val="tx1"/>
                </a:solidFill>
              </a:rPr>
              <a:t>  :  #radar-ops</a:t>
            </a:r>
            <a:endParaRPr lang="en-US" sz="1500" dirty="0"/>
          </a:p>
        </p:txBody>
      </p:sp>
      <p:sp>
        <p:nvSpPr>
          <p:cNvPr id="14" name="carte-148"/>
          <p:cNvSpPr/>
          <p:nvPr/>
        </p:nvSpPr>
        <p:spPr>
          <a:xfrm>
            <a:off x="7159752" y="3694176"/>
            <a:ext cx="4480560" cy="868680"/>
          </a:xfrm>
          <a:prstGeom prst="roundRect">
            <a:avLst>
              <a:gd name="adj" fmla="val 8421"/>
            </a:avLst>
          </a:prstGeom>
          <a:solidFill>
            <a:schemeClr val="bg1"/>
          </a:solidFill>
          <a:ln w="9525">
            <a:solidFill>
              <a:schemeClr val="accent6"/>
            </a:solidFill>
            <a:prstDash val="solid"/>
          </a:ln>
        </p:spPr>
      </p:sp>
      <p:sp>
        <p:nvSpPr>
          <p:cNvPr id="15" name="pastille-149"/>
          <p:cNvSpPr/>
          <p:nvPr/>
        </p:nvSpPr>
        <p:spPr>
          <a:xfrm>
            <a:off x="7315200" y="3831336"/>
            <a:ext cx="594360" cy="594360"/>
          </a:xfrm>
          <a:prstGeom prst="ellipse">
            <a:avLst/>
          </a:prstGeom>
          <a:solidFill>
            <a:schemeClr val="accent3"/>
          </a:solidFill>
          <a:ln/>
        </p:spPr>
      </p:sp>
      <p:pic>
        <p:nvPicPr>
          <p:cNvPr id="16" name="icone-150" descr="preencoded.png">    </p:cNvPr>
          <p:cNvPicPr>
            <a:picLocks noChangeAspect="1"/>
          </p:cNvPicPr>
          <p:nvPr/>
        </p:nvPicPr>
        <p:blipFill>
          <a:blip r:embed="rId3"/>
          <a:stretch>
            <a:fillRect/>
          </a:stretch>
        </p:blipFill>
        <p:spPr>
          <a:xfrm>
            <a:off x="7445959" y="3962095"/>
            <a:ext cx="332842" cy="332842"/>
          </a:xfrm>
          <a:prstGeom prst="rect">
            <a:avLst/>
          </a:prstGeom>
        </p:spPr>
      </p:pic>
      <p:sp>
        <p:nvSpPr>
          <p:cNvPr id="17" name="texte-151"/>
          <p:cNvSpPr txBox="1"/>
          <p:nvPr/>
        </p:nvSpPr>
        <p:spPr>
          <a:xfrm>
            <a:off x="8092440" y="3694176"/>
            <a:ext cx="3474720" cy="868680"/>
          </a:xfrm>
          <a:prstGeom prst="rect">
            <a:avLst/>
          </a:prstGeom>
          <a:noFill/>
          <a:ln/>
        </p:spPr>
        <p:txBody>
          <a:bodyPr wrap="square" lIns="0" tIns="0" rIns="0" bIns="0" rtlCol="0" anchor="ctr"/>
          <a:lstStyle/>
          <a:p>
            <a:pPr indent="0" marL="0">
              <a:buNone/>
            </a:pPr>
            <a:r>
              <a:rPr lang="en-US" sz="1500" b="1" dirty="0">
                <a:solidFill>
                  <a:schemeClr val="tx2"/>
                </a:solidFill>
              </a:rPr>
              <a:t>team=veille</a:t>
            </a:r>
            <a:r>
              <a:rPr lang="en-US" sz="1500" dirty="0">
                <a:solidFill>
                  <a:schemeClr val="tx1"/>
                </a:solidFill>
              </a:rPr>
              <a:t>  :  #veille-radar</a:t>
            </a:r>
            <a:endParaRPr lang="en-US" sz="1500" dirty="0"/>
          </a:p>
        </p:txBody>
      </p:sp>
      <p:sp>
        <p:nvSpPr>
          <p:cNvPr id="18" name="carte-152"/>
          <p:cNvSpPr/>
          <p:nvPr/>
        </p:nvSpPr>
        <p:spPr>
          <a:xfrm>
            <a:off x="548640" y="4892040"/>
            <a:ext cx="11094415" cy="914400"/>
          </a:xfrm>
          <a:prstGeom prst="roundRect">
            <a:avLst>
              <a:gd name="adj" fmla="val 8000"/>
            </a:avLst>
          </a:prstGeom>
          <a:solidFill>
            <a:schemeClr val="tx2"/>
          </a:solidFill>
          <a:ln w="9525">
            <a:solidFill>
              <a:schemeClr val="tx2"/>
            </a:solidFill>
            <a:prstDash val="solid"/>
          </a:ln>
        </p:spPr>
      </p:sp>
      <p:sp>
        <p:nvSpPr>
          <p:cNvPr id="19" name="texte-153"/>
          <p:cNvSpPr txBox="1"/>
          <p:nvPr/>
        </p:nvSpPr>
        <p:spPr>
          <a:xfrm>
            <a:off x="822960" y="4892040"/>
            <a:ext cx="10545775" cy="914400"/>
          </a:xfrm>
          <a:prstGeom prst="rect">
            <a:avLst/>
          </a:prstGeom>
          <a:noFill/>
          <a:ln/>
        </p:spPr>
        <p:txBody>
          <a:bodyPr wrap="square" lIns="0" tIns="0" rIns="0" bIns="0" rtlCol="0" anchor="ctr"/>
          <a:lstStyle/>
          <a:p>
            <a:pPr indent="0" marL="0">
              <a:buNone/>
            </a:pPr>
            <a:r>
              <a:rPr lang="en-US" sz="1600" b="1" dirty="0">
                <a:solidFill>
                  <a:schemeClr val="accent1"/>
                </a:solidFill>
              </a:rPr>
              <a:t>Décision  </a:t>
            </a:r>
            <a:r>
              <a:rPr lang="en-US" sz="1600" dirty="0">
                <a:solidFill>
                  <a:schemeClr val="bg1"/>
                </a:solidFill>
              </a:rPr>
              <a:t>kube-prometheus-stack (open source, souverain) ; SLO 99,5 % sur métriques Envoy ; alertes multi-fenêtres ; un runbook par alerte.</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DÉCISION D7 · JOURNAUX</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D7 · Vector et Loki</a:t>
            </a:r>
            <a:endParaRPr lang="en-US" sz="3200" dirty="0"/>
          </a:p>
        </p:txBody>
      </p:sp>
      <p:sp>
        <p:nvSpPr>
          <p:cNvPr id="5" name="etape-154"/>
          <p:cNvSpPr/>
          <p:nvPr/>
        </p:nvSpPr>
        <p:spPr>
          <a:xfrm>
            <a:off x="548640" y="1783080"/>
            <a:ext cx="2306665" cy="685800"/>
          </a:xfrm>
          <a:prstGeom prst="pentagon">
            <a:avLst/>
          </a:prstGeom>
          <a:solidFill>
            <a:schemeClr val="accent6"/>
          </a:solidFill>
          <a:ln/>
        </p:spPr>
      </p:sp>
      <p:sp>
        <p:nvSpPr>
          <p:cNvPr id="6" name="texte-155"/>
          <p:cNvSpPr txBox="1"/>
          <p:nvPr/>
        </p:nvSpPr>
        <p:spPr>
          <a:xfrm>
            <a:off x="640080" y="1783080"/>
            <a:ext cx="1849465" cy="685800"/>
          </a:xfrm>
          <a:prstGeom prst="rect">
            <a:avLst/>
          </a:prstGeom>
          <a:noFill/>
          <a:ln/>
        </p:spPr>
        <p:txBody>
          <a:bodyPr wrap="square" lIns="0" tIns="0" rIns="0" bIns="0" rtlCol="0" anchor="ctr"/>
          <a:lstStyle/>
          <a:p>
            <a:pPr algn="ctr" indent="0" marL="0">
              <a:buNone/>
            </a:pPr>
            <a:r>
              <a:rPr lang="en-US" sz="1400" b="1" dirty="0">
                <a:solidFill>
                  <a:schemeClr val="tx2"/>
                </a:solidFill>
              </a:rPr>
              <a:t>Conteneurs</a:t>
            </a:r>
            <a:endParaRPr lang="en-US" sz="1400" dirty="0"/>
          </a:p>
        </p:txBody>
      </p:sp>
      <p:sp>
        <p:nvSpPr>
          <p:cNvPr id="7" name="texte-156"/>
          <p:cNvSpPr txBox="1"/>
          <p:nvPr/>
        </p:nvSpPr>
        <p:spPr>
          <a:xfrm>
            <a:off x="685800" y="2542032"/>
            <a:ext cx="2123785" cy="457200"/>
          </a:xfrm>
          <a:prstGeom prst="rect">
            <a:avLst/>
          </a:prstGeom>
          <a:noFill/>
          <a:ln/>
        </p:spPr>
        <p:txBody>
          <a:bodyPr wrap="square" lIns="0" tIns="0" rIns="0" bIns="0" rtlCol="0" anchor="t"/>
          <a:lstStyle/>
          <a:p>
            <a:pPr algn="ctr" indent="0" marL="0">
              <a:buNone/>
            </a:pPr>
            <a:r>
              <a:rPr lang="en-US" sz="1100" dirty="0">
                <a:solidFill>
                  <a:schemeClr val="accent5"/>
                </a:solidFill>
              </a:rPr>
              <a:t>DaemonSet, 1 pod par nœud</a:t>
            </a:r>
            <a:endParaRPr lang="en-US" sz="1100" dirty="0"/>
          </a:p>
        </p:txBody>
      </p:sp>
      <p:sp>
        <p:nvSpPr>
          <p:cNvPr id="8" name="etape-157"/>
          <p:cNvSpPr/>
          <p:nvPr/>
        </p:nvSpPr>
        <p:spPr>
          <a:xfrm>
            <a:off x="2745577" y="1783080"/>
            <a:ext cx="2306665" cy="685800"/>
          </a:xfrm>
          <a:prstGeom prst="chevron">
            <a:avLst/>
          </a:prstGeom>
          <a:solidFill>
            <a:schemeClr val="accent2"/>
          </a:solidFill>
          <a:ln/>
        </p:spPr>
      </p:sp>
      <p:sp>
        <p:nvSpPr>
          <p:cNvPr id="9" name="texte-158"/>
          <p:cNvSpPr txBox="1"/>
          <p:nvPr/>
        </p:nvSpPr>
        <p:spPr>
          <a:xfrm>
            <a:off x="3038185" y="1783080"/>
            <a:ext cx="1849465" cy="685800"/>
          </a:xfrm>
          <a:prstGeom prst="rect">
            <a:avLst/>
          </a:prstGeom>
          <a:noFill/>
          <a:ln/>
        </p:spPr>
        <p:txBody>
          <a:bodyPr wrap="square" lIns="0" tIns="0" rIns="0" bIns="0" rtlCol="0" anchor="ctr"/>
          <a:lstStyle/>
          <a:p>
            <a:pPr algn="ctr" indent="0" marL="0">
              <a:buNone/>
            </a:pPr>
            <a:r>
              <a:rPr lang="en-US" sz="1400" b="1" dirty="0">
                <a:solidFill>
                  <a:schemeClr val="tx2"/>
                </a:solidFill>
              </a:rPr>
              <a:t>Analyse VRL</a:t>
            </a:r>
            <a:endParaRPr lang="en-US" sz="1400" dirty="0"/>
          </a:p>
        </p:txBody>
      </p:sp>
      <p:sp>
        <p:nvSpPr>
          <p:cNvPr id="10" name="texte-159"/>
          <p:cNvSpPr txBox="1"/>
          <p:nvPr/>
        </p:nvSpPr>
        <p:spPr>
          <a:xfrm>
            <a:off x="2882737" y="2542032"/>
            <a:ext cx="2123785" cy="457200"/>
          </a:xfrm>
          <a:prstGeom prst="rect">
            <a:avLst/>
          </a:prstGeom>
          <a:noFill/>
          <a:ln/>
        </p:spPr>
        <p:txBody>
          <a:bodyPr wrap="square" lIns="0" tIns="0" rIns="0" bIns="0" rtlCol="0" anchor="t"/>
          <a:lstStyle/>
          <a:p>
            <a:pPr algn="ctr" indent="0" marL="0">
              <a:buNone/>
            </a:pPr>
            <a:r>
              <a:rPr lang="en-US" sz="1100" dirty="0">
                <a:solidFill>
                  <a:schemeClr val="accent5"/>
                </a:solidFill>
              </a:rPr>
              <a:t>JSON Spring Boot, accès Envoy</a:t>
            </a:r>
            <a:endParaRPr lang="en-US" sz="1100" dirty="0"/>
          </a:p>
        </p:txBody>
      </p:sp>
      <p:sp>
        <p:nvSpPr>
          <p:cNvPr id="11" name="etape-160"/>
          <p:cNvSpPr/>
          <p:nvPr/>
        </p:nvSpPr>
        <p:spPr>
          <a:xfrm>
            <a:off x="4942515" y="1783080"/>
            <a:ext cx="2306665" cy="685800"/>
          </a:xfrm>
          <a:prstGeom prst="chevron">
            <a:avLst/>
          </a:prstGeom>
          <a:solidFill>
            <a:schemeClr val="accent2"/>
          </a:solidFill>
          <a:ln/>
        </p:spPr>
      </p:sp>
      <p:sp>
        <p:nvSpPr>
          <p:cNvPr id="12" name="texte-161"/>
          <p:cNvSpPr txBox="1"/>
          <p:nvPr/>
        </p:nvSpPr>
        <p:spPr>
          <a:xfrm>
            <a:off x="5235123" y="1783080"/>
            <a:ext cx="1849465" cy="685800"/>
          </a:xfrm>
          <a:prstGeom prst="rect">
            <a:avLst/>
          </a:prstGeom>
          <a:noFill/>
          <a:ln/>
        </p:spPr>
        <p:txBody>
          <a:bodyPr wrap="square" lIns="0" tIns="0" rIns="0" bIns="0" rtlCol="0" anchor="ctr"/>
          <a:lstStyle/>
          <a:p>
            <a:pPr algn="ctr" indent="0" marL="0">
              <a:buNone/>
            </a:pPr>
            <a:r>
              <a:rPr lang="en-US" sz="1400" b="1" dirty="0">
                <a:solidFill>
                  <a:schemeClr val="tx2"/>
                </a:solidFill>
              </a:rPr>
              <a:t>Masquage RGPD</a:t>
            </a:r>
            <a:endParaRPr lang="en-US" sz="1400" dirty="0"/>
          </a:p>
        </p:txBody>
      </p:sp>
      <p:sp>
        <p:nvSpPr>
          <p:cNvPr id="13" name="texte-162"/>
          <p:cNvSpPr txBox="1"/>
          <p:nvPr/>
        </p:nvSpPr>
        <p:spPr>
          <a:xfrm>
            <a:off x="5079675" y="2542032"/>
            <a:ext cx="2123785" cy="457200"/>
          </a:xfrm>
          <a:prstGeom prst="rect">
            <a:avLst/>
          </a:prstGeom>
          <a:noFill/>
          <a:ln/>
        </p:spPr>
        <p:txBody>
          <a:bodyPr wrap="square" lIns="0" tIns="0" rIns="0" bIns="0" rtlCol="0" anchor="t"/>
          <a:lstStyle/>
          <a:p>
            <a:pPr algn="ctr" indent="0" marL="0">
              <a:buNone/>
            </a:pPr>
            <a:r>
              <a:rPr lang="en-US" sz="1100" dirty="0">
                <a:solidFill>
                  <a:schemeClr val="accent5"/>
                </a:solidFill>
              </a:rPr>
              <a:t>adresses électroniques</a:t>
            </a:r>
            <a:endParaRPr lang="en-US" sz="1100" dirty="0"/>
          </a:p>
        </p:txBody>
      </p:sp>
      <p:sp>
        <p:nvSpPr>
          <p:cNvPr id="14" name="etape-163"/>
          <p:cNvSpPr/>
          <p:nvPr/>
        </p:nvSpPr>
        <p:spPr>
          <a:xfrm>
            <a:off x="7139452" y="1783080"/>
            <a:ext cx="2306665" cy="685800"/>
          </a:xfrm>
          <a:prstGeom prst="chevron">
            <a:avLst/>
          </a:prstGeom>
          <a:solidFill>
            <a:schemeClr val="accent2"/>
          </a:solidFill>
          <a:ln/>
        </p:spPr>
      </p:sp>
      <p:sp>
        <p:nvSpPr>
          <p:cNvPr id="15" name="texte-164"/>
          <p:cNvSpPr txBox="1"/>
          <p:nvPr/>
        </p:nvSpPr>
        <p:spPr>
          <a:xfrm>
            <a:off x="7432060" y="1783080"/>
            <a:ext cx="1849465" cy="685800"/>
          </a:xfrm>
          <a:prstGeom prst="rect">
            <a:avLst/>
          </a:prstGeom>
          <a:noFill/>
          <a:ln/>
        </p:spPr>
        <p:txBody>
          <a:bodyPr wrap="square" lIns="0" tIns="0" rIns="0" bIns="0" rtlCol="0" anchor="ctr"/>
          <a:lstStyle/>
          <a:p>
            <a:pPr algn="ctr" indent="0" marL="0">
              <a:buNone/>
            </a:pPr>
            <a:r>
              <a:rPr lang="en-US" sz="1400" b="1" dirty="0">
                <a:solidFill>
                  <a:schemeClr val="tx2"/>
                </a:solidFill>
              </a:rPr>
              <a:t>Filtrage</a:t>
            </a:r>
            <a:endParaRPr lang="en-US" sz="1400" dirty="0"/>
          </a:p>
        </p:txBody>
      </p:sp>
      <p:sp>
        <p:nvSpPr>
          <p:cNvPr id="16" name="texte-165"/>
          <p:cNvSpPr txBox="1"/>
          <p:nvPr/>
        </p:nvSpPr>
        <p:spPr>
          <a:xfrm>
            <a:off x="7276612" y="2542032"/>
            <a:ext cx="2123785" cy="457200"/>
          </a:xfrm>
          <a:prstGeom prst="rect">
            <a:avLst/>
          </a:prstGeom>
          <a:noFill/>
          <a:ln/>
        </p:spPr>
        <p:txBody>
          <a:bodyPr wrap="square" lIns="0" tIns="0" rIns="0" bIns="0" rtlCol="0" anchor="t"/>
          <a:lstStyle/>
          <a:p>
            <a:pPr algn="ctr" indent="0" marL="0">
              <a:buNone/>
            </a:pPr>
            <a:r>
              <a:rPr lang="en-US" sz="1100" dirty="0">
                <a:solidFill>
                  <a:schemeClr val="accent5"/>
                </a:solidFill>
              </a:rPr>
              <a:t>sondes de santé</a:t>
            </a:r>
            <a:endParaRPr lang="en-US" sz="1100" dirty="0"/>
          </a:p>
        </p:txBody>
      </p:sp>
      <p:sp>
        <p:nvSpPr>
          <p:cNvPr id="17" name="etape-166"/>
          <p:cNvSpPr/>
          <p:nvPr/>
        </p:nvSpPr>
        <p:spPr>
          <a:xfrm>
            <a:off x="9336390" y="1783080"/>
            <a:ext cx="2306665" cy="685800"/>
          </a:xfrm>
          <a:prstGeom prst="chevron">
            <a:avLst/>
          </a:prstGeom>
          <a:solidFill>
            <a:schemeClr val="accent3"/>
          </a:solidFill>
          <a:ln/>
        </p:spPr>
      </p:sp>
      <p:sp>
        <p:nvSpPr>
          <p:cNvPr id="18" name="texte-167"/>
          <p:cNvSpPr txBox="1"/>
          <p:nvPr/>
        </p:nvSpPr>
        <p:spPr>
          <a:xfrm>
            <a:off x="9628998" y="1783080"/>
            <a:ext cx="1849465" cy="685800"/>
          </a:xfrm>
          <a:prstGeom prst="rect">
            <a:avLst/>
          </a:prstGeom>
          <a:noFill/>
          <a:ln/>
        </p:spPr>
        <p:txBody>
          <a:bodyPr wrap="square" lIns="0" tIns="0" rIns="0" bIns="0" rtlCol="0" anchor="ctr"/>
          <a:lstStyle/>
          <a:p>
            <a:pPr algn="ctr" indent="0" marL="0">
              <a:buNone/>
            </a:pPr>
            <a:r>
              <a:rPr lang="en-US" sz="1400" b="1" dirty="0">
                <a:solidFill>
                  <a:schemeClr val="bg1"/>
                </a:solidFill>
              </a:rPr>
              <a:t>Loki + métriques</a:t>
            </a:r>
            <a:endParaRPr lang="en-US" sz="1400" dirty="0"/>
          </a:p>
        </p:txBody>
      </p:sp>
      <p:sp>
        <p:nvSpPr>
          <p:cNvPr id="19" name="texte-168"/>
          <p:cNvSpPr txBox="1"/>
          <p:nvPr/>
        </p:nvSpPr>
        <p:spPr>
          <a:xfrm>
            <a:off x="9473550" y="2542032"/>
            <a:ext cx="2123785" cy="457200"/>
          </a:xfrm>
          <a:prstGeom prst="rect">
            <a:avLst/>
          </a:prstGeom>
          <a:noFill/>
          <a:ln/>
        </p:spPr>
        <p:txBody>
          <a:bodyPr wrap="square" lIns="0" tIns="0" rIns="0" bIns="0" rtlCol="0" anchor="t"/>
          <a:lstStyle/>
          <a:p>
            <a:pPr algn="ctr" indent="0" marL="0">
              <a:buNone/>
            </a:pPr>
            <a:r>
              <a:rPr lang="en-US" sz="1100" dirty="0">
                <a:solidFill>
                  <a:schemeClr val="accent5"/>
                </a:solidFill>
              </a:rPr>
              <a:t>3 labels, métrique d'erreurs</a:t>
            </a:r>
            <a:endParaRPr lang="en-US" sz="1100" dirty="0"/>
          </a:p>
        </p:txBody>
      </p:sp>
      <p:graphicFrame>
        <p:nvGraphicFramePr>
          <p:cNvPr id="15" name="grille-169"/>
          <p:cNvGraphicFramePr>
            <a:graphicFrameLocks noGrp="1"/>
          </p:cNvGraphicFramePr>
          <p:nvPr>
            <p:extLst>
              <p:ext uri="{D42A27DB-BD31-4B8C-83A1-F6EECF244321}">
                <p14:modId xmlns:p14="http://schemas.microsoft.com/office/powerpoint/2010/main" val="1579011935"/>
              </p:ext>
            </p:extLst>
          </p:nvPr>
        </p:nvGraphicFramePr>
        <p:xfrm>
          <a:off x="548640" y="3063240"/>
          <a:ext cx="11094415" cy="914400"/>
        </p:xfrm>
        <a:graphic>
          <a:graphicData uri="http://schemas.openxmlformats.org/drawingml/2006/table">
            <a:tbl>
              <a:tblPr/>
              <a:tblGrid>
                <a:gridCol w="3959352"/>
                <a:gridCol w="1783080"/>
                <a:gridCol w="1783080"/>
                <a:gridCol w="1783080"/>
                <a:gridCol w="1783080"/>
              </a:tblGrid>
              <a:tr h="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Critère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Vector</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accent3"/>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Fluent Bit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Alloy</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OTel Collector</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Langage de transformation</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r>
              <a:tr h="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Performance, empreinte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r>
              <a:tr h="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Métriques dérivées des journaux</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r>
              <a:tr h="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Unification journaux, métriques, traces</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EAF6F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D6EFE9"/>
                    </a:solidFill>
                  </a:tcPr>
                </a:tc>
              </a:tr>
            </a:tbl>
          </a:graphicData>
        </a:graphic>
      </p:graphicFrame>
      <p:sp>
        <p:nvSpPr>
          <p:cNvPr id="21" name="carte-170"/>
          <p:cNvSpPr/>
          <p:nvPr/>
        </p:nvSpPr>
        <p:spPr>
          <a:xfrm>
            <a:off x="548640" y="5440680"/>
            <a:ext cx="11094415" cy="548640"/>
          </a:xfrm>
          <a:prstGeom prst="roundRect">
            <a:avLst>
              <a:gd name="adj" fmla="val 13333"/>
            </a:avLst>
          </a:prstGeom>
          <a:solidFill>
            <a:schemeClr val="tx2"/>
          </a:solidFill>
          <a:ln w="9525">
            <a:solidFill>
              <a:schemeClr val="tx2"/>
            </a:solidFill>
            <a:prstDash val="solid"/>
          </a:ln>
        </p:spPr>
      </p:sp>
      <p:sp>
        <p:nvSpPr>
          <p:cNvPr id="22" name="texte-171"/>
          <p:cNvSpPr txBox="1"/>
          <p:nvPr/>
        </p:nvSpPr>
        <p:spPr>
          <a:xfrm>
            <a:off x="822960" y="5440680"/>
            <a:ext cx="10545775" cy="548640"/>
          </a:xfrm>
          <a:prstGeom prst="rect">
            <a:avLst/>
          </a:prstGeom>
          <a:noFill/>
          <a:ln/>
        </p:spPr>
        <p:txBody>
          <a:bodyPr wrap="square" lIns="0" tIns="0" rIns="0" bIns="0" rtlCol="0" anchor="ctr"/>
          <a:lstStyle/>
          <a:p>
            <a:pPr indent="0" marL="0">
              <a:buNone/>
            </a:pPr>
            <a:r>
              <a:rPr lang="en-US" sz="1600" b="1" dirty="0">
                <a:solidFill>
                  <a:schemeClr val="accent1"/>
                </a:solidFill>
              </a:rPr>
              <a:t>Décision  </a:t>
            </a:r>
            <a:r>
              <a:rPr lang="en-US" sz="1600" dirty="0">
                <a:solidFill>
                  <a:schemeClr val="bg1"/>
                </a:solidFill>
              </a:rPr>
              <a:t>Vector (DaemonSet) : Loki. Révision : généralisation d'OpenTelemetry dans les équipes.</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DÉCISIONS D8 ET D9 · TRACES ET DÉPLOIEMENT</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D8 · D9 · Traces et GitOps</a:t>
            </a:r>
            <a:endParaRPr lang="en-US" sz="3200" dirty="0"/>
          </a:p>
        </p:txBody>
      </p:sp>
      <p:sp>
        <p:nvSpPr>
          <p:cNvPr id="5" name="etape-172"/>
          <p:cNvSpPr/>
          <p:nvPr/>
        </p:nvSpPr>
        <p:spPr>
          <a:xfrm>
            <a:off x="548640" y="1783080"/>
            <a:ext cx="1678969" cy="685800"/>
          </a:xfrm>
          <a:prstGeom prst="pentagon">
            <a:avLst/>
          </a:prstGeom>
          <a:solidFill>
            <a:schemeClr val="accent6"/>
          </a:solidFill>
          <a:ln/>
        </p:spPr>
      </p:sp>
      <p:sp>
        <p:nvSpPr>
          <p:cNvPr id="6" name="texte-173"/>
          <p:cNvSpPr txBox="1"/>
          <p:nvPr/>
        </p:nvSpPr>
        <p:spPr>
          <a:xfrm>
            <a:off x="640080" y="1783080"/>
            <a:ext cx="1221769" cy="685800"/>
          </a:xfrm>
          <a:prstGeom prst="rect">
            <a:avLst/>
          </a:prstGeom>
          <a:noFill/>
          <a:ln/>
        </p:spPr>
        <p:txBody>
          <a:bodyPr wrap="square" lIns="0" tIns="0" rIns="0" bIns="0" rtlCol="0" anchor="ctr"/>
          <a:lstStyle/>
          <a:p>
            <a:pPr algn="ctr" indent="0" marL="0">
              <a:buNone/>
            </a:pPr>
            <a:r>
              <a:rPr lang="en-US" sz="1400" b="1" dirty="0">
                <a:solidFill>
                  <a:schemeClr val="tx2"/>
                </a:solidFill>
              </a:rPr>
              <a:t>Commit</a:t>
            </a:r>
            <a:endParaRPr lang="en-US" sz="1400" dirty="0"/>
          </a:p>
        </p:txBody>
      </p:sp>
      <p:sp>
        <p:nvSpPr>
          <p:cNvPr id="7" name="etape-174"/>
          <p:cNvSpPr/>
          <p:nvPr/>
        </p:nvSpPr>
        <p:spPr>
          <a:xfrm>
            <a:off x="2117881" y="1783080"/>
            <a:ext cx="1678969" cy="685800"/>
          </a:xfrm>
          <a:prstGeom prst="chevron">
            <a:avLst/>
          </a:prstGeom>
          <a:solidFill>
            <a:schemeClr val="accent2"/>
          </a:solidFill>
          <a:ln/>
        </p:spPr>
      </p:sp>
      <p:sp>
        <p:nvSpPr>
          <p:cNvPr id="8" name="texte-175"/>
          <p:cNvSpPr txBox="1"/>
          <p:nvPr/>
        </p:nvSpPr>
        <p:spPr>
          <a:xfrm>
            <a:off x="2410489" y="1783080"/>
            <a:ext cx="1221769" cy="685800"/>
          </a:xfrm>
          <a:prstGeom prst="rect">
            <a:avLst/>
          </a:prstGeom>
          <a:noFill/>
          <a:ln/>
        </p:spPr>
        <p:txBody>
          <a:bodyPr wrap="square" lIns="0" tIns="0" rIns="0" bIns="0" rtlCol="0" anchor="ctr"/>
          <a:lstStyle/>
          <a:p>
            <a:pPr algn="ctr" indent="0" marL="0">
              <a:buNone/>
            </a:pPr>
            <a:r>
              <a:rPr lang="en-US" sz="1400" b="1" dirty="0">
                <a:solidFill>
                  <a:schemeClr val="tx2"/>
                </a:solidFill>
              </a:rPr>
              <a:t>Tests</a:t>
            </a:r>
            <a:endParaRPr lang="en-US" sz="1400" dirty="0"/>
          </a:p>
        </p:txBody>
      </p:sp>
      <p:sp>
        <p:nvSpPr>
          <p:cNvPr id="9" name="etape-176"/>
          <p:cNvSpPr/>
          <p:nvPr/>
        </p:nvSpPr>
        <p:spPr>
          <a:xfrm>
            <a:off x="3687122" y="1783080"/>
            <a:ext cx="1678969" cy="685800"/>
          </a:xfrm>
          <a:prstGeom prst="chevron">
            <a:avLst/>
          </a:prstGeom>
          <a:solidFill>
            <a:schemeClr val="accent2"/>
          </a:solidFill>
          <a:ln/>
        </p:spPr>
      </p:sp>
      <p:sp>
        <p:nvSpPr>
          <p:cNvPr id="10" name="texte-177"/>
          <p:cNvSpPr txBox="1"/>
          <p:nvPr/>
        </p:nvSpPr>
        <p:spPr>
          <a:xfrm>
            <a:off x="3979730" y="1783080"/>
            <a:ext cx="1221769" cy="685800"/>
          </a:xfrm>
          <a:prstGeom prst="rect">
            <a:avLst/>
          </a:prstGeom>
          <a:noFill/>
          <a:ln/>
        </p:spPr>
        <p:txBody>
          <a:bodyPr wrap="square" lIns="0" tIns="0" rIns="0" bIns="0" rtlCol="0" anchor="ctr"/>
          <a:lstStyle/>
          <a:p>
            <a:pPr algn="ctr" indent="0" marL="0">
              <a:buNone/>
            </a:pPr>
            <a:r>
              <a:rPr lang="en-US" sz="1400" b="1" dirty="0">
                <a:solidFill>
                  <a:schemeClr val="tx2"/>
                </a:solidFill>
              </a:rPr>
              <a:t>Trivy</a:t>
            </a:r>
            <a:endParaRPr lang="en-US" sz="1400" dirty="0"/>
          </a:p>
        </p:txBody>
      </p:sp>
      <p:sp>
        <p:nvSpPr>
          <p:cNvPr id="11" name="etape-178"/>
          <p:cNvSpPr/>
          <p:nvPr/>
        </p:nvSpPr>
        <p:spPr>
          <a:xfrm>
            <a:off x="5256363" y="1783080"/>
            <a:ext cx="1678969" cy="685800"/>
          </a:xfrm>
          <a:prstGeom prst="chevron">
            <a:avLst/>
          </a:prstGeom>
          <a:solidFill>
            <a:schemeClr val="accent2"/>
          </a:solidFill>
          <a:ln/>
        </p:spPr>
      </p:sp>
      <p:sp>
        <p:nvSpPr>
          <p:cNvPr id="12" name="texte-179"/>
          <p:cNvSpPr txBox="1"/>
          <p:nvPr/>
        </p:nvSpPr>
        <p:spPr>
          <a:xfrm>
            <a:off x="5548971" y="1783080"/>
            <a:ext cx="1221769" cy="685800"/>
          </a:xfrm>
          <a:prstGeom prst="rect">
            <a:avLst/>
          </a:prstGeom>
          <a:noFill/>
          <a:ln/>
        </p:spPr>
        <p:txBody>
          <a:bodyPr wrap="square" lIns="0" tIns="0" rIns="0" bIns="0" rtlCol="0" anchor="ctr"/>
          <a:lstStyle/>
          <a:p>
            <a:pPr algn="ctr" indent="0" marL="0">
              <a:buNone/>
            </a:pPr>
            <a:r>
              <a:rPr lang="en-US" sz="1400" b="1" dirty="0">
                <a:solidFill>
                  <a:schemeClr val="tx2"/>
                </a:solidFill>
              </a:rPr>
              <a:t>cosign</a:t>
            </a:r>
            <a:endParaRPr lang="en-US" sz="1400" dirty="0"/>
          </a:p>
        </p:txBody>
      </p:sp>
      <p:sp>
        <p:nvSpPr>
          <p:cNvPr id="13" name="etape-180"/>
          <p:cNvSpPr/>
          <p:nvPr/>
        </p:nvSpPr>
        <p:spPr>
          <a:xfrm>
            <a:off x="6825604" y="1783080"/>
            <a:ext cx="1678969" cy="685800"/>
          </a:xfrm>
          <a:prstGeom prst="chevron">
            <a:avLst/>
          </a:prstGeom>
          <a:solidFill>
            <a:schemeClr val="accent1"/>
          </a:solidFill>
          <a:ln/>
        </p:spPr>
      </p:sp>
      <p:sp>
        <p:nvSpPr>
          <p:cNvPr id="14" name="texte-181"/>
          <p:cNvSpPr txBox="1"/>
          <p:nvPr/>
        </p:nvSpPr>
        <p:spPr>
          <a:xfrm>
            <a:off x="7118212" y="1783080"/>
            <a:ext cx="1221769" cy="685800"/>
          </a:xfrm>
          <a:prstGeom prst="rect">
            <a:avLst/>
          </a:prstGeom>
          <a:noFill/>
          <a:ln/>
        </p:spPr>
        <p:txBody>
          <a:bodyPr wrap="square" lIns="0" tIns="0" rIns="0" bIns="0" rtlCol="0" anchor="ctr"/>
          <a:lstStyle/>
          <a:p>
            <a:pPr algn="ctr" indent="0" marL="0">
              <a:buNone/>
            </a:pPr>
            <a:r>
              <a:rPr lang="en-US" sz="1400" b="1" dirty="0">
                <a:solidFill>
                  <a:schemeClr val="tx2"/>
                </a:solidFill>
              </a:rPr>
              <a:t>MAJ dépôt</a:t>
            </a:r>
            <a:endParaRPr lang="en-US" sz="1400" dirty="0"/>
          </a:p>
        </p:txBody>
      </p:sp>
      <p:sp>
        <p:nvSpPr>
          <p:cNvPr id="15" name="etape-182"/>
          <p:cNvSpPr/>
          <p:nvPr/>
        </p:nvSpPr>
        <p:spPr>
          <a:xfrm>
            <a:off x="8394845" y="1783080"/>
            <a:ext cx="1678969" cy="685800"/>
          </a:xfrm>
          <a:prstGeom prst="chevron">
            <a:avLst/>
          </a:prstGeom>
          <a:solidFill>
            <a:schemeClr val="tx2"/>
          </a:solidFill>
          <a:ln/>
        </p:spPr>
      </p:sp>
      <p:sp>
        <p:nvSpPr>
          <p:cNvPr id="16" name="texte-183"/>
          <p:cNvSpPr txBox="1"/>
          <p:nvPr/>
        </p:nvSpPr>
        <p:spPr>
          <a:xfrm>
            <a:off x="8687453" y="1783080"/>
            <a:ext cx="1221769" cy="685800"/>
          </a:xfrm>
          <a:prstGeom prst="rect">
            <a:avLst/>
          </a:prstGeom>
          <a:noFill/>
          <a:ln/>
        </p:spPr>
        <p:txBody>
          <a:bodyPr wrap="square" lIns="0" tIns="0" rIns="0" bIns="0" rtlCol="0" anchor="ctr"/>
          <a:lstStyle/>
          <a:p>
            <a:pPr algn="ctr" indent="0" marL="0">
              <a:buNone/>
            </a:pPr>
            <a:r>
              <a:rPr lang="en-US" sz="1400" b="1" dirty="0">
                <a:solidFill>
                  <a:schemeClr val="bg1"/>
                </a:solidFill>
              </a:rPr>
              <a:t>Argo CD</a:t>
            </a:r>
            <a:endParaRPr lang="en-US" sz="1400" dirty="0"/>
          </a:p>
        </p:txBody>
      </p:sp>
      <p:sp>
        <p:nvSpPr>
          <p:cNvPr id="17" name="etape-184"/>
          <p:cNvSpPr/>
          <p:nvPr/>
        </p:nvSpPr>
        <p:spPr>
          <a:xfrm>
            <a:off x="9964086" y="1783080"/>
            <a:ext cx="1678969" cy="685800"/>
          </a:xfrm>
          <a:prstGeom prst="chevron">
            <a:avLst/>
          </a:prstGeom>
          <a:solidFill>
            <a:schemeClr val="tx2"/>
          </a:solidFill>
          <a:ln/>
        </p:spPr>
      </p:sp>
      <p:sp>
        <p:nvSpPr>
          <p:cNvPr id="18" name="texte-185"/>
          <p:cNvSpPr txBox="1"/>
          <p:nvPr/>
        </p:nvSpPr>
        <p:spPr>
          <a:xfrm>
            <a:off x="10256694" y="1783080"/>
            <a:ext cx="1221769" cy="685800"/>
          </a:xfrm>
          <a:prstGeom prst="rect">
            <a:avLst/>
          </a:prstGeom>
          <a:noFill/>
          <a:ln/>
        </p:spPr>
        <p:txBody>
          <a:bodyPr wrap="square" lIns="0" tIns="0" rIns="0" bIns="0" rtlCol="0" anchor="ctr"/>
          <a:lstStyle/>
          <a:p>
            <a:pPr algn="ctr" indent="0" marL="0">
              <a:buNone/>
            </a:pPr>
            <a:r>
              <a:rPr lang="en-US" sz="1400" b="1" dirty="0">
                <a:solidFill>
                  <a:schemeClr val="bg1"/>
                </a:solidFill>
              </a:rPr>
              <a:t>Cluster</a:t>
            </a:r>
            <a:endParaRPr lang="en-US" sz="1400" dirty="0"/>
          </a:p>
        </p:txBody>
      </p:sp>
      <p:sp>
        <p:nvSpPr>
          <p:cNvPr id="19" name="carte-186"/>
          <p:cNvSpPr/>
          <p:nvPr/>
        </p:nvSpPr>
        <p:spPr>
          <a:xfrm>
            <a:off x="548640" y="2788920"/>
            <a:ext cx="5394960" cy="2377440"/>
          </a:xfrm>
          <a:prstGeom prst="roundRect">
            <a:avLst>
              <a:gd name="adj" fmla="val 3077"/>
            </a:avLst>
          </a:prstGeom>
          <a:solidFill>
            <a:schemeClr val="bg1"/>
          </a:solidFill>
          <a:ln w="9525">
            <a:solidFill>
              <a:schemeClr val="accent6"/>
            </a:solidFill>
            <a:prstDash val="solid"/>
          </a:ln>
        </p:spPr>
      </p:sp>
      <p:sp>
        <p:nvSpPr>
          <p:cNvPr id="20" name="pastille-187"/>
          <p:cNvSpPr/>
          <p:nvPr/>
        </p:nvSpPr>
        <p:spPr>
          <a:xfrm>
            <a:off x="777240" y="3017520"/>
            <a:ext cx="548640" cy="548640"/>
          </a:xfrm>
          <a:prstGeom prst="ellipse">
            <a:avLst/>
          </a:prstGeom>
          <a:solidFill>
            <a:schemeClr val="tx2"/>
          </a:solidFill>
          <a:ln/>
        </p:spPr>
      </p:sp>
      <p:pic>
        <p:nvPicPr>
          <p:cNvPr id="21" name="icone-188" descr="preencoded.png">    </p:cNvPr>
          <p:cNvPicPr>
            <a:picLocks noChangeAspect="1"/>
          </p:cNvPicPr>
          <p:nvPr/>
        </p:nvPicPr>
        <p:blipFill>
          <a:blip r:embed="rId1"/>
          <a:stretch>
            <a:fillRect/>
          </a:stretch>
        </p:blipFill>
        <p:spPr>
          <a:xfrm>
            <a:off x="897941" y="3138221"/>
            <a:ext cx="307238" cy="307238"/>
          </a:xfrm>
          <a:prstGeom prst="rect">
            <a:avLst/>
          </a:prstGeom>
        </p:spPr>
      </p:pic>
      <p:sp>
        <p:nvSpPr>
          <p:cNvPr id="22" name="texte-189"/>
          <p:cNvSpPr txBox="1"/>
          <p:nvPr/>
        </p:nvSpPr>
        <p:spPr>
          <a:xfrm>
            <a:off x="1463040" y="3017520"/>
            <a:ext cx="4297680" cy="548640"/>
          </a:xfrm>
          <a:prstGeom prst="rect">
            <a:avLst/>
          </a:prstGeom>
          <a:noFill/>
          <a:ln/>
        </p:spPr>
        <p:txBody>
          <a:bodyPr wrap="square" lIns="0" tIns="0" rIns="0" bIns="0" rtlCol="0" anchor="ctr"/>
          <a:lstStyle/>
          <a:p>
            <a:pPr indent="0" marL="0">
              <a:buNone/>
            </a:pPr>
            <a:r>
              <a:rPr lang="en-US" sz="1700" b="1" dirty="0">
                <a:solidFill>
                  <a:schemeClr val="tx2"/>
                </a:solidFill>
              </a:rPr>
              <a:t>D9 · GitOps avec Argo CD</a:t>
            </a:r>
            <a:endParaRPr lang="en-US" sz="1700" dirty="0"/>
          </a:p>
        </p:txBody>
      </p:sp>
      <p:sp>
        <p:nvSpPr>
          <p:cNvPr id="23" name="texte-190"/>
          <p:cNvSpPr txBox="1"/>
          <p:nvPr/>
        </p:nvSpPr>
        <p:spPr>
          <a:xfrm>
            <a:off x="777240" y="3703320"/>
            <a:ext cx="4937760" cy="13258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Git = journal des déploiements (NF6)</a:t>
            </a:r>
            <a:endParaRPr lang="en-US" sz="1500" dirty="0"/>
          </a:p>
          <a:p>
            <a:pPr marL="203200" indent="-203200">
              <a:spcAft>
                <a:spcPts val="800"/>
              </a:spcAft>
              <a:buSzPct val="100000"/>
              <a:buChar char="•"/>
            </a:pPr>
            <a:r>
              <a:rPr lang="en-US" sz="1500" dirty="0">
                <a:solidFill>
                  <a:schemeClr val="tx1"/>
                </a:solidFill>
              </a:rPr>
              <a:t>Retour arrière : git revert</a:t>
            </a:r>
            <a:endParaRPr lang="en-US" sz="1500" dirty="0"/>
          </a:p>
          <a:p>
            <a:pPr marL="203200" indent="-203200">
              <a:spcAft>
                <a:spcPts val="800"/>
              </a:spcAft>
              <a:buSzPct val="100000"/>
              <a:buChar char="•"/>
            </a:pPr>
            <a:r>
              <a:rPr lang="en-US" sz="1500" dirty="0">
                <a:solidFill>
                  <a:schemeClr val="tx1"/>
                </a:solidFill>
              </a:rPr>
              <a:t>Aucun identifiant du cluster dans la CI</a:t>
            </a:r>
            <a:endParaRPr lang="en-US" sz="1500" dirty="0"/>
          </a:p>
          <a:p>
            <a:pPr marL="203200" indent="-203200">
              <a:spcAft>
                <a:spcPts val="800"/>
              </a:spcAft>
              <a:buSzPct val="100000"/>
              <a:buChar char="•"/>
            </a:pPr>
            <a:r>
              <a:rPr lang="en-US" sz="1500" dirty="0">
                <a:solidFill>
                  <a:schemeClr val="tx1"/>
                </a:solidFill>
              </a:rPr>
              <a:t>Dérive manuelle annulée (selfHeal)</a:t>
            </a:r>
            <a:endParaRPr lang="en-US" sz="1500" dirty="0"/>
          </a:p>
        </p:txBody>
      </p:sp>
      <p:sp>
        <p:nvSpPr>
          <p:cNvPr id="24" name="carte-191"/>
          <p:cNvSpPr/>
          <p:nvPr/>
        </p:nvSpPr>
        <p:spPr>
          <a:xfrm>
            <a:off x="6245352" y="2788920"/>
            <a:ext cx="5394960" cy="2377440"/>
          </a:xfrm>
          <a:prstGeom prst="roundRect">
            <a:avLst>
              <a:gd name="adj" fmla="val 3077"/>
            </a:avLst>
          </a:prstGeom>
          <a:solidFill>
            <a:schemeClr val="bg1"/>
          </a:solidFill>
          <a:ln w="9525">
            <a:solidFill>
              <a:schemeClr val="accent6"/>
            </a:solidFill>
            <a:prstDash val="solid"/>
          </a:ln>
        </p:spPr>
      </p:sp>
      <p:sp>
        <p:nvSpPr>
          <p:cNvPr id="25" name="pastille-192"/>
          <p:cNvSpPr/>
          <p:nvPr/>
        </p:nvSpPr>
        <p:spPr>
          <a:xfrm>
            <a:off x="6473952" y="3017520"/>
            <a:ext cx="548640" cy="548640"/>
          </a:xfrm>
          <a:prstGeom prst="ellipse">
            <a:avLst/>
          </a:prstGeom>
          <a:solidFill>
            <a:schemeClr val="accent3"/>
          </a:solidFill>
          <a:ln/>
        </p:spPr>
      </p:sp>
      <p:pic>
        <p:nvPicPr>
          <p:cNvPr id="26" name="icone-193" descr="preencoded.png">    </p:cNvPr>
          <p:cNvPicPr>
            <a:picLocks noChangeAspect="1"/>
          </p:cNvPicPr>
          <p:nvPr/>
        </p:nvPicPr>
        <p:blipFill>
          <a:blip r:embed="rId2"/>
          <a:stretch>
            <a:fillRect/>
          </a:stretch>
        </p:blipFill>
        <p:spPr>
          <a:xfrm>
            <a:off x="6594653" y="3138221"/>
            <a:ext cx="307238" cy="307238"/>
          </a:xfrm>
          <a:prstGeom prst="rect">
            <a:avLst/>
          </a:prstGeom>
        </p:spPr>
      </p:pic>
      <p:sp>
        <p:nvSpPr>
          <p:cNvPr id="27" name="texte-194"/>
          <p:cNvSpPr txBox="1"/>
          <p:nvPr/>
        </p:nvSpPr>
        <p:spPr>
          <a:xfrm>
            <a:off x="7159752" y="3017520"/>
            <a:ext cx="4297680" cy="548640"/>
          </a:xfrm>
          <a:prstGeom prst="rect">
            <a:avLst/>
          </a:prstGeom>
          <a:noFill/>
          <a:ln/>
        </p:spPr>
        <p:txBody>
          <a:bodyPr wrap="square" lIns="0" tIns="0" rIns="0" bIns="0" rtlCol="0" anchor="ctr"/>
          <a:lstStyle/>
          <a:p>
            <a:pPr indent="0" marL="0">
              <a:buNone/>
            </a:pPr>
            <a:r>
              <a:rPr lang="en-US" sz="1700" b="1" dirty="0">
                <a:solidFill>
                  <a:schemeClr val="tx2"/>
                </a:solidFill>
              </a:rPr>
              <a:t>D8 · Traces avec Tempo</a:t>
            </a:r>
            <a:endParaRPr lang="en-US" sz="1700" dirty="0"/>
          </a:p>
        </p:txBody>
      </p:sp>
      <p:sp>
        <p:nvSpPr>
          <p:cNvPr id="28" name="texte-195"/>
          <p:cNvSpPr txBox="1"/>
          <p:nvPr/>
        </p:nvSpPr>
        <p:spPr>
          <a:xfrm>
            <a:off x="6473952" y="3703320"/>
            <a:ext cx="4937760" cy="13258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Traces OTLP émises par Envoy</a:t>
            </a:r>
            <a:endParaRPr lang="en-US" sz="1500" dirty="0"/>
          </a:p>
          <a:p>
            <a:pPr marL="203200" indent="-203200">
              <a:spcAft>
                <a:spcPts val="800"/>
              </a:spcAft>
              <a:buSzPct val="100000"/>
              <a:buChar char="•"/>
            </a:pPr>
            <a:r>
              <a:rPr lang="en-US" sz="1500" dirty="0">
                <a:solidFill>
                  <a:schemeClr val="tx1"/>
                </a:solidFill>
              </a:rPr>
              <a:t>Échantillonnage à 10 %</a:t>
            </a:r>
            <a:endParaRPr lang="en-US" sz="1500" dirty="0"/>
          </a:p>
          <a:p>
            <a:pPr marL="203200" indent="-203200">
              <a:spcAft>
                <a:spcPts val="800"/>
              </a:spcAft>
              <a:buSzPct val="100000"/>
              <a:buChar char="•"/>
            </a:pPr>
            <a:r>
              <a:rPr lang="en-US" sz="1500" dirty="0">
                <a:solidFill>
                  <a:schemeClr val="tx1"/>
                </a:solidFill>
              </a:rPr>
              <a:t>Corrélation journaux et traces (Grafana)</a:t>
            </a:r>
            <a:endParaRPr lang="en-US" sz="1500" dirty="0"/>
          </a:p>
          <a:p>
            <a:pPr marL="203200" indent="-203200">
              <a:spcAft>
                <a:spcPts val="800"/>
              </a:spcAft>
              <a:buSzPct val="100000"/>
              <a:buChar char="•"/>
            </a:pPr>
            <a:r>
              <a:rPr lang="en-US" sz="1500" dirty="0">
                <a:solidFill>
                  <a:schemeClr val="tx1"/>
                </a:solidFill>
              </a:rPr>
              <a:t>Limite : propagation à instrumenter</a:t>
            </a:r>
            <a:endParaRPr lang="en-US" sz="1500" dirty="0"/>
          </a:p>
        </p:txBody>
      </p:sp>
      <p:sp>
        <p:nvSpPr>
          <p:cNvPr id="29" name="carte-196"/>
          <p:cNvSpPr/>
          <p:nvPr/>
        </p:nvSpPr>
        <p:spPr>
          <a:xfrm>
            <a:off x="548640" y="5440680"/>
            <a:ext cx="11094415" cy="548640"/>
          </a:xfrm>
          <a:prstGeom prst="roundRect">
            <a:avLst>
              <a:gd name="adj" fmla="val 13333"/>
            </a:avLst>
          </a:prstGeom>
          <a:solidFill>
            <a:schemeClr val="tx2"/>
          </a:solidFill>
          <a:ln w="9525">
            <a:solidFill>
              <a:schemeClr val="tx2"/>
            </a:solidFill>
            <a:prstDash val="solid"/>
          </a:ln>
        </p:spPr>
      </p:sp>
      <p:sp>
        <p:nvSpPr>
          <p:cNvPr id="30" name="texte-197"/>
          <p:cNvSpPr txBox="1"/>
          <p:nvPr/>
        </p:nvSpPr>
        <p:spPr>
          <a:xfrm>
            <a:off x="822960" y="5440680"/>
            <a:ext cx="10545775" cy="548640"/>
          </a:xfrm>
          <a:prstGeom prst="rect">
            <a:avLst/>
          </a:prstGeom>
          <a:noFill/>
          <a:ln/>
        </p:spPr>
        <p:txBody>
          <a:bodyPr wrap="square" lIns="0" tIns="0" rIns="0" bIns="0" rtlCol="0" anchor="ctr"/>
          <a:lstStyle/>
          <a:p>
            <a:pPr indent="0" marL="0">
              <a:buNone/>
            </a:pPr>
            <a:r>
              <a:rPr lang="en-US" sz="1600" b="1" dirty="0">
                <a:solidFill>
                  <a:schemeClr val="accent1"/>
                </a:solidFill>
              </a:rPr>
              <a:t>Décision  </a:t>
            </a:r>
            <a:r>
              <a:rPr lang="en-US" sz="1600" dirty="0">
                <a:solidFill>
                  <a:schemeClr val="bg1"/>
                </a:solidFill>
              </a:rPr>
              <a:t>Mêmes fichiers de valeurs Helm en local et en production : une seule source de vérité.</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DÉCISION D10 · LIVRAISON PROGRESSIVE</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D10 · Livrer sans tout risquer</a:t>
            </a:r>
            <a:endParaRPr lang="en-US" sz="3200" dirty="0"/>
          </a:p>
        </p:txBody>
      </p:sp>
      <p:sp>
        <p:nvSpPr>
          <p:cNvPr id="5" name="poids-v1-198"/>
          <p:cNvSpPr/>
          <p:nvPr/>
        </p:nvSpPr>
        <p:spPr>
          <a:xfrm>
            <a:off x="548640" y="1828800"/>
            <a:ext cx="9984974" cy="731520"/>
          </a:xfrm>
          <a:prstGeom prst="rect">
            <a:avLst/>
          </a:prstGeom>
          <a:solidFill>
            <a:schemeClr val="tx2"/>
          </a:solidFill>
          <a:ln/>
        </p:spPr>
      </p:sp>
      <p:sp>
        <p:nvSpPr>
          <p:cNvPr id="6" name="poids-v2-199"/>
          <p:cNvSpPr/>
          <p:nvPr/>
        </p:nvSpPr>
        <p:spPr>
          <a:xfrm>
            <a:off x="10533614" y="1828800"/>
            <a:ext cx="1109442" cy="731520"/>
          </a:xfrm>
          <a:prstGeom prst="rect">
            <a:avLst/>
          </a:prstGeom>
          <a:solidFill>
            <a:schemeClr val="accent1"/>
          </a:solidFill>
          <a:ln/>
        </p:spPr>
      </p:sp>
      <p:sp>
        <p:nvSpPr>
          <p:cNvPr id="7" name="texte-200"/>
          <p:cNvSpPr txBox="1"/>
          <p:nvPr/>
        </p:nvSpPr>
        <p:spPr>
          <a:xfrm>
            <a:off x="822960" y="1828800"/>
            <a:ext cx="5486400" cy="731520"/>
          </a:xfrm>
          <a:prstGeom prst="rect">
            <a:avLst/>
          </a:prstGeom>
          <a:noFill/>
          <a:ln/>
        </p:spPr>
        <p:txBody>
          <a:bodyPr wrap="square" lIns="0" tIns="0" rIns="0" bIns="0" rtlCol="0" anchor="ctr"/>
          <a:lstStyle/>
          <a:p>
            <a:pPr indent="0" marL="0">
              <a:buNone/>
            </a:pPr>
            <a:r>
              <a:rPr lang="en-US" sz="1800" b="1" dirty="0">
                <a:solidFill>
                  <a:schemeClr val="bg1"/>
                </a:solidFill>
              </a:rPr>
              <a:t>radar-api v1 · 90 %</a:t>
            </a:r>
            <a:endParaRPr lang="en-US" sz="1800" dirty="0"/>
          </a:p>
        </p:txBody>
      </p:sp>
      <p:sp>
        <p:nvSpPr>
          <p:cNvPr id="8" name="texte-201"/>
          <p:cNvSpPr txBox="1"/>
          <p:nvPr/>
        </p:nvSpPr>
        <p:spPr>
          <a:xfrm>
            <a:off x="10533614" y="1828800"/>
            <a:ext cx="1109442" cy="731520"/>
          </a:xfrm>
          <a:prstGeom prst="rect">
            <a:avLst/>
          </a:prstGeom>
          <a:noFill/>
          <a:ln/>
        </p:spPr>
        <p:txBody>
          <a:bodyPr wrap="square" lIns="0" tIns="0" rIns="0" bIns="0" rtlCol="0" anchor="ctr"/>
          <a:lstStyle/>
          <a:p>
            <a:pPr algn="ctr" indent="0" marL="0">
              <a:buNone/>
            </a:pPr>
            <a:r>
              <a:rPr lang="en-US" sz="1300" b="1" dirty="0">
                <a:solidFill>
                  <a:schemeClr val="tx2"/>
                </a:solidFill>
              </a:rPr>
              <a:t>v2 · 10 %</a:t>
            </a:r>
            <a:endParaRPr lang="en-US" sz="1300" dirty="0"/>
          </a:p>
        </p:txBody>
      </p:sp>
      <p:graphicFrame>
        <p:nvGraphicFramePr>
          <p:cNvPr id="17" name="tableau-202"/>
          <p:cNvGraphicFramePr>
            <a:graphicFrameLocks noGrp="1"/>
          </p:cNvGraphicFramePr>
          <p:nvPr>
            <p:extLst>
              <p:ext uri="{D42A27DB-BD31-4B8C-83A1-F6EECF244321}">
                <p14:modId xmlns:p14="http://schemas.microsoft.com/office/powerpoint/2010/main" val="1579011935"/>
              </p:ext>
            </p:extLst>
          </p:nvPr>
        </p:nvGraphicFramePr>
        <p:xfrm>
          <a:off x="548640" y="2834640"/>
          <a:ext cx="11094415" cy="914400"/>
        </p:xfrm>
        <a:graphic>
          <a:graphicData uri="http://schemas.openxmlformats.org/drawingml/2006/table">
            <a:tbl>
              <a:tblPr/>
              <a:tblGrid>
                <a:gridCol w="3474720"/>
                <a:gridCol w="5120640"/>
                <a:gridCol w="2496312"/>
              </a:tblGrid>
              <a:tr h="50292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Option</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Risque résiduel</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Coût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50292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Mise à jour progressive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Version défectueuse à 100 % en quelques minutes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Canari manuel Istio (retenu)</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BD8"/>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Dépend de la vigilance humaine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BD8"/>
                    </a:solidFill>
                  </a:tcPr>
                </a:tc>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rgbClr val="FDEBD8"/>
                    </a:solidFill>
                  </a:tcPr>
                </a:tc>
              </a:tr>
              <a:tr h="50292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Canari automatisé (Argo Rollouts)</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Faible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Outillage supplémentaire</a:t>
                      </a:r>
                      <a:endParaRPr lang="en-US" sz="14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bl>
          </a:graphicData>
        </a:graphic>
      </p:graphicFrame>
      <p:sp>
        <p:nvSpPr>
          <p:cNvPr id="10" name="code-203"/>
          <p:cNvSpPr/>
          <p:nvPr/>
        </p:nvSpPr>
        <p:spPr>
          <a:xfrm>
            <a:off x="548640" y="4983480"/>
            <a:ext cx="5486400" cy="1051560"/>
          </a:xfrm>
          <a:prstGeom prst="roundRect">
            <a:avLst>
              <a:gd name="adj" fmla="val 5217"/>
            </a:avLst>
          </a:prstGeom>
          <a:solidFill>
            <a:schemeClr val="tx2"/>
          </a:solidFill>
          <a:ln/>
        </p:spPr>
      </p:sp>
      <p:sp>
        <p:nvSpPr>
          <p:cNvPr id="11" name="code-texte-204"/>
          <p:cNvSpPr txBox="1"/>
          <p:nvPr/>
        </p:nvSpPr>
        <p:spPr>
          <a:xfrm>
            <a:off x="777240" y="5166360"/>
            <a:ext cx="5029200" cy="685800"/>
          </a:xfrm>
          <a:prstGeom prst="rect">
            <a:avLst/>
          </a:prstGeom>
          <a:noFill/>
          <a:ln/>
        </p:spPr>
        <p:txBody>
          <a:bodyPr wrap="square" lIns="0" tIns="0" rIns="0" bIns="0" rtlCol="0" anchor="t"/>
          <a:lstStyle/>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 </a:t>
            </a:r>
            <a:r>
              <a:rPr lang="en-US" sz="1300" dirty="0">
                <a:solidFill>
                  <a:schemeClr val="accent1"/>
                </a:solidFill>
                <a:latin typeface="Courier New" pitchFamily="34" charset="0"/>
                <a:ea typeface="Courier New" pitchFamily="34" charset="-122"/>
                <a:cs typeface="Courier New" pitchFamily="34" charset="-120"/>
              </a:rPr>
              <a:t># plateforme complète (annexe)</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make demo-canary    </a:t>
            </a:r>
            <a:r>
              <a:rPr lang="en-US" sz="1300" dirty="0">
                <a:solidFill>
                  <a:schemeClr val="accent1"/>
                </a:solidFill>
                <a:latin typeface="Courier New" pitchFamily="34" charset="0"/>
                <a:ea typeface="Courier New" pitchFamily="34" charset="-122"/>
                <a:cs typeface="Courier New" pitchFamily="34" charset="-120"/>
              </a:rPr>
              <a:t> # v2 à 10 %</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make demo-rollback  </a:t>
            </a:r>
            <a:r>
              <a:rPr lang="en-US" sz="1300" dirty="0">
                <a:solidFill>
                  <a:schemeClr val="accent1"/>
                </a:solidFill>
                <a:latin typeface="Courier New" pitchFamily="34" charset="0"/>
                <a:ea typeface="Courier New" pitchFamily="34" charset="-122"/>
                <a:cs typeface="Courier New" pitchFamily="34" charset="-120"/>
              </a:rPr>
              <a:t> # 100 % sur v1</a:t>
            </a:r>
            <a:endParaRPr lang="en-US" sz="1300" dirty="0"/>
          </a:p>
        </p:txBody>
      </p:sp>
      <p:sp>
        <p:nvSpPr>
          <p:cNvPr id="12" name="texte-205"/>
          <p:cNvSpPr txBox="1"/>
          <p:nvPr/>
        </p:nvSpPr>
        <p:spPr>
          <a:xfrm>
            <a:off x="6309360" y="4983480"/>
            <a:ext cx="5303520" cy="1051560"/>
          </a:xfrm>
          <a:prstGeom prst="rect">
            <a:avLst/>
          </a:prstGeom>
          <a:noFill/>
          <a:ln/>
        </p:spPr>
        <p:txBody>
          <a:bodyPr wrap="square" lIns="0" tIns="0" rIns="0" bIns="0" rtlCol="0" anchor="ctr"/>
          <a:lstStyle/>
          <a:p>
            <a:pPr indent="0" marL="0">
              <a:buNone/>
            </a:pPr>
            <a:r>
              <a:rPr lang="en-US" sz="1500" i="1" dirty="0">
                <a:solidFill>
                  <a:schemeClr val="accent5"/>
                </a:solidFill>
              </a:rPr>
              <a:t>Révision : &gt; 1 mise en production par semaine : Argo Rollouts</a:t>
            </a:r>
            <a:endParaRPr lang="en-US" sz="15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DÉCISIONS D11 À D13 · FRONT, SECRETS, SÉCURITÉ</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D11 · D12 · D13</a:t>
            </a:r>
            <a:endParaRPr lang="en-US" sz="3200" dirty="0"/>
          </a:p>
        </p:txBody>
      </p:sp>
      <p:sp>
        <p:nvSpPr>
          <p:cNvPr id="5" name="carte-206"/>
          <p:cNvSpPr/>
          <p:nvPr/>
        </p:nvSpPr>
        <p:spPr>
          <a:xfrm>
            <a:off x="548640" y="1645920"/>
            <a:ext cx="3566160" cy="2194560"/>
          </a:xfrm>
          <a:prstGeom prst="roundRect">
            <a:avLst>
              <a:gd name="adj" fmla="val 3333"/>
            </a:avLst>
          </a:prstGeom>
          <a:solidFill>
            <a:schemeClr val="bg1"/>
          </a:solidFill>
          <a:ln w="9525">
            <a:solidFill>
              <a:schemeClr val="accent6"/>
            </a:solidFill>
            <a:prstDash val="solid"/>
          </a:ln>
        </p:spPr>
      </p:sp>
      <p:sp>
        <p:nvSpPr>
          <p:cNvPr id="6" name="pastille-207"/>
          <p:cNvSpPr/>
          <p:nvPr/>
        </p:nvSpPr>
        <p:spPr>
          <a:xfrm>
            <a:off x="777240" y="1874520"/>
            <a:ext cx="548640" cy="548640"/>
          </a:xfrm>
          <a:prstGeom prst="ellipse">
            <a:avLst/>
          </a:prstGeom>
          <a:solidFill>
            <a:schemeClr val="accent1"/>
          </a:solidFill>
          <a:ln/>
        </p:spPr>
      </p:sp>
      <p:pic>
        <p:nvPicPr>
          <p:cNvPr id="7" name="icone-208" descr="preencoded.png">    </p:cNvPr>
          <p:cNvPicPr>
            <a:picLocks noChangeAspect="1"/>
          </p:cNvPicPr>
          <p:nvPr/>
        </p:nvPicPr>
        <p:blipFill>
          <a:blip r:embed="rId1"/>
          <a:stretch>
            <a:fillRect/>
          </a:stretch>
        </p:blipFill>
        <p:spPr>
          <a:xfrm>
            <a:off x="897941" y="1995221"/>
            <a:ext cx="307238" cy="307238"/>
          </a:xfrm>
          <a:prstGeom prst="rect">
            <a:avLst/>
          </a:prstGeom>
        </p:spPr>
      </p:pic>
      <p:sp>
        <p:nvSpPr>
          <p:cNvPr id="8" name="texte-209"/>
          <p:cNvSpPr txBox="1"/>
          <p:nvPr/>
        </p:nvSpPr>
        <p:spPr>
          <a:xfrm>
            <a:off x="1463040" y="1874520"/>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D11 · Angular 22</a:t>
            </a:r>
            <a:endParaRPr lang="en-US" sz="1700" dirty="0"/>
          </a:p>
        </p:txBody>
      </p:sp>
      <p:sp>
        <p:nvSpPr>
          <p:cNvPr id="9" name="texte-210"/>
          <p:cNvSpPr txBox="1"/>
          <p:nvPr/>
        </p:nvSpPr>
        <p:spPr>
          <a:xfrm>
            <a:off x="777240" y="2560320"/>
            <a:ext cx="3108960" cy="11430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Standard interne</a:t>
            </a:r>
            <a:endParaRPr lang="en-US" sz="1400" dirty="0"/>
          </a:p>
          <a:p>
            <a:pPr marL="203200" indent="-203200">
              <a:spcAft>
                <a:spcPts val="800"/>
              </a:spcAft>
              <a:buSzPct val="100000"/>
              <a:buChar char="•"/>
            </a:pPr>
            <a:r>
              <a:rPr lang="en-US" sz="1400" dirty="0">
                <a:solidFill>
                  <a:schemeClr val="tx1"/>
                </a:solidFill>
              </a:rPr>
              <a:t>Signaux, sans zone.js</a:t>
            </a:r>
            <a:endParaRPr lang="en-US" sz="1400" dirty="0"/>
          </a:p>
          <a:p>
            <a:pPr marL="203200" indent="-203200">
              <a:spcAft>
                <a:spcPts val="800"/>
              </a:spcAft>
              <a:buSzPct val="100000"/>
              <a:buChar char="•"/>
            </a:pPr>
            <a:r>
              <a:rPr lang="en-US" sz="1400" dirty="0">
                <a:solidFill>
                  <a:schemeClr val="tx1"/>
                </a:solidFill>
              </a:rPr>
              <a:t>nginx non privilégié, CSP</a:t>
            </a:r>
            <a:endParaRPr lang="en-US" sz="1400" dirty="0"/>
          </a:p>
        </p:txBody>
      </p:sp>
      <p:sp>
        <p:nvSpPr>
          <p:cNvPr id="10" name="carte-211"/>
          <p:cNvSpPr/>
          <p:nvPr/>
        </p:nvSpPr>
        <p:spPr>
          <a:xfrm>
            <a:off x="4315968" y="1645920"/>
            <a:ext cx="3566160" cy="2194560"/>
          </a:xfrm>
          <a:prstGeom prst="roundRect">
            <a:avLst>
              <a:gd name="adj" fmla="val 3333"/>
            </a:avLst>
          </a:prstGeom>
          <a:solidFill>
            <a:schemeClr val="bg1"/>
          </a:solidFill>
          <a:ln w="9525">
            <a:solidFill>
              <a:schemeClr val="accent6"/>
            </a:solidFill>
            <a:prstDash val="solid"/>
          </a:ln>
        </p:spPr>
      </p:sp>
      <p:sp>
        <p:nvSpPr>
          <p:cNvPr id="11" name="pastille-212"/>
          <p:cNvSpPr/>
          <p:nvPr/>
        </p:nvSpPr>
        <p:spPr>
          <a:xfrm>
            <a:off x="4544568" y="1874520"/>
            <a:ext cx="548640" cy="548640"/>
          </a:xfrm>
          <a:prstGeom prst="ellipse">
            <a:avLst/>
          </a:prstGeom>
          <a:solidFill>
            <a:schemeClr val="accent3"/>
          </a:solidFill>
          <a:ln/>
        </p:spPr>
      </p:sp>
      <p:pic>
        <p:nvPicPr>
          <p:cNvPr id="12" name="icone-213" descr="preencoded.png">    </p:cNvPr>
          <p:cNvPicPr>
            <a:picLocks noChangeAspect="1"/>
          </p:cNvPicPr>
          <p:nvPr/>
        </p:nvPicPr>
        <p:blipFill>
          <a:blip r:embed="rId2"/>
          <a:stretch>
            <a:fillRect/>
          </a:stretch>
        </p:blipFill>
        <p:spPr>
          <a:xfrm>
            <a:off x="4665269" y="1995221"/>
            <a:ext cx="307238" cy="307238"/>
          </a:xfrm>
          <a:prstGeom prst="rect">
            <a:avLst/>
          </a:prstGeom>
        </p:spPr>
      </p:pic>
      <p:sp>
        <p:nvSpPr>
          <p:cNvPr id="13" name="texte-214"/>
          <p:cNvSpPr txBox="1"/>
          <p:nvPr/>
        </p:nvSpPr>
        <p:spPr>
          <a:xfrm>
            <a:off x="5230368" y="1874520"/>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D12 · Secrets</a:t>
            </a:r>
            <a:endParaRPr lang="en-US" sz="1700" dirty="0"/>
          </a:p>
        </p:txBody>
      </p:sp>
      <p:sp>
        <p:nvSpPr>
          <p:cNvPr id="14" name="texte-215"/>
          <p:cNvSpPr txBox="1"/>
          <p:nvPr/>
        </p:nvSpPr>
        <p:spPr>
          <a:xfrm>
            <a:off x="4544568" y="2560320"/>
            <a:ext cx="3108960" cy="11430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External Secrets + coffre</a:t>
            </a:r>
            <a:endParaRPr lang="en-US" sz="1400" dirty="0"/>
          </a:p>
          <a:p>
            <a:pPr marL="203200" indent="-203200">
              <a:spcAft>
                <a:spcPts val="800"/>
              </a:spcAft>
              <a:buSzPct val="100000"/>
              <a:buChar char="•"/>
            </a:pPr>
            <a:r>
              <a:rPr lang="en-US" sz="1400" dirty="0">
                <a:solidFill>
                  <a:schemeClr val="tx1"/>
                </a:solidFill>
              </a:rPr>
              <a:t>Identifiants PG générés</a:t>
            </a:r>
            <a:endParaRPr lang="en-US" sz="1400" dirty="0"/>
          </a:p>
          <a:p>
            <a:pPr marL="203200" indent="-203200">
              <a:spcAft>
                <a:spcPts val="800"/>
              </a:spcAft>
              <a:buSzPct val="100000"/>
              <a:buChar char="•"/>
            </a:pPr>
            <a:r>
              <a:rPr lang="en-US" sz="1400" dirty="0">
                <a:solidFill>
                  <a:schemeClr val="tx1"/>
                </a:solidFill>
              </a:rPr>
              <a:t>Webhooks en fichiers montés</a:t>
            </a:r>
            <a:endParaRPr lang="en-US" sz="1400" dirty="0"/>
          </a:p>
        </p:txBody>
      </p:sp>
      <p:sp>
        <p:nvSpPr>
          <p:cNvPr id="15" name="carte-216"/>
          <p:cNvSpPr/>
          <p:nvPr/>
        </p:nvSpPr>
        <p:spPr>
          <a:xfrm>
            <a:off x="8074152" y="1645920"/>
            <a:ext cx="3566160" cy="2194560"/>
          </a:xfrm>
          <a:prstGeom prst="roundRect">
            <a:avLst>
              <a:gd name="adj" fmla="val 3333"/>
            </a:avLst>
          </a:prstGeom>
          <a:solidFill>
            <a:schemeClr val="bg1"/>
          </a:solidFill>
          <a:ln w="9525">
            <a:solidFill>
              <a:schemeClr val="accent6"/>
            </a:solidFill>
            <a:prstDash val="solid"/>
          </a:ln>
        </p:spPr>
      </p:sp>
      <p:sp>
        <p:nvSpPr>
          <p:cNvPr id="16" name="pastille-217"/>
          <p:cNvSpPr/>
          <p:nvPr/>
        </p:nvSpPr>
        <p:spPr>
          <a:xfrm>
            <a:off x="8302752" y="1874520"/>
            <a:ext cx="548640" cy="548640"/>
          </a:xfrm>
          <a:prstGeom prst="ellipse">
            <a:avLst/>
          </a:prstGeom>
          <a:solidFill>
            <a:schemeClr val="tx2"/>
          </a:solidFill>
          <a:ln/>
        </p:spPr>
      </p:sp>
      <p:pic>
        <p:nvPicPr>
          <p:cNvPr id="17" name="icone-218" descr="preencoded.png">    </p:cNvPr>
          <p:cNvPicPr>
            <a:picLocks noChangeAspect="1"/>
          </p:cNvPicPr>
          <p:nvPr/>
        </p:nvPicPr>
        <p:blipFill>
          <a:blip r:embed="rId3"/>
          <a:stretch>
            <a:fillRect/>
          </a:stretch>
        </p:blipFill>
        <p:spPr>
          <a:xfrm>
            <a:off x="8423453" y="1995221"/>
            <a:ext cx="307238" cy="307238"/>
          </a:xfrm>
          <a:prstGeom prst="rect">
            <a:avLst/>
          </a:prstGeom>
        </p:spPr>
      </p:pic>
      <p:sp>
        <p:nvSpPr>
          <p:cNvPr id="18" name="texte-219"/>
          <p:cNvSpPr txBox="1"/>
          <p:nvPr/>
        </p:nvSpPr>
        <p:spPr>
          <a:xfrm>
            <a:off x="8988552" y="1874520"/>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D13 · Sécurité</a:t>
            </a:r>
            <a:endParaRPr lang="en-US" sz="1700" dirty="0"/>
          </a:p>
        </p:txBody>
      </p:sp>
      <p:sp>
        <p:nvSpPr>
          <p:cNvPr id="19" name="texte-220"/>
          <p:cNvSpPr txBox="1"/>
          <p:nvPr/>
        </p:nvSpPr>
        <p:spPr>
          <a:xfrm>
            <a:off x="8302752" y="2560320"/>
            <a:ext cx="3108960" cy="11430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Une mesure par menace</a:t>
            </a:r>
            <a:endParaRPr lang="en-US" sz="1400" dirty="0"/>
          </a:p>
          <a:p>
            <a:pPr marL="203200" indent="-203200">
              <a:spcAft>
                <a:spcPts val="800"/>
              </a:spcAft>
              <a:buSzPct val="100000"/>
              <a:buChar char="•"/>
            </a:pPr>
            <a:r>
              <a:rPr lang="en-US" sz="1400" dirty="0">
                <a:solidFill>
                  <a:schemeClr val="tx1"/>
                </a:solidFill>
              </a:rPr>
              <a:t>Du pod à la chaîne CI</a:t>
            </a:r>
            <a:endParaRPr lang="en-US" sz="1400" dirty="0"/>
          </a:p>
          <a:p>
            <a:pPr marL="203200" indent="-203200">
              <a:spcAft>
                <a:spcPts val="800"/>
              </a:spcAft>
              <a:buSzPct val="100000"/>
              <a:buChar char="•"/>
            </a:pPr>
            <a:r>
              <a:rPr lang="en-US" sz="1400" dirty="0">
                <a:solidFill>
                  <a:schemeClr val="tx1"/>
                </a:solidFill>
              </a:rPr>
              <a:t>Voir tableau ci-dessous</a:t>
            </a:r>
            <a:endParaRPr lang="en-US" sz="1400" dirty="0"/>
          </a:p>
        </p:txBody>
      </p:sp>
      <p:graphicFrame>
        <p:nvGraphicFramePr>
          <p:cNvPr id="18" name="tableau-221"/>
          <p:cNvGraphicFramePr>
            <a:graphicFrameLocks noGrp="1"/>
          </p:cNvGraphicFramePr>
          <p:nvPr>
            <p:extLst>
              <p:ext uri="{D42A27DB-BD31-4B8C-83A1-F6EECF244321}">
                <p14:modId xmlns:p14="http://schemas.microsoft.com/office/powerpoint/2010/main" val="1579011935"/>
              </p:ext>
            </p:extLst>
          </p:nvPr>
        </p:nvGraphicFramePr>
        <p:xfrm>
          <a:off x="548640" y="4023360"/>
          <a:ext cx="11094415" cy="914400"/>
        </p:xfrm>
        <a:graphic>
          <a:graphicData uri="http://schemas.openxmlformats.org/drawingml/2006/table">
            <a:tbl>
              <a:tblPr/>
              <a:tblGrid>
                <a:gridCol w="2926080"/>
                <a:gridCol w="8165592"/>
              </a:tblGrid>
              <a:tr h="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Menace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Mesure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Évasion de conteneur</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Non root, lecture seule, capacités supprimées, Pod Security restricted</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Mouvement latéral</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deny-all Istio + règles par identité ; NetworkPolicy default-deny</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Exfiltration</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Sortie Internet en liste blanche (REGISTRY_ONLY + ServiceEntry)</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Image compromise</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Trivy bloquant, SBOM, signature cosign vérifiée à l'admission</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XXE, données personnelles</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Analyseur XML durci et testé ; masquage VRL</a:t>
                      </a:r>
                      <a:endParaRPr lang="en-US" sz="13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MISES EN SITUATION · DÉMONSTRATION</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 plateforme en fonctionnement</a:t>
            </a:r>
            <a:endParaRPr lang="en-US" sz="3200" dirty="0"/>
          </a:p>
        </p:txBody>
      </p:sp>
      <p:sp>
        <p:nvSpPr>
          <p:cNvPr id="5" name="code-222"/>
          <p:cNvSpPr/>
          <p:nvPr/>
        </p:nvSpPr>
        <p:spPr>
          <a:xfrm>
            <a:off x="548640" y="1645920"/>
            <a:ext cx="6766560" cy="3017520"/>
          </a:xfrm>
          <a:prstGeom prst="roundRect">
            <a:avLst>
              <a:gd name="adj" fmla="val 1818"/>
            </a:avLst>
          </a:prstGeom>
          <a:solidFill>
            <a:schemeClr val="tx2"/>
          </a:solidFill>
          <a:ln/>
        </p:spPr>
      </p:sp>
      <p:sp>
        <p:nvSpPr>
          <p:cNvPr id="6" name="code-texte-223"/>
          <p:cNvSpPr txBox="1"/>
          <p:nvPr/>
        </p:nvSpPr>
        <p:spPr>
          <a:xfrm>
            <a:off x="777240" y="1828800"/>
            <a:ext cx="6309360" cy="2651760"/>
          </a:xfrm>
          <a:prstGeom prst="rect">
            <a:avLst/>
          </a:prstGeom>
          <a:noFill/>
          <a:ln/>
        </p:spPr>
        <p:txBody>
          <a:bodyPr wrap="square" lIns="0" tIns="0" rIns="0" bIns="0" rtlCol="0" anchor="t"/>
          <a:lstStyle/>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cd demo</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make up-complet              </a:t>
            </a:r>
            <a:r>
              <a:rPr lang="en-US" sz="1300" dirty="0">
                <a:solidFill>
                  <a:schemeClr val="accent1"/>
                </a:solidFill>
                <a:latin typeface="Courier New" pitchFamily="34" charset="0"/>
                <a:ea typeface="Courier New" pitchFamily="34" charset="-122"/>
                <a:cs typeface="Courier New" pitchFamily="34" charset="-120"/>
              </a:rPr>
              <a:t> # application + observabilité</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open http://localhost:8088   </a:t>
            </a:r>
            <a:r>
              <a:rPr lang="en-US" sz="1300" dirty="0">
                <a:solidFill>
                  <a:schemeClr val="accent1"/>
                </a:solidFill>
                <a:latin typeface="Courier New" pitchFamily="34" charset="0"/>
                <a:ea typeface="Courier New" pitchFamily="34" charset="-122"/>
                <a:cs typeface="Courier New" pitchFamily="34" charset="-120"/>
              </a:rPr>
              <a:t> # radar (front Angular)</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open http://localhost:3000   </a:t>
            </a:r>
            <a:r>
              <a:rPr lang="en-US" sz="1300" dirty="0">
                <a:solidFill>
                  <a:schemeClr val="accent1"/>
                </a:solidFill>
                <a:latin typeface="Courier New" pitchFamily="34" charset="0"/>
                <a:ea typeface="Courier New" pitchFamily="34" charset="-122"/>
                <a:cs typeface="Courier New" pitchFamily="34" charset="-120"/>
              </a:rPr>
              <a:t> # Grafana</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open http://localhost:9093   </a:t>
            </a:r>
            <a:r>
              <a:rPr lang="en-US" sz="1300" dirty="0">
                <a:solidFill>
                  <a:schemeClr val="accent1"/>
                </a:solidFill>
                <a:latin typeface="Courier New" pitchFamily="34" charset="0"/>
                <a:ea typeface="Courier New" pitchFamily="34" charset="-122"/>
                <a:cs typeface="Courier New" pitchFamily="34" charset="-120"/>
              </a:rPr>
              <a:t> # Alertmanager</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make charge                  </a:t>
            </a:r>
            <a:r>
              <a:rPr lang="en-US" sz="1300" dirty="0">
                <a:solidFill>
                  <a:schemeClr val="accent1"/>
                </a:solidFill>
                <a:latin typeface="Courier New" pitchFamily="34" charset="0"/>
                <a:ea typeface="Courier New" pitchFamily="34" charset="-122"/>
                <a:cs typeface="Courier New" pitchFamily="34" charset="-120"/>
              </a:rPr>
              <a:t> # trafic sur l'API (2 min)</a:t>
            </a:r>
            <a:endParaRPr lang="en-US" sz="1300" dirty="0"/>
          </a:p>
        </p:txBody>
      </p:sp>
      <p:sp>
        <p:nvSpPr>
          <p:cNvPr id="7" name="carte-224"/>
          <p:cNvSpPr/>
          <p:nvPr/>
        </p:nvSpPr>
        <p:spPr>
          <a:xfrm>
            <a:off x="7571232" y="1645920"/>
            <a:ext cx="4069080" cy="1143000"/>
          </a:xfrm>
          <a:prstGeom prst="roundRect">
            <a:avLst>
              <a:gd name="adj" fmla="val 6400"/>
            </a:avLst>
          </a:prstGeom>
          <a:solidFill>
            <a:schemeClr val="bg1"/>
          </a:solidFill>
          <a:ln w="9525">
            <a:solidFill>
              <a:schemeClr val="accent6"/>
            </a:solidFill>
            <a:prstDash val="solid"/>
          </a:ln>
        </p:spPr>
      </p:sp>
      <p:sp>
        <p:nvSpPr>
          <p:cNvPr id="8" name="pastille-225"/>
          <p:cNvSpPr/>
          <p:nvPr/>
        </p:nvSpPr>
        <p:spPr>
          <a:xfrm>
            <a:off x="7799832" y="1874520"/>
            <a:ext cx="548640" cy="548640"/>
          </a:xfrm>
          <a:prstGeom prst="ellipse">
            <a:avLst/>
          </a:prstGeom>
          <a:solidFill>
            <a:schemeClr val="accent1"/>
          </a:solidFill>
          <a:ln/>
        </p:spPr>
      </p:sp>
      <p:pic>
        <p:nvPicPr>
          <p:cNvPr id="9" name="icone-226" descr="preencoded.png">    </p:cNvPr>
          <p:cNvPicPr>
            <a:picLocks noChangeAspect="1"/>
          </p:cNvPicPr>
          <p:nvPr/>
        </p:nvPicPr>
        <p:blipFill>
          <a:blip r:embed="rId1"/>
          <a:stretch>
            <a:fillRect/>
          </a:stretch>
        </p:blipFill>
        <p:spPr>
          <a:xfrm>
            <a:off x="7920533" y="1995221"/>
            <a:ext cx="307238" cy="307238"/>
          </a:xfrm>
          <a:prstGeom prst="rect">
            <a:avLst/>
          </a:prstGeom>
        </p:spPr>
      </p:pic>
      <p:sp>
        <p:nvSpPr>
          <p:cNvPr id="10" name="texte-227"/>
          <p:cNvSpPr txBox="1"/>
          <p:nvPr/>
        </p:nvSpPr>
        <p:spPr>
          <a:xfrm>
            <a:off x="8485632" y="1874520"/>
            <a:ext cx="2971800" cy="548640"/>
          </a:xfrm>
          <a:prstGeom prst="rect">
            <a:avLst/>
          </a:prstGeom>
          <a:noFill/>
          <a:ln/>
        </p:spPr>
        <p:txBody>
          <a:bodyPr wrap="square" lIns="0" tIns="0" rIns="0" bIns="0" rtlCol="0" anchor="ctr"/>
          <a:lstStyle/>
          <a:p>
            <a:pPr indent="0" marL="0">
              <a:buNone/>
            </a:pPr>
            <a:r>
              <a:rPr lang="en-US" sz="1700" b="1" dirty="0">
                <a:solidFill>
                  <a:schemeClr val="tx2"/>
                </a:solidFill>
              </a:rPr>
              <a:t>Radar</a:t>
            </a:r>
            <a:endParaRPr lang="en-US" sz="1700" dirty="0"/>
          </a:p>
        </p:txBody>
      </p:sp>
      <p:sp>
        <p:nvSpPr>
          <p:cNvPr id="11" name="texte-228"/>
          <p:cNvSpPr txBox="1"/>
          <p:nvPr/>
        </p:nvSpPr>
        <p:spPr>
          <a:xfrm>
            <a:off x="7799832" y="2560320"/>
            <a:ext cx="3611880" cy="91440"/>
          </a:xfrm>
          <a:prstGeom prst="rect">
            <a:avLst/>
          </a:prstGeom>
          <a:noFill/>
          <a:ln/>
        </p:spPr>
        <p:txBody>
          <a:bodyPr wrap="square" lIns="0" tIns="0" rIns="0" bIns="0" rtlCol="0" anchor="t"/>
          <a:lstStyle/>
          <a:p>
            <a:pPr indent="0" marL="0">
              <a:buNone/>
            </a:pPr>
            <a:r>
              <a:rPr lang="en-US" sz="1300" dirty="0">
                <a:solidFill>
                  <a:schemeClr val="tx1"/>
                </a:solidFill>
              </a:rPr>
              <a:t>sujets, verdicts, signaux</a:t>
            </a:r>
            <a:endParaRPr lang="en-US" sz="1300" dirty="0"/>
          </a:p>
        </p:txBody>
      </p:sp>
      <p:sp>
        <p:nvSpPr>
          <p:cNvPr id="12" name="carte-229"/>
          <p:cNvSpPr/>
          <p:nvPr/>
        </p:nvSpPr>
        <p:spPr>
          <a:xfrm>
            <a:off x="7571232" y="2907792"/>
            <a:ext cx="4069080" cy="1143000"/>
          </a:xfrm>
          <a:prstGeom prst="roundRect">
            <a:avLst>
              <a:gd name="adj" fmla="val 6400"/>
            </a:avLst>
          </a:prstGeom>
          <a:solidFill>
            <a:schemeClr val="bg1"/>
          </a:solidFill>
          <a:ln w="9525">
            <a:solidFill>
              <a:schemeClr val="accent6"/>
            </a:solidFill>
            <a:prstDash val="solid"/>
          </a:ln>
        </p:spPr>
      </p:sp>
      <p:sp>
        <p:nvSpPr>
          <p:cNvPr id="13" name="pastille-230"/>
          <p:cNvSpPr/>
          <p:nvPr/>
        </p:nvSpPr>
        <p:spPr>
          <a:xfrm>
            <a:off x="7799832" y="3136392"/>
            <a:ext cx="548640" cy="548640"/>
          </a:xfrm>
          <a:prstGeom prst="ellipse">
            <a:avLst/>
          </a:prstGeom>
          <a:solidFill>
            <a:schemeClr val="accent3"/>
          </a:solidFill>
          <a:ln/>
        </p:spPr>
      </p:sp>
      <p:pic>
        <p:nvPicPr>
          <p:cNvPr id="14" name="icone-231" descr="preencoded.png">    </p:cNvPr>
          <p:cNvPicPr>
            <a:picLocks noChangeAspect="1"/>
          </p:cNvPicPr>
          <p:nvPr/>
        </p:nvPicPr>
        <p:blipFill>
          <a:blip r:embed="rId2"/>
          <a:stretch>
            <a:fillRect/>
          </a:stretch>
        </p:blipFill>
        <p:spPr>
          <a:xfrm>
            <a:off x="7920533" y="3257093"/>
            <a:ext cx="307238" cy="307238"/>
          </a:xfrm>
          <a:prstGeom prst="rect">
            <a:avLst/>
          </a:prstGeom>
        </p:spPr>
      </p:pic>
      <p:sp>
        <p:nvSpPr>
          <p:cNvPr id="15" name="texte-232"/>
          <p:cNvSpPr txBox="1"/>
          <p:nvPr/>
        </p:nvSpPr>
        <p:spPr>
          <a:xfrm>
            <a:off x="8485632" y="3136392"/>
            <a:ext cx="2971800" cy="548640"/>
          </a:xfrm>
          <a:prstGeom prst="rect">
            <a:avLst/>
          </a:prstGeom>
          <a:noFill/>
          <a:ln/>
        </p:spPr>
        <p:txBody>
          <a:bodyPr wrap="square" lIns="0" tIns="0" rIns="0" bIns="0" rtlCol="0" anchor="ctr"/>
          <a:lstStyle/>
          <a:p>
            <a:pPr indent="0" marL="0">
              <a:buNone/>
            </a:pPr>
            <a:r>
              <a:rPr lang="en-US" sz="1700" b="1" dirty="0">
                <a:solidFill>
                  <a:schemeClr val="tx2"/>
                </a:solidFill>
              </a:rPr>
              <a:t>Grafana</a:t>
            </a:r>
            <a:endParaRPr lang="en-US" sz="1700" dirty="0"/>
          </a:p>
        </p:txBody>
      </p:sp>
      <p:sp>
        <p:nvSpPr>
          <p:cNvPr id="16" name="texte-233"/>
          <p:cNvSpPr txBox="1"/>
          <p:nvPr/>
        </p:nvSpPr>
        <p:spPr>
          <a:xfrm>
            <a:off x="7799832" y="3822192"/>
            <a:ext cx="3611880" cy="91440"/>
          </a:xfrm>
          <a:prstGeom prst="rect">
            <a:avLst/>
          </a:prstGeom>
          <a:noFill/>
          <a:ln/>
        </p:spPr>
        <p:txBody>
          <a:bodyPr wrap="square" lIns="0" tIns="0" rIns="0" bIns="0" rtlCol="0" anchor="t"/>
          <a:lstStyle/>
          <a:p>
            <a:pPr indent="0" marL="0">
              <a:buNone/>
            </a:pPr>
            <a:r>
              <a:rPr lang="en-US" sz="1300" dirty="0">
                <a:solidFill>
                  <a:schemeClr val="tx1"/>
                </a:solidFill>
              </a:rPr>
              <a:t>métriques, collecte, Loki</a:t>
            </a:r>
            <a:endParaRPr lang="en-US" sz="1300" dirty="0"/>
          </a:p>
        </p:txBody>
      </p:sp>
      <p:sp>
        <p:nvSpPr>
          <p:cNvPr id="17" name="carte-234"/>
          <p:cNvSpPr/>
          <p:nvPr/>
        </p:nvSpPr>
        <p:spPr>
          <a:xfrm>
            <a:off x="7571232" y="4169664"/>
            <a:ext cx="4069080" cy="1143000"/>
          </a:xfrm>
          <a:prstGeom prst="roundRect">
            <a:avLst>
              <a:gd name="adj" fmla="val 6400"/>
            </a:avLst>
          </a:prstGeom>
          <a:solidFill>
            <a:schemeClr val="bg1"/>
          </a:solidFill>
          <a:ln w="9525">
            <a:solidFill>
              <a:schemeClr val="accent6"/>
            </a:solidFill>
            <a:prstDash val="solid"/>
          </a:ln>
        </p:spPr>
      </p:sp>
      <p:sp>
        <p:nvSpPr>
          <p:cNvPr id="18" name="pastille-235"/>
          <p:cNvSpPr/>
          <p:nvPr/>
        </p:nvSpPr>
        <p:spPr>
          <a:xfrm>
            <a:off x="7799832" y="4398264"/>
            <a:ext cx="548640" cy="548640"/>
          </a:xfrm>
          <a:prstGeom prst="ellipse">
            <a:avLst/>
          </a:prstGeom>
          <a:solidFill>
            <a:schemeClr val="tx2"/>
          </a:solidFill>
          <a:ln/>
        </p:spPr>
      </p:sp>
      <p:pic>
        <p:nvPicPr>
          <p:cNvPr id="19" name="icone-236" descr="preencoded.png">    </p:cNvPr>
          <p:cNvPicPr>
            <a:picLocks noChangeAspect="1"/>
          </p:cNvPicPr>
          <p:nvPr/>
        </p:nvPicPr>
        <p:blipFill>
          <a:blip r:embed="rId3"/>
          <a:stretch>
            <a:fillRect/>
          </a:stretch>
        </p:blipFill>
        <p:spPr>
          <a:xfrm>
            <a:off x="7920533" y="4518965"/>
            <a:ext cx="307238" cy="307238"/>
          </a:xfrm>
          <a:prstGeom prst="rect">
            <a:avLst/>
          </a:prstGeom>
        </p:spPr>
      </p:pic>
      <p:sp>
        <p:nvSpPr>
          <p:cNvPr id="20" name="texte-237"/>
          <p:cNvSpPr txBox="1"/>
          <p:nvPr/>
        </p:nvSpPr>
        <p:spPr>
          <a:xfrm>
            <a:off x="8485632" y="4398264"/>
            <a:ext cx="2971800" cy="548640"/>
          </a:xfrm>
          <a:prstGeom prst="rect">
            <a:avLst/>
          </a:prstGeom>
          <a:noFill/>
          <a:ln/>
        </p:spPr>
        <p:txBody>
          <a:bodyPr wrap="square" lIns="0" tIns="0" rIns="0" bIns="0" rtlCol="0" anchor="ctr"/>
          <a:lstStyle/>
          <a:p>
            <a:pPr indent="0" marL="0">
              <a:buNone/>
            </a:pPr>
            <a:r>
              <a:rPr lang="en-US" sz="1700" b="1" dirty="0">
                <a:solidFill>
                  <a:schemeClr val="tx2"/>
                </a:solidFill>
              </a:rPr>
              <a:t>Alertmanager</a:t>
            </a:r>
            <a:endParaRPr lang="en-US" sz="1700" dirty="0"/>
          </a:p>
        </p:txBody>
      </p:sp>
      <p:sp>
        <p:nvSpPr>
          <p:cNvPr id="21" name="texte-238"/>
          <p:cNvSpPr txBox="1"/>
          <p:nvPr/>
        </p:nvSpPr>
        <p:spPr>
          <a:xfrm>
            <a:off x="7799832" y="5084064"/>
            <a:ext cx="3611880" cy="91440"/>
          </a:xfrm>
          <a:prstGeom prst="rect">
            <a:avLst/>
          </a:prstGeom>
          <a:noFill/>
          <a:ln/>
        </p:spPr>
        <p:txBody>
          <a:bodyPr wrap="square" lIns="0" tIns="0" rIns="0" bIns="0" rtlCol="0" anchor="t"/>
          <a:lstStyle/>
          <a:p>
            <a:pPr indent="0" marL="0">
              <a:buNone/>
            </a:pPr>
            <a:r>
              <a:rPr lang="en-US" sz="1300" dirty="0">
                <a:solidFill>
                  <a:schemeClr val="tx1"/>
                </a:solidFill>
              </a:rPr>
              <a:t>routes par destinataire</a:t>
            </a:r>
            <a:endParaRPr lang="en-US" sz="1300" dirty="0"/>
          </a:p>
        </p:txBody>
      </p:sp>
      <p:sp>
        <p:nvSpPr>
          <p:cNvPr id="22" name="carte-239"/>
          <p:cNvSpPr/>
          <p:nvPr/>
        </p:nvSpPr>
        <p:spPr>
          <a:xfrm>
            <a:off x="548640" y="5440680"/>
            <a:ext cx="11094415" cy="548640"/>
          </a:xfrm>
          <a:prstGeom prst="roundRect">
            <a:avLst>
              <a:gd name="adj" fmla="val 13333"/>
            </a:avLst>
          </a:prstGeom>
          <a:solidFill>
            <a:schemeClr val="tx2"/>
          </a:solidFill>
          <a:ln w="9525">
            <a:solidFill>
              <a:schemeClr val="tx2"/>
            </a:solidFill>
            <a:prstDash val="solid"/>
          </a:ln>
        </p:spPr>
      </p:sp>
      <p:sp>
        <p:nvSpPr>
          <p:cNvPr id="23" name="texte-240"/>
          <p:cNvSpPr txBox="1"/>
          <p:nvPr/>
        </p:nvSpPr>
        <p:spPr>
          <a:xfrm>
            <a:off x="822960" y="5440680"/>
            <a:ext cx="10545775" cy="548640"/>
          </a:xfrm>
          <a:prstGeom prst="rect">
            <a:avLst/>
          </a:prstGeom>
          <a:noFill/>
          <a:ln/>
        </p:spPr>
        <p:txBody>
          <a:bodyPr wrap="square" lIns="0" tIns="0" rIns="0" bIns="0" rtlCol="0" anchor="ctr"/>
          <a:lstStyle/>
          <a:p>
            <a:pPr indent="0" marL="0">
              <a:buNone/>
            </a:pPr>
            <a:r>
              <a:rPr lang="en-US" sz="1600" b="1" dirty="0">
                <a:solidFill>
                  <a:schemeClr val="accent1"/>
                </a:solidFill>
              </a:rPr>
              <a:t>Décision  </a:t>
            </a:r>
            <a:r>
              <a:rPr lang="en-US" sz="1600" dirty="0">
                <a:solidFill>
                  <a:schemeClr val="bg1"/>
                </a:solidFill>
              </a:rPr>
              <a:t>Démo sous Docker Compose ; maillage Istio et cluster PostgreSQL présentés par lecture des manifestes (annexe plateforme).</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DÉMONSTRATION · ISOLATION DES PANNES (D1, S3)</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Le collecteur tombe, le radar tient</a:t>
            </a:r>
            <a:endParaRPr lang="en-US" sz="3200" dirty="0"/>
          </a:p>
        </p:txBody>
      </p:sp>
      <p:sp>
        <p:nvSpPr>
          <p:cNvPr id="5" name="etape-241"/>
          <p:cNvSpPr/>
          <p:nvPr/>
        </p:nvSpPr>
        <p:spPr>
          <a:xfrm>
            <a:off x="548640" y="1828800"/>
            <a:ext cx="2306665" cy="731520"/>
          </a:xfrm>
          <a:prstGeom prst="pentagon">
            <a:avLst/>
          </a:prstGeom>
          <a:solidFill>
            <a:schemeClr val="accent4"/>
          </a:solidFill>
          <a:ln/>
        </p:spPr>
      </p:sp>
      <p:sp>
        <p:nvSpPr>
          <p:cNvPr id="6" name="texte-242"/>
          <p:cNvSpPr txBox="1"/>
          <p:nvPr/>
        </p:nvSpPr>
        <p:spPr>
          <a:xfrm>
            <a:off x="640080" y="1828800"/>
            <a:ext cx="1849465" cy="731520"/>
          </a:xfrm>
          <a:prstGeom prst="rect">
            <a:avLst/>
          </a:prstGeom>
          <a:noFill/>
          <a:ln/>
        </p:spPr>
        <p:txBody>
          <a:bodyPr wrap="square" lIns="0" tIns="0" rIns="0" bIns="0" rtlCol="0" anchor="ctr"/>
          <a:lstStyle/>
          <a:p>
            <a:pPr algn="ctr" indent="0" marL="0">
              <a:buNone/>
            </a:pPr>
            <a:r>
              <a:rPr lang="en-US" sz="1300" b="1" dirty="0">
                <a:solidFill>
                  <a:schemeClr val="bg1"/>
                </a:solidFill>
              </a:rPr>
              <a:t>Arrêt du collecteur</a:t>
            </a:r>
            <a:endParaRPr lang="en-US" sz="1300" dirty="0"/>
          </a:p>
        </p:txBody>
      </p:sp>
      <p:sp>
        <p:nvSpPr>
          <p:cNvPr id="7" name="etape-243"/>
          <p:cNvSpPr/>
          <p:nvPr/>
        </p:nvSpPr>
        <p:spPr>
          <a:xfrm>
            <a:off x="2745577" y="1828800"/>
            <a:ext cx="2306665" cy="731520"/>
          </a:xfrm>
          <a:prstGeom prst="chevron">
            <a:avLst/>
          </a:prstGeom>
          <a:solidFill>
            <a:schemeClr val="accent3"/>
          </a:solidFill>
          <a:ln/>
        </p:spPr>
      </p:sp>
      <p:sp>
        <p:nvSpPr>
          <p:cNvPr id="8" name="texte-244"/>
          <p:cNvSpPr txBox="1"/>
          <p:nvPr/>
        </p:nvSpPr>
        <p:spPr>
          <a:xfrm>
            <a:off x="3038185" y="1828800"/>
            <a:ext cx="1849465" cy="731520"/>
          </a:xfrm>
          <a:prstGeom prst="rect">
            <a:avLst/>
          </a:prstGeom>
          <a:noFill/>
          <a:ln/>
        </p:spPr>
        <p:txBody>
          <a:bodyPr wrap="square" lIns="0" tIns="0" rIns="0" bIns="0" rtlCol="0" anchor="ctr"/>
          <a:lstStyle/>
          <a:p>
            <a:pPr algn="ctr" indent="0" marL="0">
              <a:buNone/>
            </a:pPr>
            <a:r>
              <a:rPr lang="en-US" sz="1300" b="1" dirty="0">
                <a:solidFill>
                  <a:schemeClr val="bg1"/>
                </a:solidFill>
              </a:rPr>
              <a:t>Radar consultable</a:t>
            </a:r>
            <a:endParaRPr lang="en-US" sz="1300" dirty="0"/>
          </a:p>
        </p:txBody>
      </p:sp>
      <p:sp>
        <p:nvSpPr>
          <p:cNvPr id="9" name="etape-245"/>
          <p:cNvSpPr/>
          <p:nvPr/>
        </p:nvSpPr>
        <p:spPr>
          <a:xfrm>
            <a:off x="4942515" y="1828800"/>
            <a:ext cx="2306665" cy="731520"/>
          </a:xfrm>
          <a:prstGeom prst="chevron">
            <a:avLst/>
          </a:prstGeom>
          <a:solidFill>
            <a:schemeClr val="accent1"/>
          </a:solidFill>
          <a:ln/>
        </p:spPr>
      </p:sp>
      <p:sp>
        <p:nvSpPr>
          <p:cNvPr id="10" name="texte-246"/>
          <p:cNvSpPr txBox="1"/>
          <p:nvPr/>
        </p:nvSpPr>
        <p:spPr>
          <a:xfrm>
            <a:off x="5235123" y="1828800"/>
            <a:ext cx="1849465" cy="731520"/>
          </a:xfrm>
          <a:prstGeom prst="rect">
            <a:avLst/>
          </a:prstGeom>
          <a:noFill/>
          <a:ln/>
        </p:spPr>
        <p:txBody>
          <a:bodyPr wrap="square" lIns="0" tIns="0" rIns="0" bIns="0" rtlCol="0" anchor="ctr"/>
          <a:lstStyle/>
          <a:p>
            <a:pPr algn="ctr" indent="0" marL="0">
              <a:buNone/>
            </a:pPr>
            <a:r>
              <a:rPr lang="en-US" sz="1300" b="1" dirty="0">
                <a:solidFill>
                  <a:schemeClr val="tx2"/>
                </a:solidFill>
              </a:rPr>
              <a:t>Veille figée</a:t>
            </a:r>
            <a:endParaRPr lang="en-US" sz="1300" dirty="0"/>
          </a:p>
        </p:txBody>
      </p:sp>
      <p:sp>
        <p:nvSpPr>
          <p:cNvPr id="11" name="etape-247"/>
          <p:cNvSpPr/>
          <p:nvPr/>
        </p:nvSpPr>
        <p:spPr>
          <a:xfrm>
            <a:off x="7139452" y="1828800"/>
            <a:ext cx="2306665" cy="731520"/>
          </a:xfrm>
          <a:prstGeom prst="chevron">
            <a:avLst/>
          </a:prstGeom>
          <a:solidFill>
            <a:schemeClr val="accent2"/>
          </a:solidFill>
          <a:ln/>
        </p:spPr>
      </p:sp>
      <p:sp>
        <p:nvSpPr>
          <p:cNvPr id="12" name="texte-248"/>
          <p:cNvSpPr txBox="1"/>
          <p:nvPr/>
        </p:nvSpPr>
        <p:spPr>
          <a:xfrm>
            <a:off x="7432060" y="1828800"/>
            <a:ext cx="1849465" cy="731520"/>
          </a:xfrm>
          <a:prstGeom prst="rect">
            <a:avLst/>
          </a:prstGeom>
          <a:noFill/>
          <a:ln/>
        </p:spPr>
        <p:txBody>
          <a:bodyPr wrap="square" lIns="0" tIns="0" rIns="0" bIns="0" rtlCol="0" anchor="ctr"/>
          <a:lstStyle/>
          <a:p>
            <a:pPr algn="ctr" indent="0" marL="0">
              <a:buNone/>
            </a:pPr>
            <a:r>
              <a:rPr lang="en-US" sz="1300" b="1" dirty="0">
                <a:solidFill>
                  <a:schemeClr val="tx2"/>
                </a:solidFill>
              </a:rPr>
              <a:t>Alerte en ~1 min</a:t>
            </a:r>
            <a:endParaRPr lang="en-US" sz="1300" dirty="0"/>
          </a:p>
        </p:txBody>
      </p:sp>
      <p:sp>
        <p:nvSpPr>
          <p:cNvPr id="13" name="etape-249"/>
          <p:cNvSpPr/>
          <p:nvPr/>
        </p:nvSpPr>
        <p:spPr>
          <a:xfrm>
            <a:off x="9336390" y="1828800"/>
            <a:ext cx="2306665" cy="731520"/>
          </a:xfrm>
          <a:prstGeom prst="chevron">
            <a:avLst/>
          </a:prstGeom>
          <a:solidFill>
            <a:schemeClr val="tx2"/>
          </a:solidFill>
          <a:ln/>
        </p:spPr>
      </p:sp>
      <p:sp>
        <p:nvSpPr>
          <p:cNvPr id="14" name="texte-250"/>
          <p:cNvSpPr txBox="1"/>
          <p:nvPr/>
        </p:nvSpPr>
        <p:spPr>
          <a:xfrm>
            <a:off x="9628998" y="1828800"/>
            <a:ext cx="1849465" cy="731520"/>
          </a:xfrm>
          <a:prstGeom prst="rect">
            <a:avLst/>
          </a:prstGeom>
          <a:noFill/>
          <a:ln/>
        </p:spPr>
        <p:txBody>
          <a:bodyPr wrap="square" lIns="0" tIns="0" rIns="0" bIns="0" rtlCol="0" anchor="ctr"/>
          <a:lstStyle/>
          <a:p>
            <a:pPr algn="ctr" indent="0" marL="0">
              <a:buNone/>
            </a:pPr>
            <a:r>
              <a:rPr lang="en-US" sz="1300" b="1" dirty="0">
                <a:solidFill>
                  <a:schemeClr val="bg1"/>
                </a:solidFill>
              </a:rPr>
              <a:t>Canal ops</a:t>
            </a:r>
            <a:endParaRPr lang="en-US" sz="1300" dirty="0"/>
          </a:p>
        </p:txBody>
      </p:sp>
      <p:sp>
        <p:nvSpPr>
          <p:cNvPr id="15" name="carte-251"/>
          <p:cNvSpPr/>
          <p:nvPr/>
        </p:nvSpPr>
        <p:spPr>
          <a:xfrm>
            <a:off x="548640" y="2926080"/>
            <a:ext cx="3566160" cy="1554480"/>
          </a:xfrm>
          <a:prstGeom prst="roundRect">
            <a:avLst>
              <a:gd name="adj" fmla="val 4706"/>
            </a:avLst>
          </a:prstGeom>
          <a:solidFill>
            <a:schemeClr val="bg1"/>
          </a:solidFill>
          <a:ln w="9525">
            <a:solidFill>
              <a:schemeClr val="accent6"/>
            </a:solidFill>
            <a:prstDash val="solid"/>
          </a:ln>
        </p:spPr>
      </p:sp>
      <p:sp>
        <p:nvSpPr>
          <p:cNvPr id="16" name="texte-252"/>
          <p:cNvSpPr txBox="1"/>
          <p:nvPr/>
        </p:nvSpPr>
        <p:spPr>
          <a:xfrm>
            <a:off x="822960" y="3017520"/>
            <a:ext cx="301752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API ET FRONT</a:t>
            </a:r>
            <a:endParaRPr lang="en-US" sz="1100" dirty="0"/>
          </a:p>
        </p:txBody>
      </p:sp>
      <p:sp>
        <p:nvSpPr>
          <p:cNvPr id="17" name="texte-253"/>
          <p:cNvSpPr txBox="1"/>
          <p:nvPr/>
        </p:nvSpPr>
        <p:spPr>
          <a:xfrm>
            <a:off x="822960" y="3291840"/>
            <a:ext cx="301752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en service</a:t>
            </a:r>
            <a:endParaRPr lang="en-US" sz="3000" dirty="0"/>
          </a:p>
        </p:txBody>
      </p:sp>
      <p:sp>
        <p:nvSpPr>
          <p:cNvPr id="18" name="texte-254"/>
          <p:cNvSpPr txBox="1"/>
          <p:nvPr/>
        </p:nvSpPr>
        <p:spPr>
          <a:xfrm>
            <a:off x="822960" y="3977640"/>
            <a:ext cx="3017520" cy="411480"/>
          </a:xfrm>
          <a:prstGeom prst="rect">
            <a:avLst/>
          </a:prstGeom>
          <a:noFill/>
          <a:ln/>
        </p:spPr>
        <p:txBody>
          <a:bodyPr wrap="square" lIns="0" tIns="0" rIns="0" bIns="0" rtlCol="0" anchor="t"/>
          <a:lstStyle/>
          <a:p>
            <a:pPr indent="0" marL="0">
              <a:buNone/>
            </a:pPr>
            <a:r>
              <a:rPr lang="en-US" sz="1300" dirty="0">
                <a:solidFill>
                  <a:schemeClr val="tx1"/>
                </a:solidFill>
              </a:rPr>
              <a:t>isolation des pannes (D1)</a:t>
            </a:r>
            <a:endParaRPr lang="en-US" sz="1300" dirty="0"/>
          </a:p>
        </p:txBody>
      </p:sp>
      <p:sp>
        <p:nvSpPr>
          <p:cNvPr id="19" name="carte-255"/>
          <p:cNvSpPr/>
          <p:nvPr/>
        </p:nvSpPr>
        <p:spPr>
          <a:xfrm>
            <a:off x="4297680" y="2926080"/>
            <a:ext cx="3566160" cy="1554480"/>
          </a:xfrm>
          <a:prstGeom prst="roundRect">
            <a:avLst>
              <a:gd name="adj" fmla="val 4706"/>
            </a:avLst>
          </a:prstGeom>
          <a:solidFill>
            <a:schemeClr val="bg1"/>
          </a:solidFill>
          <a:ln w="9525">
            <a:solidFill>
              <a:schemeClr val="accent6"/>
            </a:solidFill>
            <a:prstDash val="solid"/>
          </a:ln>
        </p:spPr>
      </p:sp>
      <p:sp>
        <p:nvSpPr>
          <p:cNvPr id="20" name="texte-256"/>
          <p:cNvSpPr txBox="1"/>
          <p:nvPr/>
        </p:nvSpPr>
        <p:spPr>
          <a:xfrm>
            <a:off x="4572000" y="3017520"/>
            <a:ext cx="301752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VEILLE</a:t>
            </a:r>
            <a:endParaRPr lang="en-US" sz="1100" dirty="0"/>
          </a:p>
        </p:txBody>
      </p:sp>
      <p:sp>
        <p:nvSpPr>
          <p:cNvPr id="21" name="texte-257"/>
          <p:cNvSpPr txBox="1"/>
          <p:nvPr/>
        </p:nvSpPr>
        <p:spPr>
          <a:xfrm>
            <a:off x="4572000" y="3291840"/>
            <a:ext cx="301752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figée</a:t>
            </a:r>
            <a:endParaRPr lang="en-US" sz="3000" dirty="0"/>
          </a:p>
        </p:txBody>
      </p:sp>
      <p:sp>
        <p:nvSpPr>
          <p:cNvPr id="22" name="texte-258"/>
          <p:cNvSpPr txBox="1"/>
          <p:nvPr/>
        </p:nvSpPr>
        <p:spPr>
          <a:xfrm>
            <a:off x="4572000" y="3977640"/>
            <a:ext cx="3017520" cy="411480"/>
          </a:xfrm>
          <a:prstGeom prst="rect">
            <a:avLst/>
          </a:prstGeom>
          <a:noFill/>
          <a:ln/>
        </p:spPr>
        <p:txBody>
          <a:bodyPr wrap="square" lIns="0" tIns="0" rIns="0" bIns="0" rtlCol="0" anchor="t"/>
          <a:lstStyle/>
          <a:p>
            <a:pPr indent="0" marL="0">
              <a:buNone/>
            </a:pPr>
            <a:r>
              <a:rPr lang="en-US" sz="1300" dirty="0">
                <a:solidFill>
                  <a:schemeClr val="tx1"/>
                </a:solidFill>
              </a:rPr>
              <a:t>plus aucun nouveau signal</a:t>
            </a:r>
            <a:endParaRPr lang="en-US" sz="1300" dirty="0"/>
          </a:p>
        </p:txBody>
      </p:sp>
      <p:sp>
        <p:nvSpPr>
          <p:cNvPr id="23" name="carte-259"/>
          <p:cNvSpPr/>
          <p:nvPr/>
        </p:nvSpPr>
        <p:spPr>
          <a:xfrm>
            <a:off x="8046720" y="2926080"/>
            <a:ext cx="3566160" cy="1554480"/>
          </a:xfrm>
          <a:prstGeom prst="roundRect">
            <a:avLst>
              <a:gd name="adj" fmla="val 4706"/>
            </a:avLst>
          </a:prstGeom>
          <a:solidFill>
            <a:schemeClr val="bg1"/>
          </a:solidFill>
          <a:ln w="9525">
            <a:solidFill>
              <a:schemeClr val="accent6"/>
            </a:solidFill>
            <a:prstDash val="solid"/>
          </a:ln>
        </p:spPr>
      </p:sp>
      <p:sp>
        <p:nvSpPr>
          <p:cNvPr id="24" name="texte-260"/>
          <p:cNvSpPr txBox="1"/>
          <p:nvPr/>
        </p:nvSpPr>
        <p:spPr>
          <a:xfrm>
            <a:off x="8321040" y="3017520"/>
            <a:ext cx="301752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DESTINATAIRE</a:t>
            </a:r>
            <a:endParaRPr lang="en-US" sz="1100" dirty="0"/>
          </a:p>
        </p:txBody>
      </p:sp>
      <p:sp>
        <p:nvSpPr>
          <p:cNvPr id="25" name="texte-261"/>
          <p:cNvSpPr txBox="1"/>
          <p:nvPr/>
        </p:nvSpPr>
        <p:spPr>
          <a:xfrm>
            <a:off x="8321040" y="3291840"/>
            <a:ext cx="3017520" cy="68580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ops</a:t>
            </a:r>
            <a:endParaRPr lang="en-US" sz="3000" dirty="0"/>
          </a:p>
        </p:txBody>
      </p:sp>
      <p:sp>
        <p:nvSpPr>
          <p:cNvPr id="26" name="texte-262"/>
          <p:cNvSpPr txBox="1"/>
          <p:nvPr/>
        </p:nvSpPr>
        <p:spPr>
          <a:xfrm>
            <a:off x="8321040" y="3977640"/>
            <a:ext cx="3017520" cy="411480"/>
          </a:xfrm>
          <a:prstGeom prst="rect">
            <a:avLst/>
          </a:prstGeom>
          <a:noFill/>
          <a:ln/>
        </p:spPr>
        <p:txBody>
          <a:bodyPr wrap="square" lIns="0" tIns="0" rIns="0" bIns="0" rtlCol="0" anchor="t"/>
          <a:lstStyle/>
          <a:p>
            <a:pPr indent="0" marL="0">
              <a:buNone/>
            </a:pPr>
            <a:r>
              <a:rPr lang="en-US" sz="1300" dirty="0">
                <a:solidFill>
                  <a:schemeClr val="tx1"/>
                </a:solidFill>
              </a:rPr>
              <a:t>RadarCollectorDown · avertissement</a:t>
            </a:r>
            <a:endParaRPr lang="en-US" sz="1300" dirty="0"/>
          </a:p>
        </p:txBody>
      </p:sp>
      <p:sp>
        <p:nvSpPr>
          <p:cNvPr id="27" name="code-263"/>
          <p:cNvSpPr/>
          <p:nvPr/>
        </p:nvSpPr>
        <p:spPr>
          <a:xfrm>
            <a:off x="548640" y="4617720"/>
            <a:ext cx="11094415" cy="548640"/>
          </a:xfrm>
          <a:prstGeom prst="roundRect">
            <a:avLst>
              <a:gd name="adj" fmla="val 10000"/>
            </a:avLst>
          </a:prstGeom>
          <a:solidFill>
            <a:schemeClr val="tx2"/>
          </a:solidFill>
          <a:ln/>
        </p:spPr>
      </p:sp>
      <p:sp>
        <p:nvSpPr>
          <p:cNvPr id="28" name="code-texte-264"/>
          <p:cNvSpPr txBox="1"/>
          <p:nvPr/>
        </p:nvSpPr>
        <p:spPr>
          <a:xfrm>
            <a:off x="777240" y="4800600"/>
            <a:ext cx="10637215" cy="182880"/>
          </a:xfrm>
          <a:prstGeom prst="rect">
            <a:avLst/>
          </a:prstGeom>
          <a:noFill/>
          <a:ln/>
        </p:spPr>
        <p:txBody>
          <a:bodyPr wrap="square" lIns="0" tIns="0" rIns="0" bIns="0" rtlCol="0" anchor="t"/>
          <a:lstStyle/>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make panne-collecteur     </a:t>
            </a:r>
            <a:r>
              <a:rPr lang="en-US" sz="1300" dirty="0">
                <a:solidFill>
                  <a:schemeClr val="accent1"/>
                </a:solidFill>
                <a:latin typeface="Courier New" pitchFamily="34" charset="0"/>
                <a:ea typeface="Courier New" pitchFamily="34" charset="-122"/>
                <a:cs typeface="Courier New" pitchFamily="34" charset="-120"/>
              </a:rPr>
              <a:t> # puis : make retour-collecteur</a:t>
            </a:r>
            <a:endParaRPr lang="en-US" sz="1300" dirty="0"/>
          </a:p>
        </p:txBody>
      </p:sp>
      <p:sp>
        <p:nvSpPr>
          <p:cNvPr id="29" name="carte-265"/>
          <p:cNvSpPr/>
          <p:nvPr/>
        </p:nvSpPr>
        <p:spPr>
          <a:xfrm>
            <a:off x="548640" y="5394960"/>
            <a:ext cx="11094415" cy="640080"/>
          </a:xfrm>
          <a:prstGeom prst="roundRect">
            <a:avLst>
              <a:gd name="adj" fmla="val 11429"/>
            </a:avLst>
          </a:prstGeom>
          <a:solidFill>
            <a:schemeClr val="tx2"/>
          </a:solidFill>
          <a:ln w="9525">
            <a:solidFill>
              <a:schemeClr val="tx2"/>
            </a:solidFill>
            <a:prstDash val="solid"/>
          </a:ln>
        </p:spPr>
      </p:sp>
      <p:sp>
        <p:nvSpPr>
          <p:cNvPr id="30" name="texte-266"/>
          <p:cNvSpPr txBox="1"/>
          <p:nvPr/>
        </p:nvSpPr>
        <p:spPr>
          <a:xfrm>
            <a:off x="822960" y="5394960"/>
            <a:ext cx="10545775" cy="640080"/>
          </a:xfrm>
          <a:prstGeom prst="rect">
            <a:avLst/>
          </a:prstGeom>
          <a:noFill/>
          <a:ln/>
        </p:spPr>
        <p:txBody>
          <a:bodyPr wrap="square" lIns="0" tIns="0" rIns="0" bIns="0" rtlCol="0" anchor="ctr"/>
          <a:lstStyle/>
          <a:p>
            <a:pPr indent="0" marL="0">
              <a:buNone/>
            </a:pPr>
            <a:r>
              <a:rPr lang="en-US" sz="1600" b="1" dirty="0">
                <a:solidFill>
                  <a:schemeClr val="accent1"/>
                </a:solidFill>
              </a:rPr>
              <a:t>Décision  </a:t>
            </a:r>
            <a:r>
              <a:rPr lang="en-US" sz="1600" dirty="0">
                <a:solidFill>
                  <a:schemeClr val="bg1"/>
                </a:solidFill>
              </a:rPr>
              <a:t>Une panne de collecte est un incident de veille : avertissement au canal d'exploitation, correction dans la journée, mention dans la note de veille.</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DÉMONSTRATION · ALERTE CRITIQUE (S2)</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L'API tombe : l'astreinte est alertée</a:t>
            </a:r>
            <a:endParaRPr lang="en-US" sz="3200" dirty="0"/>
          </a:p>
        </p:txBody>
      </p:sp>
      <p:sp>
        <p:nvSpPr>
          <p:cNvPr id="5" name="code-267"/>
          <p:cNvSpPr/>
          <p:nvPr/>
        </p:nvSpPr>
        <p:spPr>
          <a:xfrm>
            <a:off x="548640" y="1645920"/>
            <a:ext cx="5669280" cy="1371600"/>
          </a:xfrm>
          <a:prstGeom prst="roundRect">
            <a:avLst>
              <a:gd name="adj" fmla="val 4000"/>
            </a:avLst>
          </a:prstGeom>
          <a:solidFill>
            <a:schemeClr val="tx2"/>
          </a:solidFill>
          <a:ln/>
        </p:spPr>
      </p:sp>
      <p:sp>
        <p:nvSpPr>
          <p:cNvPr id="6" name="code-texte-268"/>
          <p:cNvSpPr txBox="1"/>
          <p:nvPr/>
        </p:nvSpPr>
        <p:spPr>
          <a:xfrm>
            <a:off x="777240" y="1828800"/>
            <a:ext cx="5212080" cy="1005840"/>
          </a:xfrm>
          <a:prstGeom prst="rect">
            <a:avLst/>
          </a:prstGeom>
          <a:noFill/>
          <a:ln/>
        </p:spPr>
        <p:txBody>
          <a:bodyPr wrap="square" lIns="0" tIns="0" rIns="0" bIns="0" rtlCol="0" anchor="t"/>
          <a:lstStyle/>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make panne-api    </a:t>
            </a:r>
            <a:r>
              <a:rPr lang="en-US" sz="1300" dirty="0">
                <a:solidFill>
                  <a:schemeClr val="accent1"/>
                </a:solidFill>
                <a:latin typeface="Courier New" pitchFamily="34" charset="0"/>
                <a:ea typeface="Courier New" pitchFamily="34" charset="-122"/>
                <a:cs typeface="Courier New" pitchFamily="34" charset="-120"/>
              </a:rPr>
              <a:t> # le front : « API indisponible »</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 </a:t>
            </a:r>
            <a:r>
              <a:rPr lang="en-US" sz="1300" dirty="0">
                <a:solidFill>
                  <a:schemeClr val="accent1"/>
                </a:solidFill>
                <a:latin typeface="Courier New" pitchFamily="34" charset="0"/>
                <a:ea typeface="Courier New" pitchFamily="34" charset="-122"/>
                <a:cs typeface="Courier New" pitchFamily="34" charset="-120"/>
              </a:rPr>
              <a:t># résultat : RadarApiDown (critique) : astreinte</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make retour-api   </a:t>
            </a:r>
            <a:r>
              <a:rPr lang="en-US" sz="1300" dirty="0">
                <a:solidFill>
                  <a:schemeClr val="accent1"/>
                </a:solidFill>
                <a:latin typeface="Courier New" pitchFamily="34" charset="0"/>
                <a:ea typeface="Courier New" pitchFamily="34" charset="-122"/>
                <a:cs typeface="Courier New" pitchFamily="34" charset="-120"/>
              </a:rPr>
              <a:t> # rétablir d'abord</a:t>
            </a:r>
            <a:endParaRPr lang="en-US" sz="1300" dirty="0"/>
          </a:p>
        </p:txBody>
      </p:sp>
      <p:sp>
        <p:nvSpPr>
          <p:cNvPr id="7" name="code-269"/>
          <p:cNvSpPr/>
          <p:nvPr/>
        </p:nvSpPr>
        <p:spPr>
          <a:xfrm>
            <a:off x="548640" y="3200400"/>
            <a:ext cx="5669280" cy="1920240"/>
          </a:xfrm>
          <a:prstGeom prst="roundRect">
            <a:avLst>
              <a:gd name="adj" fmla="val 2857"/>
            </a:avLst>
          </a:prstGeom>
          <a:solidFill>
            <a:schemeClr val="tx2"/>
          </a:solidFill>
          <a:ln/>
        </p:spPr>
      </p:sp>
      <p:sp>
        <p:nvSpPr>
          <p:cNvPr id="8" name="code-texte-270"/>
          <p:cNvSpPr txBox="1"/>
          <p:nvPr/>
        </p:nvSpPr>
        <p:spPr>
          <a:xfrm>
            <a:off x="777240" y="3383280"/>
            <a:ext cx="5212080" cy="1554480"/>
          </a:xfrm>
          <a:prstGeom prst="rect">
            <a:avLst/>
          </a:prstGeom>
          <a:noFill/>
          <a:ln/>
        </p:spPr>
        <p:txBody>
          <a:bodyPr wrap="square" lIns="0" tIns="0" rIns="0" bIns="0" rtlCol="0" anchor="t"/>
          <a:lstStyle/>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a:t>
            </a:r>
            <a:r>
              <a:rPr lang="en-US" sz="1200" dirty="0">
                <a:solidFill>
                  <a:schemeClr val="accent1"/>
                </a:solidFill>
                <a:latin typeface="Courier New" pitchFamily="34" charset="0"/>
                <a:ea typeface="Courier New" pitchFamily="34" charset="-122"/>
                <a:cs typeface="Courier New" pitchFamily="34" charset="-120"/>
              </a:rPr>
              <a:t># plateforme complète : canari Istio (90 / 10)</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route:</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 destination: {host: radar-api, subset: v1}</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weight: 90</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 destination: {host: radar-api, subset: v2}</a:t>
            </a:r>
            <a:endParaRPr lang="en-US" sz="1200" dirty="0"/>
          </a:p>
          <a:p>
            <a:pPr indent="0" marL="0">
              <a:lnSpc>
                <a:spcPct val="105000"/>
              </a:lnSpc>
              <a:buNone/>
            </a:pPr>
            <a:r>
              <a:rPr lang="en-US" sz="1200" dirty="0">
                <a:solidFill>
                  <a:schemeClr val="bg1"/>
                </a:solidFill>
                <a:latin typeface="Courier New" pitchFamily="34" charset="0"/>
                <a:ea typeface="Courier New" pitchFamily="34" charset="-122"/>
                <a:cs typeface="Courier New" pitchFamily="34" charset="-120"/>
              </a:rPr>
              <a:t>    weight: 10     </a:t>
            </a:r>
            <a:r>
              <a:rPr lang="en-US" sz="1200" dirty="0">
                <a:solidFill>
                  <a:schemeClr val="accent1"/>
                </a:solidFill>
                <a:latin typeface="Courier New" pitchFamily="34" charset="0"/>
                <a:ea typeface="Courier New" pitchFamily="34" charset="-122"/>
                <a:cs typeface="Courier New" pitchFamily="34" charset="-120"/>
              </a:rPr>
              <a:t> # retour arrière : 100 / 0</a:t>
            </a:r>
            <a:endParaRPr lang="en-US" sz="1200" dirty="0"/>
          </a:p>
        </p:txBody>
      </p:sp>
      <p:sp>
        <p:nvSpPr>
          <p:cNvPr id="9" name="carte-271"/>
          <p:cNvSpPr/>
          <p:nvPr/>
        </p:nvSpPr>
        <p:spPr>
          <a:xfrm>
            <a:off x="6428232" y="1645920"/>
            <a:ext cx="5212080" cy="3474720"/>
          </a:xfrm>
          <a:prstGeom prst="roundRect">
            <a:avLst>
              <a:gd name="adj" fmla="val 2105"/>
            </a:avLst>
          </a:prstGeom>
          <a:solidFill>
            <a:schemeClr val="bg1"/>
          </a:solidFill>
          <a:ln w="9525">
            <a:solidFill>
              <a:schemeClr val="accent6"/>
            </a:solidFill>
            <a:prstDash val="solid"/>
          </a:ln>
        </p:spPr>
      </p:sp>
      <p:sp>
        <p:nvSpPr>
          <p:cNvPr id="10" name="pastille-272"/>
          <p:cNvSpPr/>
          <p:nvPr/>
        </p:nvSpPr>
        <p:spPr>
          <a:xfrm>
            <a:off x="6656832" y="1874520"/>
            <a:ext cx="548640" cy="548640"/>
          </a:xfrm>
          <a:prstGeom prst="ellipse">
            <a:avLst/>
          </a:prstGeom>
          <a:solidFill>
            <a:schemeClr val="accent4"/>
          </a:solidFill>
          <a:ln/>
        </p:spPr>
      </p:sp>
      <p:pic>
        <p:nvPicPr>
          <p:cNvPr id="11" name="icone-273" descr="preencoded.png">    </p:cNvPr>
          <p:cNvPicPr>
            <a:picLocks noChangeAspect="1"/>
          </p:cNvPicPr>
          <p:nvPr/>
        </p:nvPicPr>
        <p:blipFill>
          <a:blip r:embed="rId1"/>
          <a:stretch>
            <a:fillRect/>
          </a:stretch>
        </p:blipFill>
        <p:spPr>
          <a:xfrm>
            <a:off x="6777533" y="1995221"/>
            <a:ext cx="307238" cy="307238"/>
          </a:xfrm>
          <a:prstGeom prst="rect">
            <a:avLst/>
          </a:prstGeom>
        </p:spPr>
      </p:pic>
      <p:sp>
        <p:nvSpPr>
          <p:cNvPr id="12" name="texte-274"/>
          <p:cNvSpPr txBox="1"/>
          <p:nvPr/>
        </p:nvSpPr>
        <p:spPr>
          <a:xfrm>
            <a:off x="7342632" y="1874520"/>
            <a:ext cx="4114800" cy="548640"/>
          </a:xfrm>
          <a:prstGeom prst="rect">
            <a:avLst/>
          </a:prstGeom>
          <a:noFill/>
          <a:ln/>
        </p:spPr>
        <p:txBody>
          <a:bodyPr wrap="square" lIns="0" tIns="0" rIns="0" bIns="0" rtlCol="0" anchor="ctr"/>
          <a:lstStyle/>
          <a:p>
            <a:pPr indent="0" marL="0">
              <a:buNone/>
            </a:pPr>
            <a:r>
              <a:rPr lang="en-US" sz="1700" b="1" dirty="0">
                <a:solidFill>
                  <a:schemeClr val="tx2"/>
                </a:solidFill>
              </a:rPr>
              <a:t>Rétablir d'abord</a:t>
            </a:r>
            <a:endParaRPr lang="en-US" sz="1700" dirty="0"/>
          </a:p>
        </p:txBody>
      </p:sp>
      <p:sp>
        <p:nvSpPr>
          <p:cNvPr id="13" name="texte-275"/>
          <p:cNvSpPr txBox="1"/>
          <p:nvPr/>
        </p:nvSpPr>
        <p:spPr>
          <a:xfrm>
            <a:off x="6656832" y="2560320"/>
            <a:ext cx="4754880" cy="24231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Le budget d'erreur est une ressource commune</a:t>
            </a:r>
            <a:endParaRPr lang="en-US" sz="1500" dirty="0"/>
          </a:p>
          <a:p>
            <a:pPr marL="203200" indent="-203200">
              <a:spcAft>
                <a:spcPts val="800"/>
              </a:spcAft>
              <a:buSzPct val="100000"/>
              <a:buChar char="•"/>
            </a:pPr>
            <a:r>
              <a:rPr lang="en-US" sz="1500" dirty="0">
                <a:solidFill>
                  <a:schemeClr val="tx1"/>
                </a:solidFill>
              </a:rPr>
              <a:t>Chaque minute sous incident le consomme</a:t>
            </a:r>
            <a:endParaRPr lang="en-US" sz="1500" dirty="0"/>
          </a:p>
          <a:p>
            <a:pPr marL="203200" indent="-203200">
              <a:spcAft>
                <a:spcPts val="800"/>
              </a:spcAft>
              <a:buSzPct val="100000"/>
              <a:buChar char="•"/>
            </a:pPr>
            <a:r>
              <a:rPr lang="en-US" sz="1500" dirty="0">
                <a:solidFill>
                  <a:schemeClr val="tx1"/>
                </a:solidFill>
              </a:rPr>
              <a:t>Diagnostic ensuite, à froid</a:t>
            </a:r>
            <a:endParaRPr lang="en-US" sz="1500" dirty="0"/>
          </a:p>
          <a:p>
            <a:pPr marL="203200" indent="-203200">
              <a:spcAft>
                <a:spcPts val="800"/>
              </a:spcAft>
              <a:buSzPct val="100000"/>
              <a:buChar char="•"/>
            </a:pPr>
            <a:r>
              <a:rPr lang="en-US" sz="1500" dirty="0">
                <a:solidFill>
                  <a:schemeClr val="tx1"/>
                </a:solidFill>
              </a:rPr>
              <a:t>Le canari limite l'exposition à 10 % du trafic</a:t>
            </a:r>
            <a:endParaRPr lang="en-US" sz="1500" dirty="0"/>
          </a:p>
        </p:txBody>
      </p:sp>
      <p:sp>
        <p:nvSpPr>
          <p:cNvPr id="14" name="carte-276"/>
          <p:cNvSpPr/>
          <p:nvPr/>
        </p:nvSpPr>
        <p:spPr>
          <a:xfrm>
            <a:off x="548640" y="5349240"/>
            <a:ext cx="11094415" cy="685800"/>
          </a:xfrm>
          <a:prstGeom prst="roundRect">
            <a:avLst>
              <a:gd name="adj" fmla="val 10667"/>
            </a:avLst>
          </a:prstGeom>
          <a:solidFill>
            <a:schemeClr val="tx2"/>
          </a:solidFill>
          <a:ln w="9525">
            <a:solidFill>
              <a:schemeClr val="tx2"/>
            </a:solidFill>
            <a:prstDash val="solid"/>
          </a:ln>
        </p:spPr>
      </p:sp>
      <p:sp>
        <p:nvSpPr>
          <p:cNvPr id="15" name="texte-277"/>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1600" b="1" dirty="0">
                <a:solidFill>
                  <a:schemeClr val="accent1"/>
                </a:solidFill>
              </a:rPr>
              <a:t>Décision  </a:t>
            </a:r>
            <a:r>
              <a:rPr lang="en-US" sz="1600" dirty="0">
                <a:solidFill>
                  <a:schemeClr val="bg1"/>
                </a:solidFill>
              </a:rPr>
              <a:t>Alerte critique : astreinte. Rétablir d'abord, diagnostiquer ensuite ; en cible, alerter sur la consommation du budget d'erreur.</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MISES EN SITUATION S1, S4, S5</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S1 · S4 · S5</a:t>
            </a:r>
            <a:endParaRPr lang="en-US" sz="3200" dirty="0"/>
          </a:p>
        </p:txBody>
      </p:sp>
      <p:sp>
        <p:nvSpPr>
          <p:cNvPr id="5" name="carte-278"/>
          <p:cNvSpPr/>
          <p:nvPr/>
        </p:nvSpPr>
        <p:spPr>
          <a:xfrm>
            <a:off x="548640" y="1691640"/>
            <a:ext cx="3566160" cy="2926080"/>
          </a:xfrm>
          <a:prstGeom prst="roundRect">
            <a:avLst>
              <a:gd name="adj" fmla="val 2500"/>
            </a:avLst>
          </a:prstGeom>
          <a:solidFill>
            <a:schemeClr val="bg1"/>
          </a:solidFill>
          <a:ln w="9525">
            <a:solidFill>
              <a:schemeClr val="accent6"/>
            </a:solidFill>
            <a:prstDash val="solid"/>
          </a:ln>
        </p:spPr>
      </p:sp>
      <p:sp>
        <p:nvSpPr>
          <p:cNvPr id="6" name="pastille-279"/>
          <p:cNvSpPr/>
          <p:nvPr/>
        </p:nvSpPr>
        <p:spPr>
          <a:xfrm>
            <a:off x="777240" y="1920240"/>
            <a:ext cx="548640" cy="548640"/>
          </a:xfrm>
          <a:prstGeom prst="ellipse">
            <a:avLst/>
          </a:prstGeom>
          <a:solidFill>
            <a:schemeClr val="accent3"/>
          </a:solidFill>
          <a:ln/>
        </p:spPr>
      </p:sp>
      <p:pic>
        <p:nvPicPr>
          <p:cNvPr id="7" name="icone-280" descr="preencoded.png">    </p:cNvPr>
          <p:cNvPicPr>
            <a:picLocks noChangeAspect="1"/>
          </p:cNvPicPr>
          <p:nvPr/>
        </p:nvPicPr>
        <p:blipFill>
          <a:blip r:embed="rId1"/>
          <a:stretch>
            <a:fillRect/>
          </a:stretch>
        </p:blipFill>
        <p:spPr>
          <a:xfrm>
            <a:off x="897941" y="2040941"/>
            <a:ext cx="307238" cy="307238"/>
          </a:xfrm>
          <a:prstGeom prst="rect">
            <a:avLst/>
          </a:prstGeom>
        </p:spPr>
      </p:pic>
      <p:sp>
        <p:nvSpPr>
          <p:cNvPr id="8" name="texte-281"/>
          <p:cNvSpPr txBox="1"/>
          <p:nvPr/>
        </p:nvSpPr>
        <p:spPr>
          <a:xfrm>
            <a:off x="1463040" y="1920240"/>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S1 · Primaire PostgreSQL perdu</a:t>
            </a:r>
            <a:endParaRPr lang="en-US" sz="1700" dirty="0"/>
          </a:p>
        </p:txBody>
      </p:sp>
      <p:sp>
        <p:nvSpPr>
          <p:cNvPr id="9" name="texte-282"/>
          <p:cNvSpPr txBox="1"/>
          <p:nvPr/>
        </p:nvSpPr>
        <p:spPr>
          <a:xfrm>
            <a:off x="777240" y="2606040"/>
            <a:ext cx="3108960" cy="1874520"/>
          </a:xfrm>
          <a:prstGeom prst="rect">
            <a:avLst/>
          </a:prstGeom>
          <a:noFill/>
          <a:ln/>
        </p:spPr>
        <p:txBody>
          <a:bodyPr wrap="square" lIns="0" tIns="0" rIns="0" bIns="0" rtlCol="0" anchor="t"/>
          <a:lstStyle/>
          <a:p>
            <a:pPr indent="0" marL="0">
              <a:buNone/>
            </a:pPr>
            <a:r>
              <a:rPr lang="en-US" sz="1500" dirty="0">
                <a:solidFill>
                  <a:schemeClr val="tx1"/>
                </a:solidFill>
              </a:rPr>
              <a:t>Lecture de cluster.yaml : 3 instances, réplication synchrone. Bascule automatique en quelques secondes, aucune transaction validée perdue. Avertissement, pas d'astreinte.</a:t>
            </a:r>
            <a:endParaRPr lang="en-US" sz="1500" dirty="0"/>
          </a:p>
        </p:txBody>
      </p:sp>
      <p:sp>
        <p:nvSpPr>
          <p:cNvPr id="10" name="carte-283"/>
          <p:cNvSpPr/>
          <p:nvPr/>
        </p:nvSpPr>
        <p:spPr>
          <a:xfrm>
            <a:off x="4297680" y="1691640"/>
            <a:ext cx="3566160" cy="2926080"/>
          </a:xfrm>
          <a:prstGeom prst="roundRect">
            <a:avLst>
              <a:gd name="adj" fmla="val 2500"/>
            </a:avLst>
          </a:prstGeom>
          <a:solidFill>
            <a:schemeClr val="bg1"/>
          </a:solidFill>
          <a:ln w="9525">
            <a:solidFill>
              <a:schemeClr val="accent6"/>
            </a:solidFill>
            <a:prstDash val="solid"/>
          </a:ln>
        </p:spPr>
      </p:sp>
      <p:sp>
        <p:nvSpPr>
          <p:cNvPr id="11" name="pastille-284"/>
          <p:cNvSpPr/>
          <p:nvPr/>
        </p:nvSpPr>
        <p:spPr>
          <a:xfrm>
            <a:off x="4526280" y="1920240"/>
            <a:ext cx="548640" cy="548640"/>
          </a:xfrm>
          <a:prstGeom prst="ellipse">
            <a:avLst/>
          </a:prstGeom>
          <a:solidFill>
            <a:schemeClr val="accent1"/>
          </a:solidFill>
          <a:ln/>
        </p:spPr>
      </p:sp>
      <p:pic>
        <p:nvPicPr>
          <p:cNvPr id="12" name="icone-285" descr="preencoded.png">    </p:cNvPr>
          <p:cNvPicPr>
            <a:picLocks noChangeAspect="1"/>
          </p:cNvPicPr>
          <p:nvPr/>
        </p:nvPicPr>
        <p:blipFill>
          <a:blip r:embed="rId2"/>
          <a:stretch>
            <a:fillRect/>
          </a:stretch>
        </p:blipFill>
        <p:spPr>
          <a:xfrm>
            <a:off x="4646981" y="2040941"/>
            <a:ext cx="307238" cy="307238"/>
          </a:xfrm>
          <a:prstGeom prst="rect">
            <a:avLst/>
          </a:prstGeom>
        </p:spPr>
      </p:pic>
      <p:sp>
        <p:nvSpPr>
          <p:cNvPr id="13" name="texte-286"/>
          <p:cNvSpPr txBox="1"/>
          <p:nvPr/>
        </p:nvSpPr>
        <p:spPr>
          <a:xfrm>
            <a:off x="5212080" y="1920240"/>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S4 · Fatigue d'alerte</a:t>
            </a:r>
            <a:endParaRPr lang="en-US" sz="1700" dirty="0"/>
          </a:p>
        </p:txBody>
      </p:sp>
      <p:sp>
        <p:nvSpPr>
          <p:cNvPr id="14" name="texte-287"/>
          <p:cNvSpPr txBox="1"/>
          <p:nvPr/>
        </p:nvSpPr>
        <p:spPr>
          <a:xfrm>
            <a:off x="4526280" y="2606040"/>
            <a:ext cx="3108960" cy="1874520"/>
          </a:xfrm>
          <a:prstGeom prst="rect">
            <a:avLst/>
          </a:prstGeom>
          <a:noFill/>
          <a:ln/>
        </p:spPr>
        <p:txBody>
          <a:bodyPr wrap="square" lIns="0" tIns="0" rIns="0" bIns="0" rtlCol="0" anchor="t"/>
          <a:lstStyle/>
          <a:p>
            <a:pPr indent="0" marL="0">
              <a:buNone/>
            </a:pPr>
            <a:r>
              <a:rPr lang="en-US" sz="1500" dirty="0">
                <a:solidFill>
                  <a:schemeClr val="tx1"/>
                </a:solidFill>
              </a:rPr>
              <a:t>En direct dans Alertmanager : ops, astreinte, veille. Le signal de rupture va à l'équipe veille. Toute alerte qui réveille exige une action.</a:t>
            </a:r>
            <a:endParaRPr lang="en-US" sz="1500" dirty="0"/>
          </a:p>
        </p:txBody>
      </p:sp>
      <p:sp>
        <p:nvSpPr>
          <p:cNvPr id="15" name="carte-288"/>
          <p:cNvSpPr/>
          <p:nvPr/>
        </p:nvSpPr>
        <p:spPr>
          <a:xfrm>
            <a:off x="8046720" y="1691640"/>
            <a:ext cx="3566160" cy="2926080"/>
          </a:xfrm>
          <a:prstGeom prst="roundRect">
            <a:avLst>
              <a:gd name="adj" fmla="val 2500"/>
            </a:avLst>
          </a:prstGeom>
          <a:solidFill>
            <a:schemeClr val="bg1"/>
          </a:solidFill>
          <a:ln w="9525">
            <a:solidFill>
              <a:schemeClr val="accent6"/>
            </a:solidFill>
            <a:prstDash val="solid"/>
          </a:ln>
        </p:spPr>
      </p:sp>
      <p:sp>
        <p:nvSpPr>
          <p:cNvPr id="16" name="pastille-289"/>
          <p:cNvSpPr/>
          <p:nvPr/>
        </p:nvSpPr>
        <p:spPr>
          <a:xfrm>
            <a:off x="8275320" y="1920240"/>
            <a:ext cx="548640" cy="548640"/>
          </a:xfrm>
          <a:prstGeom prst="ellipse">
            <a:avLst/>
          </a:prstGeom>
          <a:solidFill>
            <a:schemeClr val="accent4"/>
          </a:solidFill>
          <a:ln/>
        </p:spPr>
      </p:sp>
      <p:pic>
        <p:nvPicPr>
          <p:cNvPr id="17" name="icone-290" descr="preencoded.png">    </p:cNvPr>
          <p:cNvPicPr>
            <a:picLocks noChangeAspect="1"/>
          </p:cNvPicPr>
          <p:nvPr/>
        </p:nvPicPr>
        <p:blipFill>
          <a:blip r:embed="rId3"/>
          <a:stretch>
            <a:fillRect/>
          </a:stretch>
        </p:blipFill>
        <p:spPr>
          <a:xfrm>
            <a:off x="8396021" y="2040941"/>
            <a:ext cx="307238" cy="307238"/>
          </a:xfrm>
          <a:prstGeom prst="rect">
            <a:avLst/>
          </a:prstGeom>
        </p:spPr>
      </p:pic>
      <p:sp>
        <p:nvSpPr>
          <p:cNvPr id="18" name="texte-291"/>
          <p:cNvSpPr txBox="1"/>
          <p:nvPr/>
        </p:nvSpPr>
        <p:spPr>
          <a:xfrm>
            <a:off x="8961120" y="1920240"/>
            <a:ext cx="2468880" cy="548640"/>
          </a:xfrm>
          <a:prstGeom prst="rect">
            <a:avLst/>
          </a:prstGeom>
          <a:noFill/>
          <a:ln/>
        </p:spPr>
        <p:txBody>
          <a:bodyPr wrap="square" lIns="0" tIns="0" rIns="0" bIns="0" rtlCol="0" anchor="ctr"/>
          <a:lstStyle/>
          <a:p>
            <a:pPr indent="0" marL="0">
              <a:buNone/>
            </a:pPr>
            <a:r>
              <a:rPr lang="en-US" sz="1700" b="1" dirty="0">
                <a:solidFill>
                  <a:schemeClr val="tx2"/>
                </a:solidFill>
              </a:rPr>
              <a:t>S5 · Collecteur compromis</a:t>
            </a:r>
            <a:endParaRPr lang="en-US" sz="1700" dirty="0"/>
          </a:p>
        </p:txBody>
      </p:sp>
      <p:sp>
        <p:nvSpPr>
          <p:cNvPr id="19" name="texte-292"/>
          <p:cNvSpPr txBox="1"/>
          <p:nvPr/>
        </p:nvSpPr>
        <p:spPr>
          <a:xfrm>
            <a:off x="8275320" y="2606040"/>
            <a:ext cx="3108960" cy="1874520"/>
          </a:xfrm>
          <a:prstGeom prst="rect">
            <a:avLst/>
          </a:prstGeom>
          <a:noFill/>
          <a:ln/>
        </p:spPr>
        <p:txBody>
          <a:bodyPr wrap="square" lIns="0" tIns="0" rIns="0" bIns="0" rtlCol="0" anchor="t"/>
          <a:lstStyle/>
          <a:p>
            <a:pPr indent="0" marL="0">
              <a:buNone/>
            </a:pPr>
            <a:r>
              <a:rPr lang="en-US" sz="1500" dirty="0">
                <a:solidFill>
                  <a:schemeClr val="tx1"/>
                </a:solidFill>
              </a:rPr>
              <a:t>Lecture de egress.yaml : sortie en liste blanche. Identité limitée à POST /internal/signals. Risque résiduel : empoisonnement de la veille.</a:t>
            </a:r>
            <a:endParaRPr lang="en-US" sz="1500" dirty="0"/>
          </a:p>
        </p:txBody>
      </p:sp>
      <p:sp>
        <p:nvSpPr>
          <p:cNvPr id="20" name="carte-293"/>
          <p:cNvSpPr/>
          <p:nvPr/>
        </p:nvSpPr>
        <p:spPr>
          <a:xfrm>
            <a:off x="548640" y="4892040"/>
            <a:ext cx="11094415" cy="914400"/>
          </a:xfrm>
          <a:prstGeom prst="roundRect">
            <a:avLst>
              <a:gd name="adj" fmla="val 8000"/>
            </a:avLst>
          </a:prstGeom>
          <a:solidFill>
            <a:schemeClr val="tx2"/>
          </a:solidFill>
          <a:ln w="9525">
            <a:solidFill>
              <a:schemeClr val="tx2"/>
            </a:solidFill>
            <a:prstDash val="solid"/>
          </a:ln>
        </p:spPr>
      </p:sp>
      <p:sp>
        <p:nvSpPr>
          <p:cNvPr id="21" name="texte-294"/>
          <p:cNvSpPr txBox="1"/>
          <p:nvPr/>
        </p:nvSpPr>
        <p:spPr>
          <a:xfrm>
            <a:off x="822960" y="4892040"/>
            <a:ext cx="10545775" cy="914400"/>
          </a:xfrm>
          <a:prstGeom prst="rect">
            <a:avLst/>
          </a:prstGeom>
          <a:noFill/>
          <a:ln/>
        </p:spPr>
        <p:txBody>
          <a:bodyPr wrap="square" lIns="0" tIns="0" rIns="0" bIns="0" rtlCol="0" anchor="ctr"/>
          <a:lstStyle/>
          <a:p>
            <a:pPr indent="0" marL="0">
              <a:buNone/>
            </a:pPr>
            <a:r>
              <a:rPr lang="en-US" sz="1600" b="1" dirty="0">
                <a:solidFill>
                  <a:schemeClr val="accent1"/>
                </a:solidFill>
              </a:rPr>
              <a:t>Décision  </a:t>
            </a:r>
            <a:r>
              <a:rPr lang="en-US" sz="1600" dirty="0">
                <a:solidFill>
                  <a:schemeClr val="bg1"/>
                </a:solidFill>
              </a:rPr>
              <a:t>Une alerte qui réveille quelqu'un doit exiger une action immédiate ; tout le reste va au bon canal, sans urgence.</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SYNTHÈSE · REGISTRE DES DÉCISIONS</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Registre des décisions</a:t>
            </a:r>
            <a:endParaRPr lang="en-US" sz="3200" dirty="0"/>
          </a:p>
        </p:txBody>
      </p:sp>
      <p:graphicFrame>
        <p:nvGraphicFramePr>
          <p:cNvPr id="23" name="tableau-295"/>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371600"/>
                <a:gridCol w="3657600"/>
                <a:gridCol w="2651760"/>
                <a:gridCol w="3410712"/>
              </a:tblGrid>
              <a:tr h="41148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Décision</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Écartée</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Signal de révision</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tx2"/>
                    </a:solidFill>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D1</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2 services + front</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Monolithe modulaire</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&gt; 10 sources</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D2</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Kubernetes managé UE</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PaaS + base managée</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Perte des compétences Kubernetes</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D3</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Istio sidecar + CNI</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Istio ambient</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Maturité des waypoints</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D4</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CloudNativePG, PITR</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DBaaS</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DBaaS avec PITR à coût égal</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D5</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PgBouncer ; synchrone 1/2</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Asynchrone</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Écritures bloquées</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D6</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Prometheus ; SLO multi-fenêtres</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SaaS</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Coût d'exploitation &gt; SaaS souverain</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D7</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Vector : Loki</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Fluent Bit ; Elasticsearch</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Adoption d'OpenTelemetry</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D8 · D9</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Tempo · Argo CD</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Jaeger · CI impérative</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Traces à 100 %</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D10</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Canari manuel Istio</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Argo Rollouts</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&gt; 1 mise en production / semaine</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r h="41148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D11 · D12 · D13</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Angular · External Secrets · défense en profondeur</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React · Sealed Secrets</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Nouvelle menace (KIT-4)</a:t>
                      </a:r>
                      <a:endParaRPr lang="en-US" sz="1200" dirty="0">
                        <a:latin typeface="Calibri" charset="0"/>
                        <a:ea typeface="Calibri" charset="0"/>
                        <a:cs typeface="Calibri" charset="0"/>
                      </a:endParaRPr>
                    </a:p>
                  </a:txBody>
                  <a:tcPr marL="88900" marR="88900" marT="50800" marB="50800" anchor="ctr">
                    <a:lnL w="9525" cap="flat" cmpd="sng" algn="ctr">
                      <a:solidFill>
                        <a:srgbClr val="DCE1EA"/>
                      </a:solidFill>
                      <a:prstDash val="solid"/>
                      <a:round/>
                      <a:headEnd type="none" w="med" len="med"/>
                      <a:tailEnd type="none" w="med" len="med"/>
                    </a:lnL>
                    <a:lnR w="9525" cap="flat" cmpd="sng" algn="ctr">
                      <a:solidFill>
                        <a:srgbClr val="DCE1EA"/>
                      </a:solidFill>
                      <a:prstDash val="solid"/>
                      <a:round/>
                      <a:headEnd type="none" w="med" len="med"/>
                      <a:tailEnd type="none" w="med" len="med"/>
                    </a:lnR>
                    <a:lnT w="9525" cap="flat" cmpd="sng" algn="ctr">
                      <a:solidFill>
                        <a:srgbClr val="DCE1EA"/>
                      </a:solidFill>
                      <a:prstDash val="solid"/>
                      <a:round/>
                      <a:headEnd type="none" w="med" len="med"/>
                      <a:tailEnd type="none" w="med" len="med"/>
                    </a:lnT>
                    <a:lnB w="9525" cap="flat" cmpd="sng" algn="ctr">
                      <a:solidFill>
                        <a:srgbClr val="DCE1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5"/>
                </a:solidFill>
                <a:latin typeface="Calibri" pitchFamily="34" charset="0"/>
                <a:ea typeface="Calibri" pitchFamily="34" charset="-122"/>
                <a:cs typeface="Calibri" pitchFamily="34" charset="-120"/>
              </a:rPr>
              <a:t>SYNTHÈSE · RETOUR À LA VEILLE</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Le radar surveille sa propre plateforme</a:t>
            </a:r>
            <a:endParaRPr lang="en-US" sz="3200" dirty="0"/>
          </a:p>
        </p:txBody>
      </p:sp>
      <p:sp>
        <p:nvSpPr>
          <p:cNvPr id="5" name="carte-296"/>
          <p:cNvSpPr/>
          <p:nvPr/>
        </p:nvSpPr>
        <p:spPr>
          <a:xfrm>
            <a:off x="548640" y="1691640"/>
            <a:ext cx="11094415" cy="1097280"/>
          </a:xfrm>
          <a:prstGeom prst="roundRect">
            <a:avLst>
              <a:gd name="adj" fmla="val 6667"/>
            </a:avLst>
          </a:prstGeom>
          <a:solidFill>
            <a:schemeClr val="tx2"/>
          </a:solidFill>
          <a:ln w="9525">
            <a:solidFill>
              <a:schemeClr val="tx2"/>
            </a:solidFill>
            <a:prstDash val="solid"/>
          </a:ln>
        </p:spPr>
      </p:sp>
      <p:sp>
        <p:nvSpPr>
          <p:cNvPr id="6" name="texte-297"/>
          <p:cNvSpPr txBox="1"/>
          <p:nvPr/>
        </p:nvSpPr>
        <p:spPr>
          <a:xfrm>
            <a:off x="868680" y="1691640"/>
            <a:ext cx="10454335" cy="109728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KIT-5 · Plateforme et exploitation</a:t>
            </a:r>
            <a:endParaRPr lang="en-US" sz="1600" dirty="0"/>
          </a:p>
          <a:p>
            <a:pPr indent="0" marL="0">
              <a:buNone/>
            </a:pPr>
            <a:r>
              <a:rPr lang="en-US" sz="1600" dirty="0">
                <a:solidFill>
                  <a:schemeClr val="bg1"/>
                </a:solidFill>
                <a:latin typeface="Calibri" pitchFamily="34" charset="0"/>
                <a:ea typeface="Calibri" pitchFamily="34" charset="-122"/>
                <a:cs typeface="Calibri" pitchFamily="34" charset="-120"/>
              </a:rPr>
              <a:t>Les signaux de révision du registre deviennent des questions de veille.</a:t>
            </a:r>
            <a:endParaRPr lang="en-US" sz="1600" dirty="0"/>
          </a:p>
        </p:txBody>
      </p:sp>
      <p:sp>
        <p:nvSpPr>
          <p:cNvPr id="7" name="carte-298"/>
          <p:cNvSpPr/>
          <p:nvPr/>
        </p:nvSpPr>
        <p:spPr>
          <a:xfrm>
            <a:off x="548640" y="3017520"/>
            <a:ext cx="11094415" cy="841248"/>
          </a:xfrm>
          <a:prstGeom prst="roundRect">
            <a:avLst>
              <a:gd name="adj" fmla="val 8696"/>
            </a:avLst>
          </a:prstGeom>
          <a:solidFill>
            <a:schemeClr val="bg1"/>
          </a:solidFill>
          <a:ln w="9525">
            <a:solidFill>
              <a:schemeClr val="accent6"/>
            </a:solidFill>
            <a:prstDash val="solid"/>
          </a:ln>
        </p:spPr>
      </p:sp>
      <p:sp>
        <p:nvSpPr>
          <p:cNvPr id="8" name="pastille-299"/>
          <p:cNvSpPr/>
          <p:nvPr/>
        </p:nvSpPr>
        <p:spPr>
          <a:xfrm>
            <a:off x="777240" y="3218688"/>
            <a:ext cx="1280160" cy="438912"/>
          </a:xfrm>
          <a:prstGeom prst="roundRect">
            <a:avLst>
              <a:gd name="adj" fmla="val 50000"/>
            </a:avLst>
          </a:prstGeom>
          <a:solidFill>
            <a:schemeClr val="accent2"/>
          </a:solidFill>
          <a:ln/>
        </p:spPr>
      </p:sp>
      <p:sp>
        <p:nvSpPr>
          <p:cNvPr id="9" name="texte-300"/>
          <p:cNvSpPr txBox="1"/>
          <p:nvPr/>
        </p:nvSpPr>
        <p:spPr>
          <a:xfrm>
            <a:off x="777240" y="3218688"/>
            <a:ext cx="1280160" cy="438912"/>
          </a:xfrm>
          <a:prstGeom prst="rect">
            <a:avLst/>
          </a:prstGeom>
          <a:noFill/>
          <a:ln/>
        </p:spPr>
        <p:txBody>
          <a:bodyPr wrap="square" lIns="0" tIns="0" rIns="0" bIns="0" rtlCol="0" anchor="ctr"/>
          <a:lstStyle/>
          <a:p>
            <a:pPr algn="ctr" indent="0" marL="0">
              <a:buNone/>
            </a:pPr>
            <a:r>
              <a:rPr lang="en-US" sz="1400" b="1" dirty="0">
                <a:solidFill>
                  <a:schemeClr val="tx2"/>
                </a:solidFill>
              </a:rPr>
              <a:t>KIQ-5.1</a:t>
            </a:r>
            <a:endParaRPr lang="en-US" sz="1400" dirty="0"/>
          </a:p>
        </p:txBody>
      </p:sp>
      <p:sp>
        <p:nvSpPr>
          <p:cNvPr id="10" name="texte-301"/>
          <p:cNvSpPr txBox="1"/>
          <p:nvPr/>
        </p:nvSpPr>
        <p:spPr>
          <a:xfrm>
            <a:off x="2286000" y="3017520"/>
            <a:ext cx="8138160" cy="841248"/>
          </a:xfrm>
          <a:prstGeom prst="rect">
            <a:avLst/>
          </a:prstGeom>
          <a:noFill/>
          <a:ln/>
        </p:spPr>
        <p:txBody>
          <a:bodyPr wrap="square" lIns="0" tIns="0" rIns="0" bIns="0" rtlCol="0" anchor="ctr"/>
          <a:lstStyle/>
          <a:p>
            <a:pPr indent="0" marL="0">
              <a:buNone/>
            </a:pPr>
            <a:r>
              <a:rPr lang="en-US" sz="1600" dirty="0">
                <a:solidFill>
                  <a:schemeClr val="tx1"/>
                </a:solidFill>
              </a:rPr>
              <a:t>Le mode ambient d'Istio couvre-t-il nos besoins L7 avec une maturité suffisante ?</a:t>
            </a:r>
            <a:endParaRPr lang="en-US" sz="1600" dirty="0"/>
          </a:p>
        </p:txBody>
      </p:sp>
      <p:sp>
        <p:nvSpPr>
          <p:cNvPr id="11" name="pastille-302"/>
          <p:cNvSpPr/>
          <p:nvPr/>
        </p:nvSpPr>
        <p:spPr>
          <a:xfrm>
            <a:off x="10042855" y="3218688"/>
            <a:ext cx="1371600" cy="438912"/>
          </a:xfrm>
          <a:prstGeom prst="roundRect">
            <a:avLst>
              <a:gd name="adj" fmla="val 50000"/>
            </a:avLst>
          </a:prstGeom>
          <a:solidFill>
            <a:schemeClr val="accent6"/>
          </a:solidFill>
          <a:ln/>
        </p:spPr>
      </p:sp>
      <p:sp>
        <p:nvSpPr>
          <p:cNvPr id="12" name="texte-303"/>
          <p:cNvSpPr txBox="1"/>
          <p:nvPr/>
        </p:nvSpPr>
        <p:spPr>
          <a:xfrm>
            <a:off x="10042855" y="3218688"/>
            <a:ext cx="1371600" cy="438912"/>
          </a:xfrm>
          <a:prstGeom prst="rect">
            <a:avLst/>
          </a:prstGeom>
          <a:noFill/>
          <a:ln/>
        </p:spPr>
        <p:txBody>
          <a:bodyPr wrap="square" lIns="0" tIns="0" rIns="0" bIns="0" rtlCol="0" anchor="ctr"/>
          <a:lstStyle/>
          <a:p>
            <a:pPr algn="ctr" indent="0" marL="0">
              <a:buNone/>
            </a:pPr>
            <a:r>
              <a:rPr lang="en-US" sz="1300" b="1" dirty="0">
                <a:solidFill>
                  <a:schemeClr val="tx2"/>
                </a:solidFill>
              </a:rPr>
              <a:t>révise D3</a:t>
            </a:r>
            <a:endParaRPr lang="en-US" sz="1300" dirty="0"/>
          </a:p>
        </p:txBody>
      </p:sp>
      <p:sp>
        <p:nvSpPr>
          <p:cNvPr id="13" name="carte-304"/>
          <p:cNvSpPr/>
          <p:nvPr/>
        </p:nvSpPr>
        <p:spPr>
          <a:xfrm>
            <a:off x="548640" y="4005072"/>
            <a:ext cx="11094415" cy="841248"/>
          </a:xfrm>
          <a:prstGeom prst="roundRect">
            <a:avLst>
              <a:gd name="adj" fmla="val 8696"/>
            </a:avLst>
          </a:prstGeom>
          <a:solidFill>
            <a:schemeClr val="bg1"/>
          </a:solidFill>
          <a:ln w="9525">
            <a:solidFill>
              <a:schemeClr val="accent6"/>
            </a:solidFill>
            <a:prstDash val="solid"/>
          </a:ln>
        </p:spPr>
      </p:sp>
      <p:sp>
        <p:nvSpPr>
          <p:cNvPr id="14" name="pastille-305"/>
          <p:cNvSpPr/>
          <p:nvPr/>
        </p:nvSpPr>
        <p:spPr>
          <a:xfrm>
            <a:off x="777240" y="4206240"/>
            <a:ext cx="1280160" cy="438912"/>
          </a:xfrm>
          <a:prstGeom prst="roundRect">
            <a:avLst>
              <a:gd name="adj" fmla="val 50000"/>
            </a:avLst>
          </a:prstGeom>
          <a:solidFill>
            <a:schemeClr val="accent2"/>
          </a:solidFill>
          <a:ln/>
        </p:spPr>
      </p:sp>
      <p:sp>
        <p:nvSpPr>
          <p:cNvPr id="15" name="texte-306"/>
          <p:cNvSpPr txBox="1"/>
          <p:nvPr/>
        </p:nvSpPr>
        <p:spPr>
          <a:xfrm>
            <a:off x="777240" y="4206240"/>
            <a:ext cx="1280160" cy="438912"/>
          </a:xfrm>
          <a:prstGeom prst="rect">
            <a:avLst/>
          </a:prstGeom>
          <a:noFill/>
          <a:ln/>
        </p:spPr>
        <p:txBody>
          <a:bodyPr wrap="square" lIns="0" tIns="0" rIns="0" bIns="0" rtlCol="0" anchor="ctr"/>
          <a:lstStyle/>
          <a:p>
            <a:pPr algn="ctr" indent="0" marL="0">
              <a:buNone/>
            </a:pPr>
            <a:r>
              <a:rPr lang="en-US" sz="1400" b="1" dirty="0">
                <a:solidFill>
                  <a:schemeClr val="tx2"/>
                </a:solidFill>
              </a:rPr>
              <a:t>KIQ-5.2</a:t>
            </a:r>
            <a:endParaRPr lang="en-US" sz="1400" dirty="0"/>
          </a:p>
        </p:txBody>
      </p:sp>
      <p:sp>
        <p:nvSpPr>
          <p:cNvPr id="16" name="texte-307"/>
          <p:cNvSpPr txBox="1"/>
          <p:nvPr/>
        </p:nvSpPr>
        <p:spPr>
          <a:xfrm>
            <a:off x="2286000" y="4005072"/>
            <a:ext cx="8138160" cy="841248"/>
          </a:xfrm>
          <a:prstGeom prst="rect">
            <a:avLst/>
          </a:prstGeom>
          <a:noFill/>
          <a:ln/>
        </p:spPr>
        <p:txBody>
          <a:bodyPr wrap="square" lIns="0" tIns="0" rIns="0" bIns="0" rtlCol="0" anchor="ctr"/>
          <a:lstStyle/>
          <a:p>
            <a:pPr indent="0" marL="0">
              <a:buNone/>
            </a:pPr>
            <a:r>
              <a:rPr lang="en-US" sz="1600" dirty="0">
                <a:solidFill>
                  <a:schemeClr val="tx1"/>
                </a:solidFill>
              </a:rPr>
              <a:t>OpenTelemetry est-il devenu le standard de collecte des journaux dans notre écosystème ?</a:t>
            </a:r>
            <a:endParaRPr lang="en-US" sz="1600" dirty="0"/>
          </a:p>
        </p:txBody>
      </p:sp>
      <p:sp>
        <p:nvSpPr>
          <p:cNvPr id="17" name="pastille-308"/>
          <p:cNvSpPr/>
          <p:nvPr/>
        </p:nvSpPr>
        <p:spPr>
          <a:xfrm>
            <a:off x="10042855" y="4206240"/>
            <a:ext cx="1371600" cy="438912"/>
          </a:xfrm>
          <a:prstGeom prst="roundRect">
            <a:avLst>
              <a:gd name="adj" fmla="val 50000"/>
            </a:avLst>
          </a:prstGeom>
          <a:solidFill>
            <a:schemeClr val="accent6"/>
          </a:solidFill>
          <a:ln/>
        </p:spPr>
      </p:sp>
      <p:sp>
        <p:nvSpPr>
          <p:cNvPr id="18" name="texte-309"/>
          <p:cNvSpPr txBox="1"/>
          <p:nvPr/>
        </p:nvSpPr>
        <p:spPr>
          <a:xfrm>
            <a:off x="10042855" y="4206240"/>
            <a:ext cx="1371600" cy="438912"/>
          </a:xfrm>
          <a:prstGeom prst="rect">
            <a:avLst/>
          </a:prstGeom>
          <a:noFill/>
          <a:ln/>
        </p:spPr>
        <p:txBody>
          <a:bodyPr wrap="square" lIns="0" tIns="0" rIns="0" bIns="0" rtlCol="0" anchor="ctr"/>
          <a:lstStyle/>
          <a:p>
            <a:pPr algn="ctr" indent="0" marL="0">
              <a:buNone/>
            </a:pPr>
            <a:r>
              <a:rPr lang="en-US" sz="1300" b="1" dirty="0">
                <a:solidFill>
                  <a:schemeClr val="tx2"/>
                </a:solidFill>
              </a:rPr>
              <a:t>révise D7</a:t>
            </a:r>
            <a:endParaRPr lang="en-US" sz="1300" dirty="0"/>
          </a:p>
        </p:txBody>
      </p:sp>
      <p:sp>
        <p:nvSpPr>
          <p:cNvPr id="19" name="carte-310"/>
          <p:cNvSpPr/>
          <p:nvPr/>
        </p:nvSpPr>
        <p:spPr>
          <a:xfrm>
            <a:off x="548640" y="4992624"/>
            <a:ext cx="11094415" cy="841248"/>
          </a:xfrm>
          <a:prstGeom prst="roundRect">
            <a:avLst>
              <a:gd name="adj" fmla="val 8696"/>
            </a:avLst>
          </a:prstGeom>
          <a:solidFill>
            <a:schemeClr val="bg1"/>
          </a:solidFill>
          <a:ln w="9525">
            <a:solidFill>
              <a:schemeClr val="accent6"/>
            </a:solidFill>
            <a:prstDash val="solid"/>
          </a:ln>
        </p:spPr>
      </p:sp>
      <p:sp>
        <p:nvSpPr>
          <p:cNvPr id="20" name="pastille-311"/>
          <p:cNvSpPr/>
          <p:nvPr/>
        </p:nvSpPr>
        <p:spPr>
          <a:xfrm>
            <a:off x="777240" y="5193792"/>
            <a:ext cx="1280160" cy="438912"/>
          </a:xfrm>
          <a:prstGeom prst="roundRect">
            <a:avLst>
              <a:gd name="adj" fmla="val 50000"/>
            </a:avLst>
          </a:prstGeom>
          <a:solidFill>
            <a:schemeClr val="accent2"/>
          </a:solidFill>
          <a:ln/>
        </p:spPr>
      </p:sp>
      <p:sp>
        <p:nvSpPr>
          <p:cNvPr id="21" name="texte-312"/>
          <p:cNvSpPr txBox="1"/>
          <p:nvPr/>
        </p:nvSpPr>
        <p:spPr>
          <a:xfrm>
            <a:off x="777240" y="5193792"/>
            <a:ext cx="1280160" cy="438912"/>
          </a:xfrm>
          <a:prstGeom prst="rect">
            <a:avLst/>
          </a:prstGeom>
          <a:noFill/>
          <a:ln/>
        </p:spPr>
        <p:txBody>
          <a:bodyPr wrap="square" lIns="0" tIns="0" rIns="0" bIns="0" rtlCol="0" anchor="ctr"/>
          <a:lstStyle/>
          <a:p>
            <a:pPr algn="ctr" indent="0" marL="0">
              <a:buNone/>
            </a:pPr>
            <a:r>
              <a:rPr lang="en-US" sz="1400" b="1" dirty="0">
                <a:solidFill>
                  <a:schemeClr val="tx2"/>
                </a:solidFill>
              </a:rPr>
              <a:t>KIQ-5.3</a:t>
            </a:r>
            <a:endParaRPr lang="en-US" sz="1400" dirty="0"/>
          </a:p>
        </p:txBody>
      </p:sp>
      <p:sp>
        <p:nvSpPr>
          <p:cNvPr id="22" name="texte-313"/>
          <p:cNvSpPr txBox="1"/>
          <p:nvPr/>
        </p:nvSpPr>
        <p:spPr>
          <a:xfrm>
            <a:off x="2286000" y="4992624"/>
            <a:ext cx="8138160" cy="841248"/>
          </a:xfrm>
          <a:prstGeom prst="rect">
            <a:avLst/>
          </a:prstGeom>
          <a:noFill/>
          <a:ln/>
        </p:spPr>
        <p:txBody>
          <a:bodyPr wrap="square" lIns="0" tIns="0" rIns="0" bIns="0" rtlCol="0" anchor="ctr"/>
          <a:lstStyle/>
          <a:p>
            <a:pPr indent="0" marL="0">
              <a:buNone/>
            </a:pPr>
            <a:r>
              <a:rPr lang="en-US" sz="1600" dirty="0">
                <a:solidFill>
                  <a:schemeClr val="tx1"/>
                </a:solidFill>
              </a:rPr>
              <a:t>Une offre PaaS européenne qualifiée couvre-t-elle nos exigences de haute disponibilité ?</a:t>
            </a:r>
            <a:endParaRPr lang="en-US" sz="1600" dirty="0"/>
          </a:p>
        </p:txBody>
      </p:sp>
      <p:sp>
        <p:nvSpPr>
          <p:cNvPr id="23" name="pastille-314"/>
          <p:cNvSpPr/>
          <p:nvPr/>
        </p:nvSpPr>
        <p:spPr>
          <a:xfrm>
            <a:off x="10042855" y="5193792"/>
            <a:ext cx="1371600" cy="438912"/>
          </a:xfrm>
          <a:prstGeom prst="roundRect">
            <a:avLst>
              <a:gd name="adj" fmla="val 50000"/>
            </a:avLst>
          </a:prstGeom>
          <a:solidFill>
            <a:schemeClr val="accent6"/>
          </a:solidFill>
          <a:ln/>
        </p:spPr>
      </p:sp>
      <p:sp>
        <p:nvSpPr>
          <p:cNvPr id="24" name="texte-315"/>
          <p:cNvSpPr txBox="1"/>
          <p:nvPr/>
        </p:nvSpPr>
        <p:spPr>
          <a:xfrm>
            <a:off x="10042855" y="5193792"/>
            <a:ext cx="1371600" cy="438912"/>
          </a:xfrm>
          <a:prstGeom prst="rect">
            <a:avLst/>
          </a:prstGeom>
          <a:noFill/>
          <a:ln/>
        </p:spPr>
        <p:txBody>
          <a:bodyPr wrap="square" lIns="0" tIns="0" rIns="0" bIns="0" rtlCol="0" anchor="ctr"/>
          <a:lstStyle/>
          <a:p>
            <a:pPr algn="ctr" indent="0" marL="0">
              <a:buNone/>
            </a:pPr>
            <a:r>
              <a:rPr lang="en-US" sz="1300" b="1" dirty="0">
                <a:solidFill>
                  <a:schemeClr val="tx2"/>
                </a:solidFill>
              </a:rPr>
              <a:t>révise D2</a:t>
            </a:r>
            <a:endParaRPr lang="en-US" sz="13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92608"/>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ÉCHANGES</a:t>
            </a: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lIns="0" tIns="0" rIns="0" bIns="0" rtlCol="0" anchor="ctr"/>
          <a:lstStyle/>
          <a:p>
            <a:pPr algn="l" indent="0" marL="0">
              <a:buNone/>
            </a:pPr>
            <a:r>
              <a:rPr lang="en-US" sz="3400" b="1" dirty="0">
                <a:solidFill>
                  <a:schemeClr val="bg1"/>
                </a:solidFill>
                <a:latin typeface="Cambria" pitchFamily="34" charset="0"/>
                <a:ea typeface="Cambria" pitchFamily="34" charset="-122"/>
                <a:cs typeface="Cambria" pitchFamily="34" charset="-120"/>
              </a:rPr>
              <a:t>Pistes de discussion</a:t>
            </a:r>
            <a:endParaRPr lang="en-US" sz="3400" dirty="0"/>
          </a:p>
        </p:txBody>
      </p:sp>
      <p:sp>
        <p:nvSpPr>
          <p:cNvPr id="5" name="numero-316"/>
          <p:cNvSpPr/>
          <p:nvPr/>
        </p:nvSpPr>
        <p:spPr>
          <a:xfrm>
            <a:off x="548640" y="1764792"/>
            <a:ext cx="548640" cy="548640"/>
          </a:xfrm>
          <a:prstGeom prst="ellipse">
            <a:avLst/>
          </a:prstGeom>
          <a:solidFill>
            <a:schemeClr val="accent1"/>
          </a:solidFill>
          <a:ln/>
        </p:spPr>
      </p:sp>
      <p:sp>
        <p:nvSpPr>
          <p:cNvPr id="6" name="texte-317"/>
          <p:cNvSpPr txBox="1"/>
          <p:nvPr/>
        </p:nvSpPr>
        <p:spPr>
          <a:xfrm>
            <a:off x="548640" y="1764792"/>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1</a:t>
            </a:r>
            <a:endParaRPr lang="en-US" sz="1800" dirty="0"/>
          </a:p>
        </p:txBody>
      </p:sp>
      <p:sp>
        <p:nvSpPr>
          <p:cNvPr id="7" name="texte-318"/>
          <p:cNvSpPr txBox="1"/>
          <p:nvPr/>
        </p:nvSpPr>
        <p:spPr>
          <a:xfrm>
            <a:off x="1325880" y="1691640"/>
            <a:ext cx="10241280" cy="694944"/>
          </a:xfrm>
          <a:prstGeom prst="rect">
            <a:avLst/>
          </a:prstGeom>
          <a:noFill/>
          <a:ln/>
        </p:spPr>
        <p:txBody>
          <a:bodyPr wrap="square" lIns="0" tIns="0" rIns="0" bIns="0" rtlCol="0" anchor="ctr"/>
          <a:lstStyle/>
          <a:p>
            <a:pPr indent="0" marL="0">
              <a:buNone/>
            </a:pPr>
            <a:r>
              <a:rPr lang="en-US" sz="1800" dirty="0">
                <a:solidFill>
                  <a:schemeClr val="bg1"/>
                </a:solidFill>
              </a:rPr>
              <a:t>D2 serait-elle la même pour une jeune pousse de 5 personnes sans compétence Kubernetes ?</a:t>
            </a:r>
            <a:endParaRPr lang="en-US" sz="1800" dirty="0"/>
          </a:p>
        </p:txBody>
      </p:sp>
      <p:sp>
        <p:nvSpPr>
          <p:cNvPr id="8" name="numero-319"/>
          <p:cNvSpPr/>
          <p:nvPr/>
        </p:nvSpPr>
        <p:spPr>
          <a:xfrm>
            <a:off x="548640" y="2633472"/>
            <a:ext cx="548640" cy="548640"/>
          </a:xfrm>
          <a:prstGeom prst="ellipse">
            <a:avLst/>
          </a:prstGeom>
          <a:solidFill>
            <a:schemeClr val="accent2"/>
          </a:solidFill>
          <a:ln/>
        </p:spPr>
      </p:sp>
      <p:sp>
        <p:nvSpPr>
          <p:cNvPr id="9" name="texte-320"/>
          <p:cNvSpPr txBox="1"/>
          <p:nvPr/>
        </p:nvSpPr>
        <p:spPr>
          <a:xfrm>
            <a:off x="548640" y="2633472"/>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2</a:t>
            </a:r>
            <a:endParaRPr lang="en-US" sz="1800" dirty="0"/>
          </a:p>
        </p:txBody>
      </p:sp>
      <p:sp>
        <p:nvSpPr>
          <p:cNvPr id="10" name="texte-321"/>
          <p:cNvSpPr txBox="1"/>
          <p:nvPr/>
        </p:nvSpPr>
        <p:spPr>
          <a:xfrm>
            <a:off x="1325880" y="2560320"/>
            <a:ext cx="10241280" cy="694944"/>
          </a:xfrm>
          <a:prstGeom prst="rect">
            <a:avLst/>
          </a:prstGeom>
          <a:noFill/>
          <a:ln/>
        </p:spPr>
        <p:txBody>
          <a:bodyPr wrap="square" lIns="0" tIns="0" rIns="0" bIns="0" rtlCol="0" anchor="ctr"/>
          <a:lstStyle/>
          <a:p>
            <a:pPr indent="0" marL="0">
              <a:buNone/>
            </a:pPr>
            <a:r>
              <a:rPr lang="en-US" sz="1800" dirty="0">
                <a:solidFill>
                  <a:schemeClr val="bg1"/>
                </a:solidFill>
              </a:rPr>
              <a:t>Dans quel contexte métier faudrait-il préférer la réplication asynchrone (D5) ?</a:t>
            </a:r>
            <a:endParaRPr lang="en-US" sz="1800" dirty="0"/>
          </a:p>
        </p:txBody>
      </p:sp>
      <p:sp>
        <p:nvSpPr>
          <p:cNvPr id="11" name="numero-322"/>
          <p:cNvSpPr/>
          <p:nvPr/>
        </p:nvSpPr>
        <p:spPr>
          <a:xfrm>
            <a:off x="548640" y="3502152"/>
            <a:ext cx="548640" cy="548640"/>
          </a:xfrm>
          <a:prstGeom prst="ellipse">
            <a:avLst/>
          </a:prstGeom>
          <a:solidFill>
            <a:schemeClr val="accent2"/>
          </a:solidFill>
          <a:ln/>
        </p:spPr>
      </p:sp>
      <p:sp>
        <p:nvSpPr>
          <p:cNvPr id="12" name="texte-323"/>
          <p:cNvSpPr txBox="1"/>
          <p:nvPr/>
        </p:nvSpPr>
        <p:spPr>
          <a:xfrm>
            <a:off x="548640" y="3502152"/>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3</a:t>
            </a:r>
            <a:endParaRPr lang="en-US" sz="1800" dirty="0"/>
          </a:p>
        </p:txBody>
      </p:sp>
      <p:sp>
        <p:nvSpPr>
          <p:cNvPr id="13" name="texte-324"/>
          <p:cNvSpPr txBox="1"/>
          <p:nvPr/>
        </p:nvSpPr>
        <p:spPr>
          <a:xfrm>
            <a:off x="1325880" y="3429000"/>
            <a:ext cx="10241280" cy="694944"/>
          </a:xfrm>
          <a:prstGeom prst="rect">
            <a:avLst/>
          </a:prstGeom>
          <a:noFill/>
          <a:ln/>
        </p:spPr>
        <p:txBody>
          <a:bodyPr wrap="square" lIns="0" tIns="0" rIns="0" bIns="0" rtlCol="0" anchor="ctr"/>
          <a:lstStyle/>
          <a:p>
            <a:pPr indent="0" marL="0">
              <a:buNone/>
            </a:pPr>
            <a:r>
              <a:rPr lang="en-US" sz="1800" dirty="0">
                <a:solidFill>
                  <a:schemeClr val="bg1"/>
                </a:solidFill>
              </a:rPr>
              <a:t>Comment rendre le collecteur hautement disponible sans collecter deux fois ?</a:t>
            </a:r>
            <a:endParaRPr lang="en-US" sz="1800" dirty="0"/>
          </a:p>
        </p:txBody>
      </p:sp>
      <p:sp>
        <p:nvSpPr>
          <p:cNvPr id="14" name="numero-325"/>
          <p:cNvSpPr/>
          <p:nvPr/>
        </p:nvSpPr>
        <p:spPr>
          <a:xfrm>
            <a:off x="548640" y="4370832"/>
            <a:ext cx="548640" cy="548640"/>
          </a:xfrm>
          <a:prstGeom prst="ellipse">
            <a:avLst/>
          </a:prstGeom>
          <a:solidFill>
            <a:schemeClr val="accent2"/>
          </a:solidFill>
          <a:ln/>
        </p:spPr>
      </p:sp>
      <p:sp>
        <p:nvSpPr>
          <p:cNvPr id="15" name="texte-326"/>
          <p:cNvSpPr txBox="1"/>
          <p:nvPr/>
        </p:nvSpPr>
        <p:spPr>
          <a:xfrm>
            <a:off x="548640" y="4370832"/>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4</a:t>
            </a:r>
            <a:endParaRPr lang="en-US" sz="1800" dirty="0"/>
          </a:p>
        </p:txBody>
      </p:sp>
      <p:sp>
        <p:nvSpPr>
          <p:cNvPr id="16" name="texte-327"/>
          <p:cNvSpPr txBox="1"/>
          <p:nvPr/>
        </p:nvSpPr>
        <p:spPr>
          <a:xfrm>
            <a:off x="1325880" y="4297680"/>
            <a:ext cx="10241280" cy="694944"/>
          </a:xfrm>
          <a:prstGeom prst="rect">
            <a:avLst/>
          </a:prstGeom>
          <a:noFill/>
          <a:ln/>
        </p:spPr>
        <p:txBody>
          <a:bodyPr wrap="square" lIns="0" tIns="0" rIns="0" bIns="0" rtlCol="0" anchor="ctr"/>
          <a:lstStyle/>
          <a:p>
            <a:pPr indent="0" marL="0">
              <a:buNone/>
            </a:pPr>
            <a:r>
              <a:rPr lang="en-US" sz="1800" dirty="0">
                <a:solidFill>
                  <a:schemeClr val="bg1"/>
                </a:solidFill>
              </a:rPr>
              <a:t>Quels indicateurs présenter au CODIR pour justifier le coût de la plateforme ?</a:t>
            </a:r>
            <a:endParaRPr lang="en-US" sz="1800" dirty="0"/>
          </a:p>
        </p:txBody>
      </p:sp>
      <p:sp>
        <p:nvSpPr>
          <p:cNvPr id="17" name="numero-328"/>
          <p:cNvSpPr/>
          <p:nvPr/>
        </p:nvSpPr>
        <p:spPr>
          <a:xfrm>
            <a:off x="548640" y="5239512"/>
            <a:ext cx="548640" cy="548640"/>
          </a:xfrm>
          <a:prstGeom prst="ellipse">
            <a:avLst/>
          </a:prstGeom>
          <a:solidFill>
            <a:schemeClr val="accent2"/>
          </a:solidFill>
          <a:ln/>
        </p:spPr>
      </p:sp>
      <p:sp>
        <p:nvSpPr>
          <p:cNvPr id="18" name="texte-329"/>
          <p:cNvSpPr txBox="1"/>
          <p:nvPr/>
        </p:nvSpPr>
        <p:spPr>
          <a:xfrm>
            <a:off x="548640" y="5239512"/>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latin typeface="Cambria" pitchFamily="34" charset="0"/>
                <a:ea typeface="Cambria" pitchFamily="34" charset="-122"/>
                <a:cs typeface="Cambria" pitchFamily="34" charset="-120"/>
              </a:rPr>
              <a:t>5</a:t>
            </a:r>
            <a:endParaRPr lang="en-US" sz="1800" dirty="0"/>
          </a:p>
        </p:txBody>
      </p:sp>
      <p:sp>
        <p:nvSpPr>
          <p:cNvPr id="19" name="texte-330"/>
          <p:cNvSpPr txBox="1"/>
          <p:nvPr/>
        </p:nvSpPr>
        <p:spPr>
          <a:xfrm>
            <a:off x="1325880" y="5166360"/>
            <a:ext cx="10241280" cy="694944"/>
          </a:xfrm>
          <a:prstGeom prst="rect">
            <a:avLst/>
          </a:prstGeom>
          <a:noFill/>
          <a:ln/>
        </p:spPr>
        <p:txBody>
          <a:bodyPr wrap="square" lIns="0" tIns="0" rIns="0" bIns="0" rtlCol="0" anchor="ctr"/>
          <a:lstStyle/>
          <a:p>
            <a:pPr indent="0" marL="0">
              <a:buNone/>
            </a:pPr>
            <a:r>
              <a:rPr lang="en-US" sz="1800" dirty="0">
                <a:solidFill>
                  <a:schemeClr val="bg1"/>
                </a:solidFill>
              </a:rPr>
              <a:t>Quelles décisions nouvelles pour l'ouverture aux clients (authentification, isolation, réversibilité) ?</a:t>
            </a:r>
            <a:endParaRPr lang="en-US" sz="18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Live MBA Veille">
  <a:themeElements>
    <a:clrScheme name="Live MBA Veille">
      <a:dk1>
        <a:srgbClr val="1B2236"/>
      </a:dk1>
      <a:lt1>
        <a:srgbClr val="FFFFFF"/>
      </a:lt1>
      <a:dk2>
        <a:srgbClr val="14213D"/>
      </a:dk2>
      <a:lt2>
        <a:srgbClr val="F6F4EF"/>
      </a:lt2>
      <a:accent1>
        <a:srgbClr val="F4A259"/>
      </a:accent1>
      <a:accent2>
        <a:srgbClr val="8ECAE6"/>
      </a:accent2>
      <a:accent3>
        <a:srgbClr val="2A9D8F"/>
      </a:accent3>
      <a:accent4>
        <a:srgbClr val="E76F51"/>
      </a:accent4>
      <a:accent5>
        <a:srgbClr val="5B6B8C"/>
      </a:accent5>
      <a:accent6>
        <a:srgbClr val="DCE1EA"/>
      </a:accent6>
      <a:hlink>
        <a:srgbClr val="2A6FDB"/>
      </a:hlink>
      <a:folHlink>
        <a:srgbClr val="5B6B8C"/>
      </a:folHlink>
    </a:clrScheme>
    <a:fontScheme name="Live MBA Veil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Live MBA · Mastère CTO &amp; Tech Lead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Étude de cas : Industrialiser le radar d'innovation</dc:title>
  <dc:subject>Kubernetes, Istio, PostgreSQL haute disponibilité et observabilité : décisions d'architecture</dc:subject>
  <dc:creator>Nathan DERHORE</dc:creator>
  <cp:lastModifiedBy>Nathan DERHORE</cp:lastModifiedBy>
  <cp:revision>1</cp:revision>
  <dcterms:created xsi:type="dcterms:W3CDTF">2026-10-07T15:51:52Z</dcterms:created>
  <dcterms:modified xsi:type="dcterms:W3CDTF">2026-10-07T15:51:52Z</dcterms:modified>
</cp:coreProperties>
</file>