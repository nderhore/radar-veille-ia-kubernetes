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cas" id="{3c3074ec-c4ce-65a0-e762-1d77583a87dc}">
          <p14:sldIdLst>
            <p14:sldId id="256"/>
            <p14:sldId id="257"/>
            <p14:sldId id="258"/>
            <p14:sldId id="259"/>
            <p14:sldId id="260"/>
            <p14:sldId id="261"/>
            <p14:sldId id="262"/>
          </p14:sldIdLst>
        </p14:section>
        <p14:section name="Décisions" id="{e7effb7b-8d92-86ec-e1b8-fcbcd5f8e50a}">
          <p14:sldIdLst>
            <p14:sldId id="263"/>
            <p14:sldId id="264"/>
            <p14:sldId id="265"/>
            <p14:sldId id="266"/>
            <p14:sldId id="267"/>
            <p14:sldId id="268"/>
            <p14:sldId id="269"/>
          </p14:sldIdLst>
        </p14:section>
        <p14:section name="Cinq pannes" id="{79302466-bfc0-7b2f-3d1a-8cd820ddf7f9}">
          <p14:sldIdLst>
            <p14:sldId id="270"/>
            <p14:sldId id="271"/>
            <p14:sldId id="272"/>
            <p14:sldId id="273"/>
            <p14:sldId id="274"/>
          </p14:sldIdLst>
        </p14:section>
        <p14:section name="Synthèse" id="{c47bcf1d-4084-9616-9428-72fa0cdc958e}">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cas comme la suite du live : le radar construit en Python fonctionne, on doit maintenant l'industrialiser.
Annoncer la forme : un contexte, des exigences, six décisions argumentées, puis cinq pannes reproduites en direct sous Docker Compose.
Le code complet est fourni : backend Java et front Angular dans le dossier plateforme, déploiement Docker Compose dans le dossier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l'entreprise : fictive mais réaliste. 1 400 personnes, trois marchés : industrie, santé, secteur public.
Son modèle repose en grande partie sur des prestations de développement et de recette, précisément ce que l'IA commence à automatiser.
Ses clients santé et public imposent des exigences fortes : hébergement en France, conformité, sécurité.
Message : pour Altéa, la veille technologique conditionne son modèle économique. Si le radar tombe en panne, les décisions se prennent sur des informations périmées.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défi correspond à une décision à prendre dans les 6 à 18 mois, et donc à une question du protocole de veille.
Défi 1 : les agents d'IA automatisent une partie des prestations. C'est une menace sur le chiffre d'affaires, mais aussi une opportunité d'offre.
Défi 2 : les appels d'offres santé et public imposent souveraineté et conformité AI Act.
Défi 3 : la facture d'API des modèles pèse sur les marges des offres IA.
Défi 4 : les attaques par injection de consignes visent les assistants connectés aux données.
Conséquence : le radar devient un outil de décision. Or il est déjà tombé deux fois en panne sans que personne ne le voie. C'est le point de départ de l'industrialisation.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Altéa est fictive mais réaliste : une ESN de taille intermédiaire, trois unités d'affaires, des clients exigeants sur l'hébergement.
Le pilote a fonctionné : deux décisions du CODIR s'appuient sur ses fiches. D'où trois demandes simultanées.
Insister sur la troisième : les pannes silencieuses. C'est le fil rouge du cas. Une veille qui tombe en panne sans que personne ne le sache est pire qu'une absence de veille, car elle donne une fausse assurance.
Insister aussi sur l'équipe : trois personnes, aucune compétence Kubernetes. Ce point pèsera lourd dans la décision D2.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la problématique, puis montrer les deux risques symétriques.
Chaque décision qui suit est un arbitrage entre ces deux colonnes. Demander à la salle de garder cette grille en tête.
Exemple pour amorcer : Kubernetes pour trois services et 300 utilisateurs, avec une équipe qui ne le connaît pas, est-ce de la sur-industrialisation ? Réponse à la décision D2.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calculer le budget d'erreur : 0,5 % de 30 jours, soit environ 3 h 36 min d'indisponibilité tolérée par mois.
NF3 est la réponse directe aux pannes silencieuses : la fraîcheur de la veille devient une exigence mesurée, donc une alerte.
NF4 : distinguer RPO (combien de données peut-on perdre) et RTO (combien de temps pour rétablir). 24 h de perte sont acceptables parce que les signaux se recollectent depuis les sources ; seuls les verdicts des analystes sont irremplaçables.
NF9 annonce la séparation des alertes métier et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Suivre une requête : le navigateur atteint radar-web en HTTPS. Ce conteneur nginx sert le front Angular et relaie /api vers radar-api, qui lit PostgreSQL.
Suivre une collecte : le collecteur interroge les sources, puis envoie les signaux à l'API interne. Il ne voit que l'API.
Trois réseaux Docker séparent les flux : exposition (point d'entrée et API), collecte (collecteur et API), données (API et base, sans accès à Internet).
En bas : l'observabilité. Vector lit les journaux de tous les conteneurs, Prometheus collecte les métriques, Alertmanager route les alertes.
Le tout tient dans un fichier docker-compose.yml, sur un serveur virtuel chez un hébergeur européen.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voter avant de révéler : monolithe, deux services, microservices fins ?
Argument décisif : la collecte et l'API ont des profils de panne opposés. Une source tierce instable ne doit pas dégrader l'API, qui porte l'objectif de disponibilité.
Le collecteur tourne en un seul exemplaire : ce n'est pas un défaut, c'est un choix. Une collecte manquée est rattrapée au cycle suivant, et l'alerte de fraîcheur détecte une absence prolongée.
Signal de révision : au-delà de dix sources, extraire des collecteurs par famille avec une file de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voter : beaucoup d'apprenants répondent Kubernetes par réflexe. Revenir au contexte : 300 utilisateurs, trois services, une équipe de trois personnes sans compétence Kubernetes.
Docker Compose sur un serveur suffit à la charge. L'équipe sait déjà construire des images ; déployer revient à une commande, docker compose up -d.
Ce que l'on accepte : un seul serveur, donc pas de bascule automatique vers un autre serveur. Si le serveur tombe, on redéploie ailleurs à partir des images et de la dernière sauvegarde, avec un objectif de 30 minutes.
C'est une leçon générale : une décision d'architecture n'est jamais bonne dans l'absolu, elle l'est dans un contexte. Avec une équipe déjà formée à Kubernetes ou une exigence de 99,9 %, la réponse changerait.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service mesh, la sécurité repose sur deux mesures simples : un seul point d'entrée, en HTTPS, et des réseaux Docker séparés.
Le point d'entrée : radar-web (nginx) ne relaie que /api. L'API d'ingestion /internal n'est jamais exposée. En production, la terminaison HTTPS se fait devant lui (Caddy ou Traefik, certificat Let's Encrypt).
Les réseaux : la base est sur un réseau interne, sans accès à Internet, que seule l'API rejoint. Le collecteur est sur son propre réseau : il ne voit que l'API.
Ce que l'on accepte : les échanges entre conteneurs ne sont pas chiffrés. C'est acceptable tant que tout tourne sur un seul serveur ; à revoir si l'on passe à plusieurs serveurs.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volume est faible et les signaux se recollectent depuis les sources. Ce qui est irremplaçable, ce sont les verdicts des analystes : quelques kilo-octets.
D'où une solution simple : PostgreSQL sur un volume persistant, redémarré automatiquement par Docker, et une sauvegarde chaque nuit copiée hors du serveur.
Insister : une sauvegarde jamais restaurée n'est pas une sauvegarde. La restauration se teste chaque mois, en une commande.
Ce que l'on accepte : pas de bascule automatique. Une réplique ou une base managée deviennent pertinentes si 24 h de perte deviennent inacceptables, par exemple quand les clients saisiront eux-mêmes des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principe : alerter sur les symptômes visibles par l'utilisateur, pas sur l'état interne. L'API injoignable, les erreurs 5xx, la veille qui ne se met plus à jour.
Deuxième principe : la panne silencieuse du pilote devient une alerte, RadarCollectorStale : une source non collectée depuis 6 h.
Troisième principe : chaque alerte a son runbook (plateforme/docs/runbooks.md) : ce que cela signifie, comment confirmer, comment rétablir.
Les métriques viennent de Spring Boot (Micrometer) ; Prometheus les collecte toutes les 15 secondes. Outils open source et souverains : aucune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lit les journaux de tous les conteneurs en interrogeant le démon Docker, en lecture seule. La transformation VRL extrait le niveau et le message des journaux JSON de Spring Boot.
Masquage RGPD des adresses électroniques avant stockage : la minimisation est faite au plus près de la source.
Les sondes de santé sont filtrées : c'est l'essentiel du volume, et elles n'apportent aucune information.
Vector produit aussi une métrique à partir des journaux, qui alimente l'alerte RadarErrorLogsSpike.
Anecdote de préparation : vector validate a détecté quatre erreurs de typage VRL avant tout lancement. Argument fort pour un langage typé.
Loki n'indexe que deux labels à faible cardinalité : c'est ce qui le rend économique.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Règle à faire retenir : une alerte qui réveille quelqu'un doit exiger une action immédiate. Tout le reste va au bon canal, sans urgence.
Critique : l'astreinte, de jour comme de nuit. Avertissement : le canal d'exploitation, traité dans la journée. Signal de rupture : l'équipe veille, en revue hebdomadaire.
Une alerte métier qui réveille l'astreinte, c'est la fatigue d'alerte assurée : au bout de quelques nuits, plus personne ne regarde les alertes, y compris les vraies.
Le routage se teste sans attendre une panne, avec amtool.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sous Docker Compose (dossier demo) : c'est l'architecture retenue, pas une version allégée.
Ouvrir le radar (http://localhost:8088) : sujets, derniers signaux. Rendre un verdict « bruit » et montrer que le sujet disparaît au recalcul.
Ouvrir Grafana (http://localhost:3000) : disponibilité, requêtes, fraîcheur de la collecte par source, indice de rupture, journaux Loki.
Lancer make charge pour animer les courbes pendant les explications.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Lancer make panne-collecteur. Montrer que le front et l'API fonctionnent toujours : c'est le bénéfice direct du découpage en deux services (D1).
En environ une minute, RadarCollectorDown apparaît dans Alertmanager, routée vers ops : c'est un avertissement, pas une urgence.
Une source qui change de format produit le même effet. Ce n'est pas un incident technique mais un incident de veille, car le radar se fige sans que personne ne le voie. C'est exactement la panne silencieuse du pilote, désormais détectée.
Terminer par make retour-collecteur.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d'abord le filet de sécurité : après un plantage, Docker redémarre le conteneur tout seul (restart: unless-stopped). L'astreinte n'intervient que si l'API ne revient pas.
Lancer make panne-api, qui simule un arrêt durable. Le front affiche « API indisponible ». En environ une minute, RadarApiDown, critique, est routée vers l'astreinte.
Question à la salle : rétablir d'abord ou diagnostiquer d'abord ? Rétablir d'abord : le budget d'erreur est une ressource commune et chaque minute sous incident le consomme. Puis make retour-api.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Scénario : la version 1.1.0 vient d'être mise en production et le taux d'erreur monte. RadarApiErrorRate, critique, part vers l'astreinte.
Parce que les images sont versionnées, le retour arrière est une commande : on relance l'API avec l'image 1.0.0, toujours présente sur le serveur.
Comparer avec l'alternative : reconstruire la version précédente en urgence, sous stress, à partir du code. C'est lent et risqué.
Signal de révision : au-delà d'une mise en production par semaine, faire tourner les deux versions côte à côte derrière le point d'entrée (canari) pour n'exposer qu'une partie des utilisateurs.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Panne 4 : make panne-base puis make charge. L'API répond en erreur ; RadarApiErrorRate part vers l'astreinte. Redémarrer la base avec make retour-base : les données du volume sont intactes. Si le disque était perdu : make restauration.
Panne 5, en direct dans Alertmanager : le signal de rupture (team=veille) va à l'équipe veille, jamais à l'astreinte. Règle : une alerte qui réveille doit exiger une action immédiate.
Bonus sécurité : un collecteur compromis ne voit que l'API, puisqu'il est seul sur le réseau collecte avec elle. Il ne peut pas lire la base. Risque résiduel : l'empoisonnement de la veille par de faux signaux, traité par la validation humaine vue en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registre est le livrable de pilotage : chaque ligne porte la condition de sa propre révision.
Faire remarquer que les signaux de révision sont des questions de veille. C'est la transition vers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Reprendre les cinq messages, en s'appuyant sur les pannes vues en direct.
Le deuxième est le plus important pour un futur CTO : la bonne architecture dépend de l'équipe, de la charge et des exigences, pas de la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Boucler avec le live : les signaux de révision deviennent des questions de veille, formalisées en un KIT-5, présent dans le protocole du service.
L'architecture n'est plus figée : elle devient elle-même un objet de veille, et chaque décision porte la condition de sa révision.
Message final : un CTO ne prend pas des décisions définitives, il prend des décisions révisables, avec les capteurs qui lui diront quand les réviser.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Choisir deux ou trois questions selon le temps et l'intérêt de la salle.
Question 1 : faire chiffrer les seuils : nombre de serveurs, exigence de disponibilité, taille de l'équipe. Kubernetes se justifie quand plusieurs de ces critères basculent.
Question 3 : un verrou en base (ShedLock sur PostgreSQL) permet de lancer deux collecteurs sans collecter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234440"/>
            <a:ext cx="11094415" cy="292608"/>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1600200"/>
            <a:ext cx="7680960" cy="21031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4" name="Text 0"/>
          <p:cNvSpPr/>
          <p:nvPr>
            <p:ph idx="102" type="body" hasCustomPrompt="1"/>
          </p:nvPr>
        </p:nvSpPr>
        <p:spPr>
          <a:xfrm>
            <a:off x="548640" y="3794760"/>
            <a:ext cx="7498080" cy="731520"/>
          </a:xfrm>
          <a:prstGeom prst="rect">
            <a:avLst/>
          </a:prstGeom>
          <a:noFill/>
          <a:ln/>
        </p:spPr>
        <p:txBody>
          <a:bodyPr wrap="square" rtlCol="0"/>
          <a:lstStyle>
            <a:lvl1pPr indent="0" marL="0">
              <a:buNone/>
              <a:defRPr lang="en-US" sz="1800" dirty="0">
                <a:solidFill>
                  <a:schemeClr val="accent6"/>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Étude de cas · Industrialiser le radar d'innovation · Mastère CTO &amp; Tech Lead</a:t>
            </a:r>
            <a:endParaRPr lang="en-US" sz="10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rtlCol="0"/>
          <a:lstStyle>
            <a:lvl1pPr indent="0" marL="0">
              <a:buNone/>
              <a:defRPr lang="en-US" sz="1200" b="1" spc="200" kern="0" dirty="0">
                <a:solidFill>
                  <a:schemeClr val="accent5"/>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Étude de cas · Industrialiser le radar d'innovation · Mastère CTO &amp; Tech Lead</a:t>
            </a:r>
            <a:endParaRPr lang="en-US" sz="10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234440"/>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ÉTUDE DE CAS · MASTÈRE CTO &amp; TECH LEAD</a:t>
            </a:r>
            <a:endParaRPr lang="en-US" sz="1200" dirty="0"/>
          </a:p>
        </p:txBody>
      </p:sp>
      <p:sp>
        <p:nvSpPr>
          <p:cNvPr id="3" name="Text 0"/>
          <p:cNvSpPr/>
          <p:nvPr>
            <p:ph idx="101" type="title" hasCustomPrompt="1"/>
          </p:nvPr>
        </p:nvSpPr>
        <p:spPr>
          <a:xfrm>
            <a:off x="548640" y="1600200"/>
            <a:ext cx="7680960" cy="210312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Industrialiser le radar d'innovation</a:t>
            </a:r>
            <a:endParaRPr lang="en-US" sz="4400" dirty="0"/>
          </a:p>
        </p:txBody>
      </p:sp>
      <p:sp>
        <p:nvSpPr>
          <p:cNvPr id="4" name="Text 0"/>
          <p:cNvSpPr/>
          <p:nvPr>
            <p:ph idx="102" type="body" hasCustomPrompt="1"/>
          </p:nvPr>
        </p:nvSpPr>
        <p:spPr>
          <a:xfrm>
            <a:off x="548640" y="3794760"/>
            <a:ext cx="7498080" cy="73152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Docker Compose, PostgreSQL et observabilité : six décisions d'architecture, cinq pannes</a:t>
            </a:r>
            <a:endParaRPr lang="en-US" sz="1800" dirty="0"/>
          </a:p>
        </p:txBody>
      </p:sp>
      <p:sp>
        <p:nvSpPr>
          <p:cNvPr id="5" name="pastille-1"/>
          <p:cNvSpPr/>
          <p:nvPr/>
        </p:nvSpPr>
        <p:spPr>
          <a:xfrm>
            <a:off x="548640" y="5074920"/>
            <a:ext cx="2377440" cy="438912"/>
          </a:xfrm>
          <a:prstGeom prst="roundRect">
            <a:avLst>
              <a:gd name="adj" fmla="val 50000"/>
            </a:avLst>
          </a:prstGeom>
          <a:solidFill>
            <a:schemeClr val="accent1"/>
          </a:solidFill>
          <a:ln/>
        </p:spPr>
      </p:sp>
      <p:sp>
        <p:nvSpPr>
          <p:cNvPr id="6" name="texte-2"/>
          <p:cNvSpPr txBox="1"/>
          <p:nvPr/>
        </p:nvSpPr>
        <p:spPr>
          <a:xfrm>
            <a:off x="548640" y="5074920"/>
            <a:ext cx="2377440" cy="438912"/>
          </a:xfrm>
          <a:prstGeom prst="rect">
            <a:avLst/>
          </a:prstGeom>
          <a:noFill/>
          <a:ln/>
        </p:spPr>
        <p:txBody>
          <a:bodyPr wrap="square" lIns="0" tIns="0" rIns="0" bIns="0" rtlCol="0" anchor="ctr"/>
          <a:lstStyle/>
          <a:p>
            <a:pPr algn="ctr" indent="0" marL="0">
              <a:buNone/>
            </a:pPr>
            <a:r>
              <a:rPr lang="en-US" sz="1300" b="1" dirty="0">
                <a:solidFill>
                  <a:schemeClr val="tx2"/>
                </a:solidFill>
              </a:rPr>
              <a:t>Java 21 · Spring Boot 4.1</a:t>
            </a:r>
            <a:endParaRPr lang="en-US" sz="1300" dirty="0"/>
          </a:p>
        </p:txBody>
      </p:sp>
      <p:sp>
        <p:nvSpPr>
          <p:cNvPr id="7" name="pastille-3"/>
          <p:cNvSpPr/>
          <p:nvPr/>
        </p:nvSpPr>
        <p:spPr>
          <a:xfrm>
            <a:off x="3063240" y="5074920"/>
            <a:ext cx="1600200" cy="438912"/>
          </a:xfrm>
          <a:prstGeom prst="roundRect">
            <a:avLst>
              <a:gd name="adj" fmla="val 50000"/>
            </a:avLst>
          </a:prstGeom>
          <a:solidFill>
            <a:schemeClr val="accent2"/>
          </a:solidFill>
          <a:ln/>
        </p:spPr>
      </p:sp>
      <p:sp>
        <p:nvSpPr>
          <p:cNvPr id="8" name="texte-4"/>
          <p:cNvSpPr txBox="1"/>
          <p:nvPr/>
        </p:nvSpPr>
        <p:spPr>
          <a:xfrm>
            <a:off x="3063240" y="5074920"/>
            <a:ext cx="1600200" cy="438912"/>
          </a:xfrm>
          <a:prstGeom prst="rect">
            <a:avLst/>
          </a:prstGeom>
          <a:noFill/>
          <a:ln/>
        </p:spPr>
        <p:txBody>
          <a:bodyPr wrap="square" lIns="0" tIns="0" rIns="0" bIns="0" rtlCol="0" anchor="ctr"/>
          <a:lstStyle/>
          <a:p>
            <a:pPr algn="ctr" indent="0" marL="0">
              <a:buNone/>
            </a:pPr>
            <a:r>
              <a:rPr lang="en-US" sz="1300" b="1" dirty="0">
                <a:solidFill>
                  <a:schemeClr val="tx2"/>
                </a:solidFill>
              </a:rPr>
              <a:t>Angular 22</a:t>
            </a:r>
            <a:endParaRPr lang="en-US" sz="1300" dirty="0"/>
          </a:p>
        </p:txBody>
      </p:sp>
      <p:sp>
        <p:nvSpPr>
          <p:cNvPr id="9" name="pastille-5"/>
          <p:cNvSpPr/>
          <p:nvPr/>
        </p:nvSpPr>
        <p:spPr>
          <a:xfrm>
            <a:off x="4800600" y="5074920"/>
            <a:ext cx="2651760" cy="438912"/>
          </a:xfrm>
          <a:prstGeom prst="roundRect">
            <a:avLst>
              <a:gd name="adj" fmla="val 50000"/>
            </a:avLst>
          </a:prstGeom>
          <a:solidFill>
            <a:schemeClr val="accent1"/>
          </a:solidFill>
          <a:ln/>
        </p:spPr>
      </p:sp>
      <p:sp>
        <p:nvSpPr>
          <p:cNvPr id="10" name="texte-6"/>
          <p:cNvSpPr txBox="1"/>
          <p:nvPr/>
        </p:nvSpPr>
        <p:spPr>
          <a:xfrm>
            <a:off x="4800600" y="5074920"/>
            <a:ext cx="2651760" cy="438912"/>
          </a:xfrm>
          <a:prstGeom prst="rect">
            <a:avLst/>
          </a:prstGeom>
          <a:noFill/>
          <a:ln/>
        </p:spPr>
        <p:txBody>
          <a:bodyPr wrap="square" lIns="0" tIns="0" rIns="0" bIns="0" rtlCol="0" anchor="ctr"/>
          <a:lstStyle/>
          <a:p>
            <a:pPr algn="ctr" indent="0" marL="0">
              <a:buNone/>
            </a:pPr>
            <a:r>
              <a:rPr lang="en-US" sz="1300" b="1" dirty="0">
                <a:solidFill>
                  <a:schemeClr val="tx2"/>
                </a:solidFill>
              </a:rPr>
              <a:t>Docker Compose · PostgreSQL</a:t>
            </a:r>
            <a:endParaRPr lang="en-US" sz="1300" dirty="0"/>
          </a:p>
        </p:txBody>
      </p:sp>
      <p:sp>
        <p:nvSpPr>
          <p:cNvPr id="11" name="pastille-7"/>
          <p:cNvSpPr/>
          <p:nvPr/>
        </p:nvSpPr>
        <p:spPr>
          <a:xfrm>
            <a:off x="7589520" y="5074920"/>
            <a:ext cx="2834640" cy="438912"/>
          </a:xfrm>
          <a:prstGeom prst="roundRect">
            <a:avLst>
              <a:gd name="adj" fmla="val 50000"/>
            </a:avLst>
          </a:prstGeom>
          <a:solidFill>
            <a:schemeClr val="accent2"/>
          </a:solidFill>
          <a:ln/>
        </p:spPr>
      </p:sp>
      <p:sp>
        <p:nvSpPr>
          <p:cNvPr id="12" name="texte-8"/>
          <p:cNvSpPr txBox="1"/>
          <p:nvPr/>
        </p:nvSpPr>
        <p:spPr>
          <a:xfrm>
            <a:off x="7589520" y="5074920"/>
            <a:ext cx="2834640" cy="438912"/>
          </a:xfrm>
          <a:prstGeom prst="rect">
            <a:avLst/>
          </a:prstGeom>
          <a:noFill/>
          <a:ln/>
        </p:spPr>
        <p:txBody>
          <a:bodyPr wrap="square" lIns="0" tIns="0" rIns="0" bIns="0" rtlCol="0" anchor="ctr"/>
          <a:lstStyle/>
          <a:p>
            <a:pPr algn="ctr" indent="0" marL="0">
              <a:buNone/>
            </a:pPr>
            <a:r>
              <a:rPr lang="en-US" sz="1300" b="1" dirty="0">
                <a:solidFill>
                  <a:schemeClr val="tx2"/>
                </a:solidFill>
              </a:rPr>
              <a:t>Prometheus · Grafana · Vector</a:t>
            </a:r>
            <a:endParaRPr lang="en-US" sz="1300" dirty="0"/>
          </a:p>
        </p:txBody>
      </p:sp>
      <p:sp>
        <p:nvSpPr>
          <p:cNvPr id="13" name="texte-9"/>
          <p:cNvSpPr txBox="1"/>
          <p:nvPr/>
        </p:nvSpPr>
        <p:spPr>
          <a:xfrm>
            <a:off x="548640" y="5897880"/>
            <a:ext cx="9144000" cy="320040"/>
          </a:xfrm>
          <a:prstGeom prst="rect">
            <a:avLst/>
          </a:prstGeom>
          <a:noFill/>
          <a:ln/>
        </p:spPr>
        <p:txBody>
          <a:bodyPr wrap="square" lIns="0" tIns="0" rIns="0" bIns="0" rtlCol="0" anchor="t"/>
          <a:lstStyle/>
          <a:p>
            <a:pPr indent="0" marL="0">
              <a:buNone/>
            </a:pPr>
            <a:r>
              <a:rPr lang="en-US" sz="1200" dirty="0">
                <a:solidFill>
                  <a:schemeClr val="accent6"/>
                </a:solidFill>
              </a:rPr>
              <a:t>Nathan DERHORE · Prolongement du live « Définition du protocole de veille stratégique »</a:t>
            </a:r>
            <a:endParaRPr lang="en-US" sz="1200" dirty="0"/>
          </a:p>
        </p:txBody>
      </p:sp>
      <p:sp>
        <p:nvSpPr>
          <p:cNvPr id="14" name="couche-10"/>
          <p:cNvSpPr/>
          <p:nvPr/>
        </p:nvSpPr>
        <p:spPr>
          <a:xfrm>
            <a:off x="8549640" y="1005840"/>
            <a:ext cx="3017520" cy="566928"/>
          </a:xfrm>
          <a:prstGeom prst="roundRect">
            <a:avLst>
              <a:gd name="adj" fmla="val 12903"/>
            </a:avLst>
          </a:prstGeom>
          <a:solidFill>
            <a:schemeClr val="accent1"/>
          </a:solidFill>
          <a:ln/>
        </p:spPr>
      </p:sp>
      <p:sp>
        <p:nvSpPr>
          <p:cNvPr id="15" name="texte-11"/>
          <p:cNvSpPr txBox="1"/>
          <p:nvPr/>
        </p:nvSpPr>
        <p:spPr>
          <a:xfrm>
            <a:off x="8549640" y="1005840"/>
            <a:ext cx="3017520" cy="566928"/>
          </a:xfrm>
          <a:prstGeom prst="rect">
            <a:avLst/>
          </a:prstGeom>
          <a:noFill/>
          <a:ln/>
        </p:spPr>
        <p:txBody>
          <a:bodyPr wrap="square" lIns="0" tIns="0" rIns="0" bIns="0" rtlCol="0" anchor="ctr"/>
          <a:lstStyle/>
          <a:p>
            <a:pPr algn="ctr" indent="0" marL="0">
              <a:buNone/>
            </a:pPr>
            <a:r>
              <a:rPr lang="en-US" sz="1400" b="1" dirty="0">
                <a:solidFill>
                  <a:schemeClr val="tx2"/>
                </a:solidFill>
              </a:rPr>
              <a:t>Application</a:t>
            </a:r>
            <a:endParaRPr lang="en-US" sz="1400" dirty="0"/>
          </a:p>
        </p:txBody>
      </p:sp>
      <p:sp>
        <p:nvSpPr>
          <p:cNvPr id="16" name="couche-12"/>
          <p:cNvSpPr/>
          <p:nvPr/>
        </p:nvSpPr>
        <p:spPr>
          <a:xfrm>
            <a:off x="8659368" y="1719072"/>
            <a:ext cx="2798064" cy="566928"/>
          </a:xfrm>
          <a:prstGeom prst="roundRect">
            <a:avLst>
              <a:gd name="adj" fmla="val 12903"/>
            </a:avLst>
          </a:prstGeom>
          <a:solidFill>
            <a:schemeClr val="accent2"/>
          </a:solidFill>
          <a:ln/>
        </p:spPr>
      </p:sp>
      <p:sp>
        <p:nvSpPr>
          <p:cNvPr id="17" name="texte-13"/>
          <p:cNvSpPr txBox="1"/>
          <p:nvPr/>
        </p:nvSpPr>
        <p:spPr>
          <a:xfrm>
            <a:off x="8659368" y="1719072"/>
            <a:ext cx="2798064" cy="566928"/>
          </a:xfrm>
          <a:prstGeom prst="rect">
            <a:avLst/>
          </a:prstGeom>
          <a:noFill/>
          <a:ln/>
        </p:spPr>
        <p:txBody>
          <a:bodyPr wrap="square" lIns="0" tIns="0" rIns="0" bIns="0" rtlCol="0" anchor="ctr"/>
          <a:lstStyle/>
          <a:p>
            <a:pPr algn="ctr" indent="0" marL="0">
              <a:buNone/>
            </a:pPr>
            <a:r>
              <a:rPr lang="en-US" sz="1400" b="1" dirty="0">
                <a:solidFill>
                  <a:schemeClr val="tx2"/>
                </a:solidFill>
              </a:rPr>
              <a:t>Point d'entrée HTTPS</a:t>
            </a:r>
            <a:endParaRPr lang="en-US" sz="1400" dirty="0"/>
          </a:p>
        </p:txBody>
      </p:sp>
      <p:sp>
        <p:nvSpPr>
          <p:cNvPr id="18" name="couche-14"/>
          <p:cNvSpPr/>
          <p:nvPr/>
        </p:nvSpPr>
        <p:spPr>
          <a:xfrm>
            <a:off x="8769096" y="2432304"/>
            <a:ext cx="2578608" cy="566928"/>
          </a:xfrm>
          <a:prstGeom prst="roundRect">
            <a:avLst>
              <a:gd name="adj" fmla="val 12903"/>
            </a:avLst>
          </a:prstGeom>
          <a:solidFill>
            <a:schemeClr val="accent3"/>
          </a:solidFill>
          <a:ln/>
        </p:spPr>
      </p:sp>
      <p:sp>
        <p:nvSpPr>
          <p:cNvPr id="19" name="texte-15"/>
          <p:cNvSpPr txBox="1"/>
          <p:nvPr/>
        </p:nvSpPr>
        <p:spPr>
          <a:xfrm>
            <a:off x="8769096" y="2432304"/>
            <a:ext cx="2578608" cy="566928"/>
          </a:xfrm>
          <a:prstGeom prst="rect">
            <a:avLst/>
          </a:prstGeom>
          <a:noFill/>
          <a:ln/>
        </p:spPr>
        <p:txBody>
          <a:bodyPr wrap="square" lIns="0" tIns="0" rIns="0" bIns="0" rtlCol="0" anchor="ctr"/>
          <a:lstStyle/>
          <a:p>
            <a:pPr algn="ctr" indent="0" marL="0">
              <a:buNone/>
            </a:pPr>
            <a:r>
              <a:rPr lang="en-US" sz="1400" b="1" dirty="0">
                <a:solidFill>
                  <a:schemeClr val="tx2"/>
                </a:solidFill>
              </a:rPr>
              <a:t>PostgreSQL sauvegardé</a:t>
            </a:r>
            <a:endParaRPr lang="en-US" sz="1400" dirty="0"/>
          </a:p>
        </p:txBody>
      </p:sp>
      <p:sp>
        <p:nvSpPr>
          <p:cNvPr id="20" name="couche-16"/>
          <p:cNvSpPr/>
          <p:nvPr/>
        </p:nvSpPr>
        <p:spPr>
          <a:xfrm>
            <a:off x="8878824" y="3145536"/>
            <a:ext cx="2359152" cy="566928"/>
          </a:xfrm>
          <a:prstGeom prst="roundRect">
            <a:avLst>
              <a:gd name="adj" fmla="val 12903"/>
            </a:avLst>
          </a:prstGeom>
          <a:solidFill>
            <a:schemeClr val="accent5"/>
          </a:solidFill>
          <a:ln/>
        </p:spPr>
      </p:sp>
      <p:sp>
        <p:nvSpPr>
          <p:cNvPr id="21" name="texte-17"/>
          <p:cNvSpPr txBox="1"/>
          <p:nvPr/>
        </p:nvSpPr>
        <p:spPr>
          <a:xfrm>
            <a:off x="8878824" y="3145536"/>
            <a:ext cx="2359152" cy="566928"/>
          </a:xfrm>
          <a:prstGeom prst="rect">
            <a:avLst/>
          </a:prstGeom>
          <a:noFill/>
          <a:ln/>
        </p:spPr>
        <p:txBody>
          <a:bodyPr wrap="square" lIns="0" tIns="0" rIns="0" bIns="0" rtlCol="0" anchor="ctr"/>
          <a:lstStyle/>
          <a:p>
            <a:pPr algn="ctr" indent="0" marL="0">
              <a:buNone/>
            </a:pPr>
            <a:r>
              <a:rPr lang="en-US" sz="1400" b="1" dirty="0">
                <a:solidFill>
                  <a:schemeClr val="tx2"/>
                </a:solidFill>
              </a:rPr>
              <a:t>Observabilité</a:t>
            </a:r>
            <a:endParaRPr lang="en-US" sz="1400" dirty="0"/>
          </a:p>
        </p:txBody>
      </p:sp>
      <p:sp>
        <p:nvSpPr>
          <p:cNvPr id="22" name="couche-18"/>
          <p:cNvSpPr/>
          <p:nvPr/>
        </p:nvSpPr>
        <p:spPr>
          <a:xfrm>
            <a:off x="8988552" y="3858768"/>
            <a:ext cx="2139696" cy="566928"/>
          </a:xfrm>
          <a:prstGeom prst="roundRect">
            <a:avLst>
              <a:gd name="adj" fmla="val 12903"/>
            </a:avLst>
          </a:prstGeom>
          <a:solidFill>
            <a:schemeClr val="accent6"/>
          </a:solidFill>
          <a:ln/>
        </p:spPr>
      </p:sp>
      <p:sp>
        <p:nvSpPr>
          <p:cNvPr id="23" name="texte-19"/>
          <p:cNvSpPr txBox="1"/>
          <p:nvPr/>
        </p:nvSpPr>
        <p:spPr>
          <a:xfrm>
            <a:off x="8988552" y="3858768"/>
            <a:ext cx="2139696" cy="566928"/>
          </a:xfrm>
          <a:prstGeom prst="rect">
            <a:avLst/>
          </a:prstGeom>
          <a:noFill/>
          <a:ln/>
        </p:spPr>
        <p:txBody>
          <a:bodyPr wrap="square" lIns="0" tIns="0" rIns="0" bIns="0" rtlCol="0" anchor="ctr"/>
          <a:lstStyle/>
          <a:p>
            <a:pPr algn="ctr" indent="0" marL="0">
              <a:buNone/>
            </a:pPr>
            <a:r>
              <a:rPr lang="en-US" sz="1400" b="1" dirty="0">
                <a:solidFill>
                  <a:schemeClr val="tx2"/>
                </a:solidFill>
              </a:rPr>
              <a:t>Docker Compose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LE CAS · L'ENTREPRISE</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Altéa Services, une ESN face à l'IA</a:t>
            </a:r>
            <a:endParaRPr lang="en-US" sz="3200" dirty="0"/>
          </a:p>
        </p:txBody>
      </p:sp>
      <p:sp>
        <p:nvSpPr>
          <p:cNvPr id="5" name="carte-20"/>
          <p:cNvSpPr/>
          <p:nvPr/>
        </p:nvSpPr>
        <p:spPr>
          <a:xfrm>
            <a:off x="548640" y="1691640"/>
            <a:ext cx="3566160" cy="2011680"/>
          </a:xfrm>
          <a:prstGeom prst="roundRect">
            <a:avLst>
              <a:gd name="adj" fmla="val 3636"/>
            </a:avLst>
          </a:prstGeom>
          <a:solidFill>
            <a:schemeClr val="bg1"/>
          </a:solidFill>
          <a:ln w="9525">
            <a:solidFill>
              <a:schemeClr val="accent6"/>
            </a:solidFill>
            <a:prstDash val="solid"/>
          </a:ln>
        </p:spPr>
      </p:sp>
      <p:sp>
        <p:nvSpPr>
          <p:cNvPr id="6" name="pastille-21"/>
          <p:cNvSpPr/>
          <p:nvPr/>
        </p:nvSpPr>
        <p:spPr>
          <a:xfrm>
            <a:off x="822960" y="1920240"/>
            <a:ext cx="640080" cy="640080"/>
          </a:xfrm>
          <a:prstGeom prst="ellipse">
            <a:avLst/>
          </a:prstGeom>
          <a:solidFill>
            <a:schemeClr val="accent3"/>
          </a:solidFill>
          <a:ln/>
        </p:spPr>
      </p:sp>
      <p:pic>
        <p:nvPicPr>
          <p:cNvPr id="7" name="icone-22" descr="preencoded.png">    </p:cNvPr>
          <p:cNvPicPr>
            <a:picLocks noChangeAspect="1"/>
          </p:cNvPicPr>
          <p:nvPr/>
        </p:nvPicPr>
        <p:blipFill>
          <a:blip r:embed="rId1"/>
          <a:stretch>
            <a:fillRect/>
          </a:stretch>
        </p:blipFill>
        <p:spPr>
          <a:xfrm>
            <a:off x="963778" y="2061058"/>
            <a:ext cx="358445" cy="358445"/>
          </a:xfrm>
          <a:prstGeom prst="rect">
            <a:avLst/>
          </a:prstGeom>
        </p:spPr>
      </p:pic>
      <p:sp>
        <p:nvSpPr>
          <p:cNvPr id="8" name="texte-23"/>
          <p:cNvSpPr txBox="1"/>
          <p:nvPr/>
        </p:nvSpPr>
        <p:spPr>
          <a:xfrm>
            <a:off x="1645920" y="1783080"/>
            <a:ext cx="2286000" cy="86868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1 400</a:t>
            </a:r>
            <a:endParaRPr lang="en-US" sz="4000" dirty="0"/>
          </a:p>
        </p:txBody>
      </p:sp>
      <p:sp>
        <p:nvSpPr>
          <p:cNvPr id="9" name="texte-24"/>
          <p:cNvSpPr txBox="1"/>
          <p:nvPr/>
        </p:nvSpPr>
        <p:spPr>
          <a:xfrm>
            <a:off x="822960" y="2743200"/>
            <a:ext cx="3017520" cy="822960"/>
          </a:xfrm>
          <a:prstGeom prst="rect">
            <a:avLst/>
          </a:prstGeom>
          <a:noFill/>
          <a:ln/>
        </p:spPr>
        <p:txBody>
          <a:bodyPr wrap="square" lIns="0" tIns="0" rIns="0" bIns="0" rtlCol="0" anchor="t"/>
          <a:lstStyle/>
          <a:p>
            <a:pPr indent="0" marL="0">
              <a:buNone/>
            </a:pPr>
            <a:r>
              <a:rPr lang="en-US" sz="1600" dirty="0">
                <a:solidFill>
                  <a:schemeClr val="tx1"/>
                </a:solidFill>
              </a:rPr>
              <a:t>collaborateurs, siège à Lyon</a:t>
            </a:r>
            <a:endParaRPr lang="en-US" sz="1600" dirty="0"/>
          </a:p>
        </p:txBody>
      </p:sp>
      <p:sp>
        <p:nvSpPr>
          <p:cNvPr id="10" name="carte-25"/>
          <p:cNvSpPr/>
          <p:nvPr/>
        </p:nvSpPr>
        <p:spPr>
          <a:xfrm>
            <a:off x="4297680" y="1691640"/>
            <a:ext cx="3566160" cy="2011680"/>
          </a:xfrm>
          <a:prstGeom prst="roundRect">
            <a:avLst>
              <a:gd name="adj" fmla="val 3636"/>
            </a:avLst>
          </a:prstGeom>
          <a:solidFill>
            <a:schemeClr val="bg1"/>
          </a:solidFill>
          <a:ln w="9525">
            <a:solidFill>
              <a:schemeClr val="accent6"/>
            </a:solidFill>
            <a:prstDash val="solid"/>
          </a:ln>
        </p:spPr>
      </p:sp>
      <p:sp>
        <p:nvSpPr>
          <p:cNvPr id="11" name="pastille-26"/>
          <p:cNvSpPr/>
          <p:nvPr/>
        </p:nvSpPr>
        <p:spPr>
          <a:xfrm>
            <a:off x="4572000" y="1920240"/>
            <a:ext cx="640080" cy="640080"/>
          </a:xfrm>
          <a:prstGeom prst="ellipse">
            <a:avLst/>
          </a:prstGeom>
          <a:solidFill>
            <a:schemeClr val="accent1"/>
          </a:solidFill>
          <a:ln/>
        </p:spPr>
      </p:sp>
      <p:pic>
        <p:nvPicPr>
          <p:cNvPr id="12" name="icone-27" descr="preencoded.png">    </p:cNvPr>
          <p:cNvPicPr>
            <a:picLocks noChangeAspect="1"/>
          </p:cNvPicPr>
          <p:nvPr/>
        </p:nvPicPr>
        <p:blipFill>
          <a:blip r:embed="rId2"/>
          <a:stretch>
            <a:fillRect/>
          </a:stretch>
        </p:blipFill>
        <p:spPr>
          <a:xfrm>
            <a:off x="4712818" y="2061058"/>
            <a:ext cx="358445" cy="358445"/>
          </a:xfrm>
          <a:prstGeom prst="rect">
            <a:avLst/>
          </a:prstGeom>
        </p:spPr>
      </p:pic>
      <p:sp>
        <p:nvSpPr>
          <p:cNvPr id="13" name="texte-28"/>
          <p:cNvSpPr txBox="1"/>
          <p:nvPr/>
        </p:nvSpPr>
        <p:spPr>
          <a:xfrm>
            <a:off x="5394960" y="1783080"/>
            <a:ext cx="2286000" cy="8686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a:t>
            </a:r>
            <a:endParaRPr lang="en-US" sz="4000" dirty="0"/>
          </a:p>
        </p:txBody>
      </p:sp>
      <p:sp>
        <p:nvSpPr>
          <p:cNvPr id="14" name="texte-29"/>
          <p:cNvSpPr txBox="1"/>
          <p:nvPr/>
        </p:nvSpPr>
        <p:spPr>
          <a:xfrm>
            <a:off x="4572000" y="2743200"/>
            <a:ext cx="3017520" cy="822960"/>
          </a:xfrm>
          <a:prstGeom prst="rect">
            <a:avLst/>
          </a:prstGeom>
          <a:noFill/>
          <a:ln/>
        </p:spPr>
        <p:txBody>
          <a:bodyPr wrap="square" lIns="0" tIns="0" rIns="0" bIns="0" rtlCol="0" anchor="t"/>
          <a:lstStyle/>
          <a:p>
            <a:pPr indent="0" marL="0">
              <a:buNone/>
            </a:pPr>
            <a:r>
              <a:rPr lang="en-US" sz="1600" dirty="0">
                <a:solidFill>
                  <a:schemeClr val="tx1"/>
                </a:solidFill>
              </a:rPr>
              <a:t>marchés : industrie, santé, secteur public</a:t>
            </a:r>
            <a:endParaRPr lang="en-US" sz="1600" dirty="0"/>
          </a:p>
        </p:txBody>
      </p:sp>
      <p:sp>
        <p:nvSpPr>
          <p:cNvPr id="15" name="carte-30"/>
          <p:cNvSpPr/>
          <p:nvPr/>
        </p:nvSpPr>
        <p:spPr>
          <a:xfrm>
            <a:off x="8046720" y="1691640"/>
            <a:ext cx="3566160" cy="2011680"/>
          </a:xfrm>
          <a:prstGeom prst="roundRect">
            <a:avLst>
              <a:gd name="adj" fmla="val 3636"/>
            </a:avLst>
          </a:prstGeom>
          <a:solidFill>
            <a:schemeClr val="bg1"/>
          </a:solidFill>
          <a:ln w="9525">
            <a:solidFill>
              <a:schemeClr val="accent6"/>
            </a:solidFill>
            <a:prstDash val="solid"/>
          </a:ln>
        </p:spPr>
      </p:sp>
      <p:sp>
        <p:nvSpPr>
          <p:cNvPr id="16" name="pastille-31"/>
          <p:cNvSpPr/>
          <p:nvPr/>
        </p:nvSpPr>
        <p:spPr>
          <a:xfrm>
            <a:off x="8321040" y="1920240"/>
            <a:ext cx="640080" cy="640080"/>
          </a:xfrm>
          <a:prstGeom prst="ellipse">
            <a:avLst/>
          </a:prstGeom>
          <a:solidFill>
            <a:schemeClr val="tx2"/>
          </a:solidFill>
          <a:ln/>
        </p:spPr>
      </p:sp>
      <p:pic>
        <p:nvPicPr>
          <p:cNvPr id="17" name="icone-32" descr="preencoded.png">    </p:cNvPr>
          <p:cNvPicPr>
            <a:picLocks noChangeAspect="1"/>
          </p:cNvPicPr>
          <p:nvPr/>
        </p:nvPicPr>
        <p:blipFill>
          <a:blip r:embed="rId3"/>
          <a:stretch>
            <a:fillRect/>
          </a:stretch>
        </p:blipFill>
        <p:spPr>
          <a:xfrm>
            <a:off x="8461858" y="2061058"/>
            <a:ext cx="358445" cy="358445"/>
          </a:xfrm>
          <a:prstGeom prst="rect">
            <a:avLst/>
          </a:prstGeom>
        </p:spPr>
      </p:pic>
      <p:sp>
        <p:nvSpPr>
          <p:cNvPr id="18" name="texte-33"/>
          <p:cNvSpPr txBox="1"/>
          <p:nvPr/>
        </p:nvSpPr>
        <p:spPr>
          <a:xfrm>
            <a:off x="9144000" y="1783080"/>
            <a:ext cx="2286000" cy="86868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6 mois</a:t>
            </a:r>
            <a:endParaRPr lang="en-US" sz="4000" dirty="0"/>
          </a:p>
        </p:txBody>
      </p:sp>
      <p:sp>
        <p:nvSpPr>
          <p:cNvPr id="19" name="texte-34"/>
          <p:cNvSpPr txBox="1"/>
          <p:nvPr/>
        </p:nvSpPr>
        <p:spPr>
          <a:xfrm>
            <a:off x="8321040" y="2743200"/>
            <a:ext cx="3017520" cy="822960"/>
          </a:xfrm>
          <a:prstGeom prst="rect">
            <a:avLst/>
          </a:prstGeom>
          <a:noFill/>
          <a:ln/>
        </p:spPr>
        <p:txBody>
          <a:bodyPr wrap="square" lIns="0" tIns="0" rIns="0" bIns="0" rtlCol="0" anchor="t"/>
          <a:lstStyle/>
          <a:p>
            <a:pPr indent="0" marL="0">
              <a:buNone/>
            </a:pPr>
            <a:r>
              <a:rPr lang="en-US" sz="1600" dirty="0">
                <a:solidFill>
                  <a:schemeClr val="tx1"/>
                </a:solidFill>
              </a:rPr>
              <a:t>d'existence du pilote de veille, déjà utilisé par le CODIR</a:t>
            </a:r>
            <a:endParaRPr lang="en-US" sz="1600" dirty="0"/>
          </a:p>
        </p:txBody>
      </p:sp>
      <p:sp>
        <p:nvSpPr>
          <p:cNvPr id="20" name="carte-35"/>
          <p:cNvSpPr/>
          <p:nvPr/>
        </p:nvSpPr>
        <p:spPr>
          <a:xfrm>
            <a:off x="548640" y="3931920"/>
            <a:ext cx="5394960" cy="2011680"/>
          </a:xfrm>
          <a:prstGeom prst="roundRect">
            <a:avLst>
              <a:gd name="adj" fmla="val 3636"/>
            </a:avLst>
          </a:prstGeom>
          <a:solidFill>
            <a:schemeClr val="bg1"/>
          </a:solidFill>
          <a:ln w="9525">
            <a:solidFill>
              <a:schemeClr val="accent6"/>
            </a:solidFill>
            <a:prstDash val="solid"/>
          </a:ln>
        </p:spPr>
      </p:sp>
      <p:sp>
        <p:nvSpPr>
          <p:cNvPr id="21" name="pastille-36"/>
          <p:cNvSpPr/>
          <p:nvPr/>
        </p:nvSpPr>
        <p:spPr>
          <a:xfrm>
            <a:off x="777240" y="4160520"/>
            <a:ext cx="548640" cy="548640"/>
          </a:xfrm>
          <a:prstGeom prst="ellipse">
            <a:avLst/>
          </a:prstGeom>
          <a:solidFill>
            <a:schemeClr val="accent1"/>
          </a:solidFill>
          <a:ln/>
        </p:spPr>
      </p:sp>
      <p:pic>
        <p:nvPicPr>
          <p:cNvPr id="22" name="icone-37" descr="preencoded.png">    </p:cNvPr>
          <p:cNvPicPr>
            <a:picLocks noChangeAspect="1"/>
          </p:cNvPicPr>
          <p:nvPr/>
        </p:nvPicPr>
        <p:blipFill>
          <a:blip r:embed="rId4"/>
          <a:stretch>
            <a:fillRect/>
          </a:stretch>
        </p:blipFill>
        <p:spPr>
          <a:xfrm>
            <a:off x="897941" y="4281221"/>
            <a:ext cx="307238" cy="307238"/>
          </a:xfrm>
          <a:prstGeom prst="rect">
            <a:avLst/>
          </a:prstGeom>
        </p:spPr>
      </p:pic>
      <p:sp>
        <p:nvSpPr>
          <p:cNvPr id="23" name="texte-38"/>
          <p:cNvSpPr txBox="1"/>
          <p:nvPr/>
        </p:nvSpPr>
        <p:spPr>
          <a:xfrm>
            <a:off x="1463040" y="4160520"/>
            <a:ext cx="4297680" cy="548640"/>
          </a:xfrm>
          <a:prstGeom prst="rect">
            <a:avLst/>
          </a:prstGeom>
          <a:noFill/>
          <a:ln/>
        </p:spPr>
        <p:txBody>
          <a:bodyPr wrap="square" lIns="0" tIns="0" rIns="0" bIns="0" rtlCol="0" anchor="ctr"/>
          <a:lstStyle/>
          <a:p>
            <a:pPr indent="0" marL="0">
              <a:buNone/>
            </a:pPr>
            <a:r>
              <a:rPr lang="en-US" sz="1700" b="1" dirty="0">
                <a:solidFill>
                  <a:schemeClr val="tx2"/>
                </a:solidFill>
              </a:rPr>
              <a:t>Ce qu'Altéa vend aujourd'hui</a:t>
            </a:r>
            <a:endParaRPr lang="en-US" sz="1700" dirty="0"/>
          </a:p>
        </p:txBody>
      </p:sp>
      <p:sp>
        <p:nvSpPr>
          <p:cNvPr id="24" name="texte-39"/>
          <p:cNvSpPr txBox="1"/>
          <p:nvPr/>
        </p:nvSpPr>
        <p:spPr>
          <a:xfrm>
            <a:off x="777240" y="4846320"/>
            <a:ext cx="4937760" cy="960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Développement et recette de logiciels métier</a:t>
            </a:r>
            <a:endParaRPr lang="en-US" sz="1500" dirty="0"/>
          </a:p>
          <a:p>
            <a:pPr marL="203200" indent="-203200">
              <a:spcAft>
                <a:spcPts val="800"/>
              </a:spcAft>
              <a:buSzPct val="100000"/>
              <a:buChar char="•"/>
            </a:pPr>
            <a:r>
              <a:rPr lang="en-US" sz="1500" dirty="0">
                <a:solidFill>
                  <a:schemeClr val="tx1"/>
                </a:solidFill>
              </a:rPr>
              <a:t>Intégration de solutions d'IA chez ses clients</a:t>
            </a:r>
            <a:endParaRPr lang="en-US" sz="1500" dirty="0"/>
          </a:p>
          <a:p>
            <a:pPr marL="203200" indent="-203200">
              <a:spcAft>
                <a:spcPts val="800"/>
              </a:spcAft>
              <a:buSzPct val="100000"/>
              <a:buChar char="•"/>
            </a:pPr>
            <a:r>
              <a:rPr lang="en-US" sz="1500" dirty="0">
                <a:solidFill>
                  <a:schemeClr val="tx1"/>
                </a:solidFill>
              </a:rPr>
              <a:t>Hébergement et maintenance applicative</a:t>
            </a:r>
            <a:endParaRPr lang="en-US" sz="1500" dirty="0"/>
          </a:p>
        </p:txBody>
      </p:sp>
      <p:sp>
        <p:nvSpPr>
          <p:cNvPr id="25" name="carte-40"/>
          <p:cNvSpPr/>
          <p:nvPr/>
        </p:nvSpPr>
        <p:spPr>
          <a:xfrm>
            <a:off x="6245352" y="3931920"/>
            <a:ext cx="5394960" cy="2011680"/>
          </a:xfrm>
          <a:prstGeom prst="roundRect">
            <a:avLst>
              <a:gd name="adj" fmla="val 3636"/>
            </a:avLst>
          </a:prstGeom>
          <a:solidFill>
            <a:schemeClr val="bg1"/>
          </a:solidFill>
          <a:ln w="9525">
            <a:solidFill>
              <a:schemeClr val="accent6"/>
            </a:solidFill>
            <a:prstDash val="solid"/>
          </a:ln>
        </p:spPr>
      </p:sp>
      <p:sp>
        <p:nvSpPr>
          <p:cNvPr id="26" name="pastille-41"/>
          <p:cNvSpPr/>
          <p:nvPr/>
        </p:nvSpPr>
        <p:spPr>
          <a:xfrm>
            <a:off x="6473952" y="4160520"/>
            <a:ext cx="548640" cy="548640"/>
          </a:xfrm>
          <a:prstGeom prst="ellipse">
            <a:avLst/>
          </a:prstGeom>
          <a:solidFill>
            <a:schemeClr val="tx2"/>
          </a:solidFill>
          <a:ln/>
        </p:spPr>
      </p:sp>
      <p:pic>
        <p:nvPicPr>
          <p:cNvPr id="27" name="icone-42" descr="preencoded.png">    </p:cNvPr>
          <p:cNvPicPr>
            <a:picLocks noChangeAspect="1"/>
          </p:cNvPicPr>
          <p:nvPr/>
        </p:nvPicPr>
        <p:blipFill>
          <a:blip r:embed="rId5"/>
          <a:stretch>
            <a:fillRect/>
          </a:stretch>
        </p:blipFill>
        <p:spPr>
          <a:xfrm>
            <a:off x="6594653" y="4281221"/>
            <a:ext cx="307238" cy="307238"/>
          </a:xfrm>
          <a:prstGeom prst="rect">
            <a:avLst/>
          </a:prstGeom>
        </p:spPr>
      </p:pic>
      <p:sp>
        <p:nvSpPr>
          <p:cNvPr id="28" name="texte-43"/>
          <p:cNvSpPr txBox="1"/>
          <p:nvPr/>
        </p:nvSpPr>
        <p:spPr>
          <a:xfrm>
            <a:off x="7159752" y="4160520"/>
            <a:ext cx="4297680" cy="548640"/>
          </a:xfrm>
          <a:prstGeom prst="rect">
            <a:avLst/>
          </a:prstGeom>
          <a:noFill/>
          <a:ln/>
        </p:spPr>
        <p:txBody>
          <a:bodyPr wrap="square" lIns="0" tIns="0" rIns="0" bIns="0" rtlCol="0" anchor="ctr"/>
          <a:lstStyle/>
          <a:p>
            <a:pPr indent="0" marL="0">
              <a:buNone/>
            </a:pPr>
            <a:r>
              <a:rPr lang="en-US" sz="1700" b="1" dirty="0">
                <a:solidFill>
                  <a:schemeClr val="tx2"/>
                </a:solidFill>
              </a:rPr>
              <a:t>Ce que ses clients exigent</a:t>
            </a:r>
            <a:endParaRPr lang="en-US" sz="1700" dirty="0"/>
          </a:p>
        </p:txBody>
      </p:sp>
      <p:sp>
        <p:nvSpPr>
          <p:cNvPr id="29" name="texte-44"/>
          <p:cNvSpPr txBox="1"/>
          <p:nvPr/>
        </p:nvSpPr>
        <p:spPr>
          <a:xfrm>
            <a:off x="6473952" y="4846320"/>
            <a:ext cx="4937760" cy="960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Hébergement des données en France</a:t>
            </a:r>
            <a:endParaRPr lang="en-US" sz="1500" dirty="0"/>
          </a:p>
          <a:p>
            <a:pPr marL="203200" indent="-203200">
              <a:spcAft>
                <a:spcPts val="800"/>
              </a:spcAft>
              <a:buSzPct val="100000"/>
              <a:buChar char="•"/>
            </a:pPr>
            <a:r>
              <a:rPr lang="en-US" sz="1500" dirty="0">
                <a:solidFill>
                  <a:schemeClr val="tx1"/>
                </a:solidFill>
              </a:rPr>
              <a:t>Conformité RGPD et AI Act</a:t>
            </a:r>
            <a:endParaRPr lang="en-US" sz="1500" dirty="0"/>
          </a:p>
          <a:p>
            <a:pPr marL="203200" indent="-203200">
              <a:spcAft>
                <a:spcPts val="800"/>
              </a:spcAft>
              <a:buSzPct val="100000"/>
              <a:buChar char="•"/>
            </a:pPr>
            <a:r>
              <a:rPr lang="en-US" sz="1500" dirty="0">
                <a:solidFill>
                  <a:schemeClr val="tx1"/>
                </a:solidFill>
              </a:rPr>
              <a:t>Sécurité des assistants connectés à leurs données</a:t>
            </a:r>
            <a:endParaRPr lang="en-US" sz="15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LE CAS · LES DÉFIS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Pourquoi le radar compte pour Altéa</a:t>
            </a:r>
            <a:endParaRPr lang="en-US" sz="3200" dirty="0"/>
          </a:p>
        </p:txBody>
      </p:sp>
      <p:graphicFrame>
        <p:nvGraphicFramePr>
          <p:cNvPr id="4" name="tableau-45"/>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3108960"/>
                <a:gridCol w="3931920"/>
                <a:gridCol w="4050792"/>
              </a:tblGrid>
              <a:tr h="566928">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Défi d'Altéa</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Pourquoi c'est urgent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Ce que le radar doit éclairer</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Les agents d'IA automatisent nos prestations</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Une part importante du chiffre d'affaires vient du développement et de la recette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Quels processus deviennent automatisables ? Quelle offre lancer ?</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Souveraineté et conformité exigées</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Appels d'offres santé et public : hébergement en France, AI Act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Quelles technologies souveraines ? Quelles obligations, et quand ?</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Le coût des modèles pèse sur les marges</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Les factures d'API de modèles augmentent avec l'usage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Quand un petit modèle hébergé chez nous suffira-t-il ?</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Les attaques sur les assistants IA</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Nos assistants sont connectés aux données des clients</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Quelles nouvelles attaques nous menacent ?</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6" name="carte-46"/>
          <p:cNvSpPr/>
          <p:nvPr/>
        </p:nvSpPr>
        <p:spPr>
          <a:xfrm>
            <a:off x="548640" y="4709160"/>
            <a:ext cx="11094415" cy="1188720"/>
          </a:xfrm>
          <a:prstGeom prst="roundRect">
            <a:avLst>
              <a:gd name="adj" fmla="val 6154"/>
            </a:avLst>
          </a:prstGeom>
          <a:solidFill>
            <a:srgbClr val="FBE3DC"/>
          </a:solidFill>
          <a:ln w="9525">
            <a:solidFill>
              <a:srgbClr val="FBE3DC"/>
            </a:solidFill>
            <a:prstDash val="solid"/>
          </a:ln>
        </p:spPr>
      </p:sp>
      <p:sp>
        <p:nvSpPr>
          <p:cNvPr id="7" name="pastille-47"/>
          <p:cNvSpPr/>
          <p:nvPr/>
        </p:nvSpPr>
        <p:spPr>
          <a:xfrm>
            <a:off x="822960" y="4983480"/>
            <a:ext cx="640080" cy="640080"/>
          </a:xfrm>
          <a:prstGeom prst="ellipse">
            <a:avLst/>
          </a:prstGeom>
          <a:solidFill>
            <a:schemeClr val="accent4"/>
          </a:solidFill>
          <a:ln/>
        </p:spPr>
      </p:sp>
      <p:pic>
        <p:nvPicPr>
          <p:cNvPr id="8" name="icone-48" descr="preencoded.png">    </p:cNvPr>
          <p:cNvPicPr>
            <a:picLocks noChangeAspect="1"/>
          </p:cNvPicPr>
          <p:nvPr/>
        </p:nvPicPr>
        <p:blipFill>
          <a:blip r:embed="rId1"/>
          <a:stretch>
            <a:fillRect/>
          </a:stretch>
        </p:blipFill>
        <p:spPr>
          <a:xfrm>
            <a:off x="963778" y="5124298"/>
            <a:ext cx="358445" cy="358445"/>
          </a:xfrm>
          <a:prstGeom prst="rect">
            <a:avLst/>
          </a:prstGeom>
        </p:spPr>
      </p:pic>
      <p:sp>
        <p:nvSpPr>
          <p:cNvPr id="9" name="texte-49"/>
          <p:cNvSpPr txBox="1"/>
          <p:nvPr/>
        </p:nvSpPr>
        <p:spPr>
          <a:xfrm>
            <a:off x="1691640" y="4709160"/>
            <a:ext cx="9722815" cy="1188720"/>
          </a:xfrm>
          <a:prstGeom prst="rect">
            <a:avLst/>
          </a:prstGeom>
          <a:noFill/>
          <a:ln/>
        </p:spPr>
        <p:txBody>
          <a:bodyPr wrap="square" lIns="0" tIns="0" rIns="0" bIns="0" rtlCol="0" anchor="ctr"/>
          <a:lstStyle/>
          <a:p>
            <a:pPr indent="0" marL="0">
              <a:buNone/>
            </a:pPr>
            <a:r>
              <a:rPr lang="en-US" sz="1600" b="1" dirty="0">
                <a:solidFill>
                  <a:schemeClr val="tx2"/>
                </a:solidFill>
              </a:rPr>
              <a:t>Si le radar tombe en panne, Altéa décide sur des informations périmées. </a:t>
            </a:r>
            <a:r>
              <a:rPr lang="en-US" sz="1600" dirty="0">
                <a:solidFill>
                  <a:schemeClr val="tx1"/>
                </a:solidFill>
              </a:rPr>
              <a:t>C'est déjà arrivé deux fois pendant le pilote, sans que personne ne s'en aperçoive.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LE CAS · CONTEXTE</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Altéa Services : un pilote qui a convaincu</a:t>
            </a:r>
            <a:endParaRPr lang="en-US" sz="3200" dirty="0"/>
          </a:p>
        </p:txBody>
      </p:sp>
      <p:sp>
        <p:nvSpPr>
          <p:cNvPr id="5" name="carte-50"/>
          <p:cNvSpPr/>
          <p:nvPr/>
        </p:nvSpPr>
        <p:spPr>
          <a:xfrm>
            <a:off x="548640" y="1691640"/>
            <a:ext cx="3566160" cy="2194560"/>
          </a:xfrm>
          <a:prstGeom prst="roundRect">
            <a:avLst>
              <a:gd name="adj" fmla="val 3333"/>
            </a:avLst>
          </a:prstGeom>
          <a:solidFill>
            <a:schemeClr val="bg1"/>
          </a:solidFill>
          <a:ln w="9525">
            <a:solidFill>
              <a:schemeClr val="accent6"/>
            </a:solidFill>
            <a:prstDash val="solid"/>
          </a:ln>
        </p:spPr>
      </p:sp>
      <p:sp>
        <p:nvSpPr>
          <p:cNvPr id="6" name="pastille-51"/>
          <p:cNvSpPr/>
          <p:nvPr/>
        </p:nvSpPr>
        <p:spPr>
          <a:xfrm>
            <a:off x="822960" y="1920240"/>
            <a:ext cx="640080" cy="640080"/>
          </a:xfrm>
          <a:prstGeom prst="ellipse">
            <a:avLst/>
          </a:prstGeom>
          <a:solidFill>
            <a:schemeClr val="accent3"/>
          </a:solidFill>
          <a:ln/>
        </p:spPr>
      </p:sp>
      <p:pic>
        <p:nvPicPr>
          <p:cNvPr id="7" name="icone-52" descr="preencoded.png">    </p:cNvPr>
          <p:cNvPicPr>
            <a:picLocks noChangeAspect="1"/>
          </p:cNvPicPr>
          <p:nvPr/>
        </p:nvPicPr>
        <p:blipFill>
          <a:blip r:embed="rId1"/>
          <a:stretch>
            <a:fillRect/>
          </a:stretch>
        </p:blipFill>
        <p:spPr>
          <a:xfrm>
            <a:off x="963778" y="2061058"/>
            <a:ext cx="358445" cy="358445"/>
          </a:xfrm>
          <a:prstGeom prst="rect">
            <a:avLst/>
          </a:prstGeom>
        </p:spPr>
      </p:pic>
      <p:sp>
        <p:nvSpPr>
          <p:cNvPr id="8" name="texte-53"/>
          <p:cNvSpPr txBox="1"/>
          <p:nvPr/>
        </p:nvSpPr>
        <p:spPr>
          <a:xfrm>
            <a:off x="1645920" y="1783080"/>
            <a:ext cx="2286000" cy="86868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300</a:t>
            </a:r>
            <a:endParaRPr lang="en-US" sz="4800" dirty="0"/>
          </a:p>
        </p:txBody>
      </p:sp>
      <p:sp>
        <p:nvSpPr>
          <p:cNvPr id="9" name="texte-54"/>
          <p:cNvSpPr txBox="1"/>
          <p:nvPr/>
        </p:nvSpPr>
        <p:spPr>
          <a:xfrm>
            <a:off x="822960" y="2788920"/>
            <a:ext cx="3017520" cy="914400"/>
          </a:xfrm>
          <a:prstGeom prst="rect">
            <a:avLst/>
          </a:prstGeom>
          <a:noFill/>
          <a:ln/>
        </p:spPr>
        <p:txBody>
          <a:bodyPr wrap="square" lIns="0" tIns="0" rIns="0" bIns="0" rtlCol="0" anchor="t"/>
          <a:lstStyle/>
          <a:p>
            <a:pPr indent="0" marL="0">
              <a:buNone/>
            </a:pPr>
            <a:r>
              <a:rPr lang="en-US" sz="1600" dirty="0">
                <a:solidFill>
                  <a:schemeClr val="tx1"/>
                </a:solidFill>
              </a:rPr>
              <a:t>collaborateurs à ouvrir en interne</a:t>
            </a:r>
            <a:endParaRPr lang="en-US" sz="1600" dirty="0"/>
          </a:p>
        </p:txBody>
      </p:sp>
      <p:sp>
        <p:nvSpPr>
          <p:cNvPr id="10" name="carte-55"/>
          <p:cNvSpPr/>
          <p:nvPr/>
        </p:nvSpPr>
        <p:spPr>
          <a:xfrm>
            <a:off x="4297680" y="1691640"/>
            <a:ext cx="3566160" cy="2194560"/>
          </a:xfrm>
          <a:prstGeom prst="roundRect">
            <a:avLst>
              <a:gd name="adj" fmla="val 3333"/>
            </a:avLst>
          </a:prstGeom>
          <a:solidFill>
            <a:schemeClr val="bg1"/>
          </a:solidFill>
          <a:ln w="9525">
            <a:solidFill>
              <a:schemeClr val="accent6"/>
            </a:solidFill>
            <a:prstDash val="solid"/>
          </a:ln>
        </p:spPr>
      </p:sp>
      <p:sp>
        <p:nvSpPr>
          <p:cNvPr id="11" name="pastille-56"/>
          <p:cNvSpPr/>
          <p:nvPr/>
        </p:nvSpPr>
        <p:spPr>
          <a:xfrm>
            <a:off x="4572000" y="1920240"/>
            <a:ext cx="640080" cy="640080"/>
          </a:xfrm>
          <a:prstGeom prst="ellipse">
            <a:avLst/>
          </a:prstGeom>
          <a:solidFill>
            <a:schemeClr val="accent1"/>
          </a:solidFill>
          <a:ln/>
        </p:spPr>
      </p:sp>
      <p:pic>
        <p:nvPicPr>
          <p:cNvPr id="12" name="icone-57" descr="preencoded.png">    </p:cNvPr>
          <p:cNvPicPr>
            <a:picLocks noChangeAspect="1"/>
          </p:cNvPicPr>
          <p:nvPr/>
        </p:nvPicPr>
        <p:blipFill>
          <a:blip r:embed="rId2"/>
          <a:stretch>
            <a:fillRect/>
          </a:stretch>
        </p:blipFill>
        <p:spPr>
          <a:xfrm>
            <a:off x="4712818" y="2061058"/>
            <a:ext cx="358445" cy="358445"/>
          </a:xfrm>
          <a:prstGeom prst="rect">
            <a:avLst/>
          </a:prstGeom>
        </p:spPr>
      </p:pic>
      <p:sp>
        <p:nvSpPr>
          <p:cNvPr id="13" name="texte-58"/>
          <p:cNvSpPr txBox="1"/>
          <p:nvPr/>
        </p:nvSpPr>
        <p:spPr>
          <a:xfrm>
            <a:off x="5394960" y="1783080"/>
            <a:ext cx="2286000" cy="8686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5</a:t>
            </a:r>
            <a:endParaRPr lang="en-US" sz="4800" dirty="0"/>
          </a:p>
        </p:txBody>
      </p:sp>
      <p:sp>
        <p:nvSpPr>
          <p:cNvPr id="14" name="texte-59"/>
          <p:cNvSpPr txBox="1"/>
          <p:nvPr/>
        </p:nvSpPr>
        <p:spPr>
          <a:xfrm>
            <a:off x="4572000" y="2788920"/>
            <a:ext cx="3017520" cy="914400"/>
          </a:xfrm>
          <a:prstGeom prst="rect">
            <a:avLst/>
          </a:prstGeom>
          <a:noFill/>
          <a:ln/>
        </p:spPr>
        <p:txBody>
          <a:bodyPr wrap="square" lIns="0" tIns="0" rIns="0" bIns="0" rtlCol="0" anchor="t"/>
          <a:lstStyle/>
          <a:p>
            <a:pPr indent="0" marL="0">
              <a:buNone/>
            </a:pPr>
            <a:r>
              <a:rPr lang="en-US" sz="1600" dirty="0">
                <a:solidFill>
                  <a:schemeClr val="tx1"/>
                </a:solidFill>
              </a:rPr>
              <a:t>clients grands comptes demandeurs d'une offre</a:t>
            </a:r>
            <a:endParaRPr lang="en-US" sz="1600" dirty="0"/>
          </a:p>
        </p:txBody>
      </p:sp>
      <p:sp>
        <p:nvSpPr>
          <p:cNvPr id="15" name="carte-60"/>
          <p:cNvSpPr/>
          <p:nvPr/>
        </p:nvSpPr>
        <p:spPr>
          <a:xfrm>
            <a:off x="8046720" y="1691640"/>
            <a:ext cx="3566160" cy="2194560"/>
          </a:xfrm>
          <a:prstGeom prst="roundRect">
            <a:avLst>
              <a:gd name="adj" fmla="val 3333"/>
            </a:avLst>
          </a:prstGeom>
          <a:solidFill>
            <a:schemeClr val="bg1"/>
          </a:solidFill>
          <a:ln w="9525">
            <a:solidFill>
              <a:schemeClr val="accent6"/>
            </a:solidFill>
            <a:prstDash val="solid"/>
          </a:ln>
        </p:spPr>
      </p:sp>
      <p:sp>
        <p:nvSpPr>
          <p:cNvPr id="16" name="pastille-61"/>
          <p:cNvSpPr/>
          <p:nvPr/>
        </p:nvSpPr>
        <p:spPr>
          <a:xfrm>
            <a:off x="8321040" y="1920240"/>
            <a:ext cx="640080" cy="640080"/>
          </a:xfrm>
          <a:prstGeom prst="ellipse">
            <a:avLst/>
          </a:prstGeom>
          <a:solidFill>
            <a:schemeClr val="accent4"/>
          </a:solidFill>
          <a:ln/>
        </p:spPr>
      </p:sp>
      <p:pic>
        <p:nvPicPr>
          <p:cNvPr id="17" name="icone-62" descr="preencoded.png">    </p:cNvPr>
          <p:cNvPicPr>
            <a:picLocks noChangeAspect="1"/>
          </p:cNvPicPr>
          <p:nvPr/>
        </p:nvPicPr>
        <p:blipFill>
          <a:blip r:embed="rId3"/>
          <a:stretch>
            <a:fillRect/>
          </a:stretch>
        </p:blipFill>
        <p:spPr>
          <a:xfrm>
            <a:off x="8461858" y="2061058"/>
            <a:ext cx="358445" cy="358445"/>
          </a:xfrm>
          <a:prstGeom prst="rect">
            <a:avLst/>
          </a:prstGeom>
        </p:spPr>
      </p:pic>
      <p:sp>
        <p:nvSpPr>
          <p:cNvPr id="18" name="texte-63"/>
          <p:cNvSpPr txBox="1"/>
          <p:nvPr/>
        </p:nvSpPr>
        <p:spPr>
          <a:xfrm>
            <a:off x="9144000" y="1783080"/>
            <a:ext cx="228600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2</a:t>
            </a:r>
            <a:endParaRPr lang="en-US" sz="4800" dirty="0"/>
          </a:p>
        </p:txBody>
      </p:sp>
      <p:sp>
        <p:nvSpPr>
          <p:cNvPr id="19" name="texte-64"/>
          <p:cNvSpPr txBox="1"/>
          <p:nvPr/>
        </p:nvSpPr>
        <p:spPr>
          <a:xfrm>
            <a:off x="8321040" y="2788920"/>
            <a:ext cx="3017520" cy="914400"/>
          </a:xfrm>
          <a:prstGeom prst="rect">
            <a:avLst/>
          </a:prstGeom>
          <a:noFill/>
          <a:ln/>
        </p:spPr>
        <p:txBody>
          <a:bodyPr wrap="square" lIns="0" tIns="0" rIns="0" bIns="0" rtlCol="0" anchor="t"/>
          <a:lstStyle/>
          <a:p>
            <a:pPr indent="0" marL="0">
              <a:buNone/>
            </a:pPr>
            <a:r>
              <a:rPr lang="en-US" sz="1600" dirty="0">
                <a:solidFill>
                  <a:schemeClr val="tx1"/>
                </a:solidFill>
              </a:rPr>
              <a:t>pannes silencieuses de la collecte depuis le pilote</a:t>
            </a:r>
            <a:endParaRPr lang="en-US" sz="1600" dirty="0"/>
          </a:p>
        </p:txBody>
      </p:sp>
      <p:graphicFrame>
        <p:nvGraphicFramePr>
          <p:cNvPr id="5" name="tableau-65"/>
          <p:cNvGraphicFramePr>
            <a:graphicFrameLocks noGrp="1"/>
          </p:cNvGraphicFramePr>
          <p:nvPr>
            <p:extLst>
              <p:ext uri="{D42A27DB-BD31-4B8C-83A1-F6EECF244321}">
                <p14:modId xmlns:p14="http://schemas.microsoft.com/office/powerpoint/2010/main" val="1579011935"/>
              </p:ext>
            </p:extLst>
          </p:nvPr>
        </p:nvGraphicFramePr>
        <p:xfrm>
          <a:off x="548640" y="4114800"/>
          <a:ext cx="11094415" cy="914400"/>
        </p:xfrm>
        <a:graphic>
          <a:graphicData uri="http://schemas.openxmlformats.org/drawingml/2006/table">
            <a:tbl>
              <a:tblPr/>
              <a:tblGrid>
                <a:gridCol w="2743200"/>
                <a:gridCol w="8348472"/>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Ressource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Situation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Équipe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 développeurs Java et Angular, 1 administrateur système ; aucune compétence Kubernetes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Développement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Standard interne : Java / Spring Boot et Angular ; tout est déjà livré en conteneurs Docker</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Hébergement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Hébergeur européen, serveurs virtuels déjà sous contrat ; clients santé et public : données dans l'UE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Budget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Pas de licence d'observabilité : outils open source uniquement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LE CAS · PROBLÉMATIQUE</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Ni sous-industrialiser, ni sur-industrialiser</a:t>
            </a:r>
            <a:endParaRPr lang="en-US" sz="3200" dirty="0"/>
          </a:p>
        </p:txBody>
      </p:sp>
      <p:sp>
        <p:nvSpPr>
          <p:cNvPr id="5" name="carte-66"/>
          <p:cNvSpPr/>
          <p:nvPr/>
        </p:nvSpPr>
        <p:spPr>
          <a:xfrm>
            <a:off x="548640" y="1645920"/>
            <a:ext cx="11094415" cy="1188720"/>
          </a:xfrm>
          <a:prstGeom prst="roundRect">
            <a:avLst>
              <a:gd name="adj" fmla="val 6154"/>
            </a:avLst>
          </a:prstGeom>
          <a:solidFill>
            <a:srgbClr val="EAF4F9"/>
          </a:solidFill>
          <a:ln w="9525">
            <a:solidFill>
              <a:srgbClr val="EAF4F9"/>
            </a:solidFill>
            <a:prstDash val="solid"/>
          </a:ln>
        </p:spPr>
      </p:sp>
      <p:sp>
        <p:nvSpPr>
          <p:cNvPr id="6" name="texte-67"/>
          <p:cNvSpPr txBox="1"/>
          <p:nvPr/>
        </p:nvSpPr>
        <p:spPr>
          <a:xfrm>
            <a:off x="822960" y="1783080"/>
            <a:ext cx="10545775" cy="914400"/>
          </a:xfrm>
          <a:prstGeom prst="rect">
            <a:avLst/>
          </a:prstGeom>
          <a:noFill/>
          <a:ln/>
        </p:spPr>
        <p:txBody>
          <a:bodyPr wrap="square" lIns="0" tIns="0" rIns="0" bIns="0" rtlCol="0" anchor="ctr"/>
          <a:lstStyle/>
          <a:p>
            <a:pPr indent="0" marL="0">
              <a:buNone/>
            </a:pPr>
            <a:r>
              <a:rPr lang="en-US" sz="1800" i="1" dirty="0">
                <a:solidFill>
                  <a:schemeClr val="tx2"/>
                </a:solidFill>
              </a:rPr>
              <a:t>Comment transformer un dispositif de veille automatisé en un service fiable, sécurisé et observable, ouvert à des utilisateurs internes et à des clients, sans surdimensionner l'architecture au regard des enjeux et des compétences disponibles ?</a:t>
            </a:r>
            <a:endParaRPr lang="en-US" sz="1800" dirty="0"/>
          </a:p>
        </p:txBody>
      </p:sp>
      <p:sp>
        <p:nvSpPr>
          <p:cNvPr id="7" name="carte-68"/>
          <p:cNvSpPr/>
          <p:nvPr/>
        </p:nvSpPr>
        <p:spPr>
          <a:xfrm>
            <a:off x="548640" y="3108960"/>
            <a:ext cx="5394960" cy="2468880"/>
          </a:xfrm>
          <a:prstGeom prst="roundRect">
            <a:avLst>
              <a:gd name="adj" fmla="val 2963"/>
            </a:avLst>
          </a:prstGeom>
          <a:solidFill>
            <a:schemeClr val="bg1"/>
          </a:solidFill>
          <a:ln w="9525">
            <a:solidFill>
              <a:schemeClr val="accent6"/>
            </a:solidFill>
            <a:prstDash val="solid"/>
          </a:ln>
        </p:spPr>
      </p:sp>
      <p:sp>
        <p:nvSpPr>
          <p:cNvPr id="8" name="pastille-69"/>
          <p:cNvSpPr/>
          <p:nvPr/>
        </p:nvSpPr>
        <p:spPr>
          <a:xfrm>
            <a:off x="777240" y="3337560"/>
            <a:ext cx="548640" cy="548640"/>
          </a:xfrm>
          <a:prstGeom prst="ellipse">
            <a:avLst/>
          </a:prstGeom>
          <a:solidFill>
            <a:schemeClr val="accent4"/>
          </a:solidFill>
          <a:ln/>
        </p:spPr>
      </p:sp>
      <p:pic>
        <p:nvPicPr>
          <p:cNvPr id="9" name="icone-70" descr="preencoded.png">    </p:cNvPr>
          <p:cNvPicPr>
            <a:picLocks noChangeAspect="1"/>
          </p:cNvPicPr>
          <p:nvPr/>
        </p:nvPicPr>
        <p:blipFill>
          <a:blip r:embed="rId1"/>
          <a:stretch>
            <a:fillRect/>
          </a:stretch>
        </p:blipFill>
        <p:spPr>
          <a:xfrm>
            <a:off x="897941" y="3458261"/>
            <a:ext cx="307238" cy="307238"/>
          </a:xfrm>
          <a:prstGeom prst="rect">
            <a:avLst/>
          </a:prstGeom>
        </p:spPr>
      </p:pic>
      <p:sp>
        <p:nvSpPr>
          <p:cNvPr id="10" name="texte-71"/>
          <p:cNvSpPr txBox="1"/>
          <p:nvPr/>
        </p:nvSpPr>
        <p:spPr>
          <a:xfrm>
            <a:off x="1463040" y="3337560"/>
            <a:ext cx="4297680" cy="548640"/>
          </a:xfrm>
          <a:prstGeom prst="rect">
            <a:avLst/>
          </a:prstGeom>
          <a:noFill/>
          <a:ln/>
        </p:spPr>
        <p:txBody>
          <a:bodyPr wrap="square" lIns="0" tIns="0" rIns="0" bIns="0" rtlCol="0" anchor="ctr"/>
          <a:lstStyle/>
          <a:p>
            <a:pPr indent="0" marL="0">
              <a:buNone/>
            </a:pPr>
            <a:r>
              <a:rPr lang="en-US" sz="1700" b="1" dirty="0">
                <a:solidFill>
                  <a:schemeClr val="tx2"/>
                </a:solidFill>
              </a:rPr>
              <a:t>Risque 1 : sous-industrialiser</a:t>
            </a:r>
            <a:endParaRPr lang="en-US" sz="1700" dirty="0"/>
          </a:p>
        </p:txBody>
      </p:sp>
      <p:sp>
        <p:nvSpPr>
          <p:cNvPr id="11" name="texte-72"/>
          <p:cNvSpPr txBox="1"/>
          <p:nvPr/>
        </p:nvSpPr>
        <p:spPr>
          <a:xfrm>
            <a:off x="777240" y="4023360"/>
            <a:ext cx="4937760" cy="1417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Pannes silencieuses, à l'échelle de clients payants</a:t>
            </a:r>
            <a:endParaRPr lang="en-US" sz="1600" dirty="0"/>
          </a:p>
          <a:p>
            <a:pPr marL="203200" indent="-203200">
              <a:spcAft>
                <a:spcPts val="800"/>
              </a:spcAft>
              <a:buSzPct val="100000"/>
              <a:buChar char="•"/>
            </a:pPr>
            <a:r>
              <a:rPr lang="en-US" sz="1600" dirty="0">
                <a:solidFill>
                  <a:schemeClr val="tx1"/>
                </a:solidFill>
              </a:rPr>
              <a:t>Aucune sauvegarde testée</a:t>
            </a:r>
            <a:endParaRPr lang="en-US" sz="1600" dirty="0"/>
          </a:p>
          <a:p>
            <a:pPr marL="203200" indent="-203200">
              <a:spcAft>
                <a:spcPts val="800"/>
              </a:spcAft>
              <a:buSzPct val="100000"/>
              <a:buChar char="•"/>
            </a:pPr>
            <a:r>
              <a:rPr lang="en-US" sz="1600" dirty="0">
                <a:solidFill>
                  <a:schemeClr val="tx1"/>
                </a:solidFill>
              </a:rPr>
              <a:t>Base de données exposée, accès non chiffrés</a:t>
            </a:r>
            <a:endParaRPr lang="en-US" sz="1600" dirty="0"/>
          </a:p>
        </p:txBody>
      </p:sp>
      <p:sp>
        <p:nvSpPr>
          <p:cNvPr id="12" name="carte-73"/>
          <p:cNvSpPr/>
          <p:nvPr/>
        </p:nvSpPr>
        <p:spPr>
          <a:xfrm>
            <a:off x="6245352" y="3108960"/>
            <a:ext cx="5394960" cy="2468880"/>
          </a:xfrm>
          <a:prstGeom prst="roundRect">
            <a:avLst>
              <a:gd name="adj" fmla="val 2963"/>
            </a:avLst>
          </a:prstGeom>
          <a:solidFill>
            <a:schemeClr val="bg1"/>
          </a:solidFill>
          <a:ln w="9525">
            <a:solidFill>
              <a:schemeClr val="accent6"/>
            </a:solidFill>
            <a:prstDash val="solid"/>
          </a:ln>
        </p:spPr>
      </p:sp>
      <p:sp>
        <p:nvSpPr>
          <p:cNvPr id="13" name="pastille-74"/>
          <p:cNvSpPr/>
          <p:nvPr/>
        </p:nvSpPr>
        <p:spPr>
          <a:xfrm>
            <a:off x="6473952" y="3337560"/>
            <a:ext cx="548640" cy="548640"/>
          </a:xfrm>
          <a:prstGeom prst="ellipse">
            <a:avLst/>
          </a:prstGeom>
          <a:solidFill>
            <a:schemeClr val="accent1"/>
          </a:solidFill>
          <a:ln/>
        </p:spPr>
      </p:sp>
      <p:pic>
        <p:nvPicPr>
          <p:cNvPr id="14" name="icone-75" descr="preencoded.png">    </p:cNvPr>
          <p:cNvPicPr>
            <a:picLocks noChangeAspect="1"/>
          </p:cNvPicPr>
          <p:nvPr/>
        </p:nvPicPr>
        <p:blipFill>
          <a:blip r:embed="rId2"/>
          <a:stretch>
            <a:fillRect/>
          </a:stretch>
        </p:blipFill>
        <p:spPr>
          <a:xfrm>
            <a:off x="6594653" y="3458261"/>
            <a:ext cx="307238" cy="307238"/>
          </a:xfrm>
          <a:prstGeom prst="rect">
            <a:avLst/>
          </a:prstGeom>
        </p:spPr>
      </p:pic>
      <p:sp>
        <p:nvSpPr>
          <p:cNvPr id="15" name="texte-76"/>
          <p:cNvSpPr txBox="1"/>
          <p:nvPr/>
        </p:nvSpPr>
        <p:spPr>
          <a:xfrm>
            <a:off x="7159752" y="3337560"/>
            <a:ext cx="4297680" cy="548640"/>
          </a:xfrm>
          <a:prstGeom prst="rect">
            <a:avLst/>
          </a:prstGeom>
          <a:noFill/>
          <a:ln/>
        </p:spPr>
        <p:txBody>
          <a:bodyPr wrap="square" lIns="0" tIns="0" rIns="0" bIns="0" rtlCol="0" anchor="ctr"/>
          <a:lstStyle/>
          <a:p>
            <a:pPr indent="0" marL="0">
              <a:buNone/>
            </a:pPr>
            <a:r>
              <a:rPr lang="en-US" sz="1700" b="1" dirty="0">
                <a:solidFill>
                  <a:schemeClr val="tx2"/>
                </a:solidFill>
              </a:rPr>
              <a:t>Risque 2 : sur-industrialiser</a:t>
            </a:r>
            <a:endParaRPr lang="en-US" sz="1700" dirty="0"/>
          </a:p>
        </p:txBody>
      </p:sp>
      <p:sp>
        <p:nvSpPr>
          <p:cNvPr id="16" name="texte-77"/>
          <p:cNvSpPr txBox="1"/>
          <p:nvPr/>
        </p:nvSpPr>
        <p:spPr>
          <a:xfrm>
            <a:off x="6473952" y="4023360"/>
            <a:ext cx="4937760" cy="1417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Complexité supérieure à la valeur du service</a:t>
            </a:r>
            <a:endParaRPr lang="en-US" sz="1600" dirty="0"/>
          </a:p>
          <a:p>
            <a:pPr marL="203200" indent="-203200">
              <a:spcAft>
                <a:spcPts val="800"/>
              </a:spcAft>
              <a:buSzPct val="100000"/>
              <a:buChar char="•"/>
            </a:pPr>
            <a:r>
              <a:rPr lang="en-US" sz="1600" dirty="0">
                <a:solidFill>
                  <a:schemeClr val="tx1"/>
                </a:solidFill>
              </a:rPr>
              <a:t>Équipe absorbée par l'exploitation de la plateforme</a:t>
            </a:r>
            <a:endParaRPr lang="en-US" sz="1600" dirty="0"/>
          </a:p>
          <a:p>
            <a:pPr marL="203200" indent="-203200">
              <a:spcAft>
                <a:spcPts val="800"/>
              </a:spcAft>
              <a:buSzPct val="100000"/>
              <a:buChar char="•"/>
            </a:pPr>
            <a:r>
              <a:rPr lang="en-US" sz="1600" dirty="0">
                <a:solidFill>
                  <a:schemeClr val="tx1"/>
                </a:solidFill>
              </a:rPr>
              <a:t>Coût fixe disproportionné</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LE CAS · EXIGENCES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Des exigences mesurables</a:t>
            </a:r>
            <a:endParaRPr lang="en-US" sz="3200" dirty="0"/>
          </a:p>
        </p:txBody>
      </p:sp>
      <p:graphicFrame>
        <p:nvGraphicFramePr>
          <p:cNvPr id="7" name="tableau-78"/>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1280160"/>
                <a:gridCol w="3291840"/>
                <a:gridCol w="6519672"/>
              </a:tblGrid>
              <a:tr h="47548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Réf.</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Exigence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Cible mesurable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NF1</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Disponibilité de l'API</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99,5 % des requêtes sans erreur sur 30 jours : budget d'erreur ≈ 3 h 36 min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NF2</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Latence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95ᵉ centile &lt; 1 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NF3</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BD8"/>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Fraîcheur de la veille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BD8"/>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Chaque source collectée toutes les 6 h ; toute panne détectée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BD8"/>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NF4</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Durabilité des données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RPO ≤ 24 h · RTO ≤ 30 min · restauration testée chaque mois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NF5</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Sécurité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Accès en HTTPS ; base joignable par l'API seule ; collecteur cloisonné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NF6</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Traçabilité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Chaque version identifiée ; retour arrière en une commande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NF7 · NF8</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Souveraineté · RGPD</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Données dans l'UE · journaux expurgés de données personnelles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NF9</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Exploitabilité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Alertes actionnables et documentées ; aucune alerte métier vers l'astreinte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LE CAS · ARCHITECTURE CIBLE</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Architecture cible</a:t>
            </a:r>
            <a:endParaRPr lang="en-US" sz="3200" dirty="0"/>
          </a:p>
        </p:txBody>
      </p:sp>
      <p:sp>
        <p:nvSpPr>
          <p:cNvPr id="5" name="bloc-79"/>
          <p:cNvSpPr/>
          <p:nvPr/>
        </p:nvSpPr>
        <p:spPr>
          <a:xfrm>
            <a:off x="548640" y="1645920"/>
            <a:ext cx="2377440" cy="685800"/>
          </a:xfrm>
          <a:prstGeom prst="roundRect">
            <a:avLst>
              <a:gd name="adj" fmla="val 8000"/>
            </a:avLst>
          </a:prstGeom>
          <a:solidFill>
            <a:schemeClr val="bg1"/>
          </a:solidFill>
          <a:ln w="9525">
            <a:solidFill>
              <a:schemeClr val="accent6"/>
            </a:solidFill>
            <a:prstDash val="solid"/>
          </a:ln>
        </p:spPr>
      </p:sp>
      <p:sp>
        <p:nvSpPr>
          <p:cNvPr id="6" name="texte-80"/>
          <p:cNvSpPr txBox="1"/>
          <p:nvPr/>
        </p:nvSpPr>
        <p:spPr>
          <a:xfrm>
            <a:off x="621792" y="1645920"/>
            <a:ext cx="2231136" cy="685800"/>
          </a:xfrm>
          <a:prstGeom prst="rect">
            <a:avLst/>
          </a:prstGeom>
          <a:noFill/>
          <a:ln/>
        </p:spPr>
        <p:txBody>
          <a:bodyPr wrap="square" lIns="0" tIns="0" rIns="0" bIns="0" rtlCol="0" anchor="ctr"/>
          <a:lstStyle/>
          <a:p>
            <a:pPr algn="ctr" indent="0" marL="0">
              <a:buNone/>
            </a:pPr>
            <a:r>
              <a:rPr lang="en-US" sz="1300" b="1" dirty="0">
                <a:solidFill>
                  <a:schemeClr val="tx2"/>
                </a:solidFill>
              </a:rPr>
              <a:t>Navigateur</a:t>
            </a:r>
            <a:endParaRPr lang="en-US" sz="1500" dirty="0"/>
          </a:p>
          <a:p>
            <a:pPr algn="ctr" indent="0" marL="0">
              <a:buNone/>
            </a:pPr>
            <a:r>
              <a:rPr lang="en-US" sz="1000" dirty="0">
                <a:solidFill>
                  <a:schemeClr val="accent5"/>
                </a:solidFill>
              </a:rPr>
              <a:t>utilisateurs internes et clients</a:t>
            </a:r>
            <a:endParaRPr lang="en-US" sz="1500" dirty="0"/>
          </a:p>
        </p:txBody>
      </p:sp>
      <p:sp>
        <p:nvSpPr>
          <p:cNvPr id="7" name="bloc-81"/>
          <p:cNvSpPr/>
          <p:nvPr/>
        </p:nvSpPr>
        <p:spPr>
          <a:xfrm>
            <a:off x="9262872" y="1645920"/>
            <a:ext cx="2377440" cy="685800"/>
          </a:xfrm>
          <a:prstGeom prst="roundRect">
            <a:avLst>
              <a:gd name="adj" fmla="val 8000"/>
            </a:avLst>
          </a:prstGeom>
          <a:solidFill>
            <a:schemeClr val="bg1"/>
          </a:solidFill>
          <a:ln w="9525">
            <a:solidFill>
              <a:schemeClr val="accent6"/>
            </a:solidFill>
            <a:prstDash val="solid"/>
          </a:ln>
        </p:spPr>
      </p:sp>
      <p:sp>
        <p:nvSpPr>
          <p:cNvPr id="8" name="texte-82"/>
          <p:cNvSpPr txBox="1"/>
          <p:nvPr/>
        </p:nvSpPr>
        <p:spPr>
          <a:xfrm>
            <a:off x="9336024" y="1645920"/>
            <a:ext cx="2231136" cy="685800"/>
          </a:xfrm>
          <a:prstGeom prst="rect">
            <a:avLst/>
          </a:prstGeom>
          <a:noFill/>
          <a:ln/>
        </p:spPr>
        <p:txBody>
          <a:bodyPr wrap="square" lIns="0" tIns="0" rIns="0" bIns="0" rtlCol="0" anchor="ctr"/>
          <a:lstStyle/>
          <a:p>
            <a:pPr algn="ctr" indent="0" marL="0">
              <a:buNone/>
            </a:pPr>
            <a:r>
              <a:rPr lang="en-US" sz="1300" b="1" dirty="0">
                <a:solidFill>
                  <a:schemeClr val="tx2"/>
                </a:solidFill>
              </a:rPr>
              <a:t>Sources de veille</a:t>
            </a:r>
            <a:endParaRPr lang="en-US" sz="1500" dirty="0"/>
          </a:p>
          <a:p>
            <a:pPr algn="ctr" indent="0" marL="0">
              <a:buNone/>
            </a:pPr>
            <a:r>
              <a:rPr lang="en-US" sz="1000" dirty="0">
                <a:solidFill>
                  <a:schemeClr val="accent5"/>
                </a:solidFill>
              </a:rPr>
              <a:t>arXiv · Hacker News · GitHub</a:t>
            </a:r>
            <a:endParaRPr lang="en-US" sz="1500" dirty="0"/>
          </a:p>
        </p:txBody>
      </p:sp>
      <p:sp>
        <p:nvSpPr>
          <p:cNvPr id="9" name="serveur-83"/>
          <p:cNvSpPr/>
          <p:nvPr/>
        </p:nvSpPr>
        <p:spPr>
          <a:xfrm>
            <a:off x="548640" y="2606040"/>
            <a:ext cx="11094415" cy="3611880"/>
          </a:xfrm>
          <a:prstGeom prst="roundRect">
            <a:avLst>
              <a:gd name="adj" fmla="val 1519"/>
            </a:avLst>
          </a:prstGeom>
          <a:solidFill>
            <a:srgbClr val="EEF2F8"/>
          </a:solidFill>
          <a:ln w="12700">
            <a:solidFill>
              <a:schemeClr val="accent5"/>
            </a:solidFill>
            <a:prstDash val="dash"/>
          </a:ln>
        </p:spPr>
      </p:sp>
      <p:sp>
        <p:nvSpPr>
          <p:cNvPr id="10" name="texte-84"/>
          <p:cNvSpPr txBox="1"/>
          <p:nvPr/>
        </p:nvSpPr>
        <p:spPr>
          <a:xfrm>
            <a:off x="3383280" y="2651760"/>
            <a:ext cx="5486400" cy="274320"/>
          </a:xfrm>
          <a:prstGeom prst="rect">
            <a:avLst/>
          </a:prstGeom>
          <a:noFill/>
          <a:ln/>
        </p:spPr>
        <p:txBody>
          <a:bodyPr wrap="square" lIns="0" tIns="0" rIns="0" bIns="0" rtlCol="0" anchor="t"/>
          <a:lstStyle/>
          <a:p>
            <a:pPr algn="ctr" indent="0" marL="0">
              <a:buNone/>
            </a:pPr>
            <a:r>
              <a:rPr lang="en-US" sz="1100" b="1" dirty="0">
                <a:solidFill>
                  <a:schemeClr val="accent5"/>
                </a:solidFill>
              </a:rPr>
              <a:t>Serveur virtuel · hébergeur UE · Docker Compose</a:t>
            </a:r>
            <a:endParaRPr lang="en-US" sz="1100" dirty="0"/>
          </a:p>
        </p:txBody>
      </p:sp>
      <p:sp>
        <p:nvSpPr>
          <p:cNvPr id="11" name="bloc-85"/>
          <p:cNvSpPr/>
          <p:nvPr/>
        </p:nvSpPr>
        <p:spPr>
          <a:xfrm>
            <a:off x="914400" y="3017520"/>
            <a:ext cx="2377440" cy="685800"/>
          </a:xfrm>
          <a:prstGeom prst="roundRect">
            <a:avLst>
              <a:gd name="adj" fmla="val 8000"/>
            </a:avLst>
          </a:prstGeom>
          <a:solidFill>
            <a:schemeClr val="tx2"/>
          </a:solidFill>
          <a:ln w="9525">
            <a:solidFill>
              <a:schemeClr val="accent6"/>
            </a:solidFill>
            <a:prstDash val="solid"/>
          </a:ln>
        </p:spPr>
      </p:sp>
      <p:sp>
        <p:nvSpPr>
          <p:cNvPr id="12" name="texte-86"/>
          <p:cNvSpPr txBox="1"/>
          <p:nvPr/>
        </p:nvSpPr>
        <p:spPr>
          <a:xfrm>
            <a:off x="987552" y="3017520"/>
            <a:ext cx="2231136" cy="685800"/>
          </a:xfrm>
          <a:prstGeom prst="rect">
            <a:avLst/>
          </a:prstGeom>
          <a:noFill/>
          <a:ln/>
        </p:spPr>
        <p:txBody>
          <a:bodyPr wrap="square" lIns="0" tIns="0" rIns="0" bIns="0" rtlCol="0" anchor="ctr"/>
          <a:lstStyle/>
          <a:p>
            <a:pPr algn="ctr" indent="0" marL="0">
              <a:buNone/>
            </a:pPr>
            <a:r>
              <a:rPr lang="en-US" sz="1300" b="1" dirty="0">
                <a:solidFill>
                  <a:schemeClr val="bg1"/>
                </a:solidFill>
              </a:rPr>
              <a:t>radar-web</a:t>
            </a:r>
            <a:endParaRPr lang="en-US" sz="1500" dirty="0"/>
          </a:p>
          <a:p>
            <a:pPr algn="ctr" indent="0" marL="0">
              <a:buNone/>
            </a:pPr>
            <a:r>
              <a:rPr lang="en-US" sz="1000" dirty="0">
                <a:solidFill>
                  <a:schemeClr val="accent2"/>
                </a:solidFill>
              </a:rPr>
              <a:t>nginx · front · relais /api</a:t>
            </a:r>
            <a:endParaRPr lang="en-US" sz="1500" dirty="0"/>
          </a:p>
        </p:txBody>
      </p:sp>
      <p:sp>
        <p:nvSpPr>
          <p:cNvPr id="13" name="bloc-87"/>
          <p:cNvSpPr/>
          <p:nvPr/>
        </p:nvSpPr>
        <p:spPr>
          <a:xfrm>
            <a:off x="4206240" y="3017520"/>
            <a:ext cx="2651760" cy="685800"/>
          </a:xfrm>
          <a:prstGeom prst="roundRect">
            <a:avLst>
              <a:gd name="adj" fmla="val 8000"/>
            </a:avLst>
          </a:prstGeom>
          <a:solidFill>
            <a:schemeClr val="accent1"/>
          </a:solidFill>
          <a:ln w="9525">
            <a:solidFill>
              <a:schemeClr val="accent6"/>
            </a:solidFill>
            <a:prstDash val="solid"/>
          </a:ln>
        </p:spPr>
      </p:sp>
      <p:sp>
        <p:nvSpPr>
          <p:cNvPr id="14" name="texte-88"/>
          <p:cNvSpPr txBox="1"/>
          <p:nvPr/>
        </p:nvSpPr>
        <p:spPr>
          <a:xfrm>
            <a:off x="4279392" y="3017520"/>
            <a:ext cx="2505456" cy="685800"/>
          </a:xfrm>
          <a:prstGeom prst="rect">
            <a:avLst/>
          </a:prstGeom>
          <a:noFill/>
          <a:ln/>
        </p:spPr>
        <p:txBody>
          <a:bodyPr wrap="square" lIns="0" tIns="0" rIns="0" bIns="0" rtlCol="0" anchor="ctr"/>
          <a:lstStyle/>
          <a:p>
            <a:pPr algn="ctr" indent="0" marL="0">
              <a:buNone/>
            </a:pPr>
            <a:r>
              <a:rPr lang="en-US" sz="1300" b="1" dirty="0">
                <a:solidFill>
                  <a:schemeClr val="tx2"/>
                </a:solidFill>
              </a:rPr>
              <a:t>radar-api</a:t>
            </a:r>
            <a:endParaRPr lang="en-US" sz="1500" dirty="0"/>
          </a:p>
          <a:p>
            <a:pPr algn="ctr" indent="0" marL="0">
              <a:buNone/>
            </a:pPr>
            <a:r>
              <a:rPr lang="en-US" sz="1000" dirty="0">
                <a:solidFill>
                  <a:schemeClr val="tx2"/>
                </a:solidFill>
              </a:rPr>
              <a:t>Spring Boot · protocole de veille</a:t>
            </a:r>
            <a:endParaRPr lang="en-US" sz="1500" dirty="0"/>
          </a:p>
        </p:txBody>
      </p:sp>
      <p:sp>
        <p:nvSpPr>
          <p:cNvPr id="15" name="bloc-89"/>
          <p:cNvSpPr/>
          <p:nvPr/>
        </p:nvSpPr>
        <p:spPr>
          <a:xfrm>
            <a:off x="8961120" y="3017520"/>
            <a:ext cx="2377440" cy="685800"/>
          </a:xfrm>
          <a:prstGeom prst="roundRect">
            <a:avLst>
              <a:gd name="adj" fmla="val 8000"/>
            </a:avLst>
          </a:prstGeom>
          <a:solidFill>
            <a:schemeClr val="accent1"/>
          </a:solidFill>
          <a:ln w="9525">
            <a:solidFill>
              <a:schemeClr val="accent6"/>
            </a:solidFill>
            <a:prstDash val="solid"/>
          </a:ln>
        </p:spPr>
      </p:sp>
      <p:sp>
        <p:nvSpPr>
          <p:cNvPr id="16" name="texte-90"/>
          <p:cNvSpPr txBox="1"/>
          <p:nvPr/>
        </p:nvSpPr>
        <p:spPr>
          <a:xfrm>
            <a:off x="9034272" y="3017520"/>
            <a:ext cx="2231136" cy="685800"/>
          </a:xfrm>
          <a:prstGeom prst="rect">
            <a:avLst/>
          </a:prstGeom>
          <a:noFill/>
          <a:ln/>
        </p:spPr>
        <p:txBody>
          <a:bodyPr wrap="square" lIns="0" tIns="0" rIns="0" bIns="0" rtlCol="0" anchor="ctr"/>
          <a:lstStyle/>
          <a:p>
            <a:pPr algn="ctr" indent="0" marL="0">
              <a:buNone/>
            </a:pPr>
            <a:r>
              <a:rPr lang="en-US" sz="1300" b="1" dirty="0">
                <a:solidFill>
                  <a:schemeClr val="tx2"/>
                </a:solidFill>
              </a:rPr>
              <a:t>signal-collector</a:t>
            </a:r>
            <a:endParaRPr lang="en-US" sz="1500" dirty="0"/>
          </a:p>
          <a:p>
            <a:pPr algn="ctr" indent="0" marL="0">
              <a:buNone/>
            </a:pPr>
            <a:r>
              <a:rPr lang="en-US" sz="1000" dirty="0">
                <a:solidFill>
                  <a:schemeClr val="tx2"/>
                </a:solidFill>
              </a:rPr>
              <a:t>Spring Boot · planifié</a:t>
            </a:r>
            <a:endParaRPr lang="en-US" sz="1500" dirty="0"/>
          </a:p>
        </p:txBody>
      </p:sp>
      <p:sp>
        <p:nvSpPr>
          <p:cNvPr id="17" name="bloc-91"/>
          <p:cNvSpPr/>
          <p:nvPr/>
        </p:nvSpPr>
        <p:spPr>
          <a:xfrm>
            <a:off x="4206240" y="4069080"/>
            <a:ext cx="2651760" cy="594360"/>
          </a:xfrm>
          <a:prstGeom prst="roundRect">
            <a:avLst>
              <a:gd name="adj" fmla="val 9231"/>
            </a:avLst>
          </a:prstGeom>
          <a:solidFill>
            <a:schemeClr val="accent3"/>
          </a:solidFill>
          <a:ln w="9525">
            <a:solidFill>
              <a:schemeClr val="accent6"/>
            </a:solidFill>
            <a:prstDash val="solid"/>
          </a:ln>
        </p:spPr>
      </p:sp>
      <p:sp>
        <p:nvSpPr>
          <p:cNvPr id="18" name="texte-92"/>
          <p:cNvSpPr txBox="1"/>
          <p:nvPr/>
        </p:nvSpPr>
        <p:spPr>
          <a:xfrm>
            <a:off x="4279392" y="4069080"/>
            <a:ext cx="2505456" cy="594360"/>
          </a:xfrm>
          <a:prstGeom prst="rect">
            <a:avLst/>
          </a:prstGeom>
          <a:noFill/>
          <a:ln/>
        </p:spPr>
        <p:txBody>
          <a:bodyPr wrap="square" lIns="0" tIns="0" rIns="0" bIns="0" rtlCol="0" anchor="ctr"/>
          <a:lstStyle/>
          <a:p>
            <a:pPr algn="ctr" indent="0" marL="0">
              <a:buNone/>
            </a:pPr>
            <a:r>
              <a:rPr lang="en-US" sz="1300" b="1" dirty="0">
                <a:solidFill>
                  <a:schemeClr val="bg1"/>
                </a:solidFill>
              </a:rPr>
              <a:t>PostgreSQL</a:t>
            </a:r>
            <a:endParaRPr lang="en-US" sz="1500" dirty="0"/>
          </a:p>
          <a:p>
            <a:pPr algn="ctr" indent="0" marL="0">
              <a:buNone/>
            </a:pPr>
            <a:r>
              <a:rPr lang="en-US" sz="1000" dirty="0">
                <a:solidFill>
                  <a:schemeClr val="bg1"/>
                </a:solidFill>
              </a:rPr>
              <a:t>volume persistant</a:t>
            </a:r>
            <a:endParaRPr lang="en-US" sz="1500" dirty="0"/>
          </a:p>
        </p:txBody>
      </p:sp>
      <p:sp>
        <p:nvSpPr>
          <p:cNvPr id="19" name="bloc-93"/>
          <p:cNvSpPr/>
          <p:nvPr/>
        </p:nvSpPr>
        <p:spPr>
          <a:xfrm>
            <a:off x="7589520" y="4069080"/>
            <a:ext cx="2651760" cy="594360"/>
          </a:xfrm>
          <a:prstGeom prst="roundRect">
            <a:avLst>
              <a:gd name="adj" fmla="val 9231"/>
            </a:avLst>
          </a:prstGeom>
          <a:solidFill>
            <a:schemeClr val="bg1"/>
          </a:solidFill>
          <a:ln w="9525">
            <a:solidFill>
              <a:schemeClr val="accent6"/>
            </a:solidFill>
            <a:prstDash val="solid"/>
          </a:ln>
        </p:spPr>
      </p:sp>
      <p:sp>
        <p:nvSpPr>
          <p:cNvPr id="20" name="texte-94"/>
          <p:cNvSpPr txBox="1"/>
          <p:nvPr/>
        </p:nvSpPr>
        <p:spPr>
          <a:xfrm>
            <a:off x="7662672" y="4069080"/>
            <a:ext cx="2505456" cy="594360"/>
          </a:xfrm>
          <a:prstGeom prst="rect">
            <a:avLst/>
          </a:prstGeom>
          <a:noFill/>
          <a:ln/>
        </p:spPr>
        <p:txBody>
          <a:bodyPr wrap="square" lIns="0" tIns="0" rIns="0" bIns="0" rtlCol="0" anchor="ctr"/>
          <a:lstStyle/>
          <a:p>
            <a:pPr algn="ctr" indent="0" marL="0">
              <a:buNone/>
            </a:pPr>
            <a:r>
              <a:rPr lang="en-US" sz="1300" b="1" dirty="0">
                <a:solidFill>
                  <a:schemeClr val="tx2"/>
                </a:solidFill>
              </a:rPr>
              <a:t>Sauvegardes</a:t>
            </a:r>
            <a:endParaRPr lang="en-US" sz="1500" dirty="0"/>
          </a:p>
          <a:p>
            <a:pPr algn="ctr" indent="0" marL="0">
              <a:buNone/>
            </a:pPr>
            <a:r>
              <a:rPr lang="en-US" sz="1000" dirty="0">
                <a:solidFill>
                  <a:schemeClr val="accent5"/>
                </a:solidFill>
              </a:rPr>
              <a:t>chaque nuit, hors du serveur</a:t>
            </a:r>
            <a:endParaRPr lang="en-US" sz="1500" dirty="0"/>
          </a:p>
        </p:txBody>
      </p:sp>
      <p:sp>
        <p:nvSpPr>
          <p:cNvPr id="21" name="bloc-95"/>
          <p:cNvSpPr/>
          <p:nvPr/>
        </p:nvSpPr>
        <p:spPr>
          <a:xfrm>
            <a:off x="914400" y="5120640"/>
            <a:ext cx="10424160" cy="731520"/>
          </a:xfrm>
          <a:prstGeom prst="roundRect">
            <a:avLst>
              <a:gd name="adj" fmla="val 7500"/>
            </a:avLst>
          </a:prstGeom>
          <a:solidFill>
            <a:schemeClr val="bg1"/>
          </a:solidFill>
          <a:ln w="9525">
            <a:solidFill>
              <a:schemeClr val="accent6"/>
            </a:solidFill>
            <a:prstDash val="solid"/>
          </a:ln>
        </p:spPr>
      </p:sp>
      <p:sp>
        <p:nvSpPr>
          <p:cNvPr id="22" name="texte-96"/>
          <p:cNvSpPr txBox="1"/>
          <p:nvPr/>
        </p:nvSpPr>
        <p:spPr>
          <a:xfrm>
            <a:off x="987552" y="5120640"/>
            <a:ext cx="10277856" cy="731520"/>
          </a:xfrm>
          <a:prstGeom prst="rect">
            <a:avLst/>
          </a:prstGeom>
          <a:noFill/>
          <a:ln/>
        </p:spPr>
        <p:txBody>
          <a:bodyPr wrap="square" lIns="0" tIns="0" rIns="0" bIns="0" rtlCol="0" anchor="ctr"/>
          <a:lstStyle/>
          <a:p>
            <a:pPr algn="ctr" indent="0" marL="0">
              <a:buNone/>
            </a:pPr>
            <a:r>
              <a:rPr lang="en-US" sz="1300" b="1" dirty="0">
                <a:solidFill>
                  <a:schemeClr val="tx2"/>
                </a:solidFill>
              </a:rPr>
              <a:t>Observabilité</a:t>
            </a:r>
            <a:endParaRPr lang="en-US" sz="1500" dirty="0"/>
          </a:p>
          <a:p>
            <a:pPr algn="ctr" indent="0" marL="0">
              <a:buNone/>
            </a:pPr>
            <a:r>
              <a:rPr lang="en-US" sz="1000" dirty="0">
                <a:solidFill>
                  <a:schemeClr val="accent5"/>
                </a:solidFill>
              </a:rPr>
              <a:t>Prometheus · Alertmanager · Grafana · Vector et Loki</a:t>
            </a:r>
            <a:endParaRPr lang="en-US" sz="1500" dirty="0"/>
          </a:p>
        </p:txBody>
      </p:sp>
      <p:sp>
        <p:nvSpPr>
          <p:cNvPr id="23" name="fleche-97"/>
          <p:cNvSpPr/>
          <p:nvPr/>
        </p:nvSpPr>
        <p:spPr>
          <a:xfrm>
            <a:off x="1737360" y="2331720"/>
            <a:ext cx="0" cy="685800"/>
          </a:xfrm>
          <a:prstGeom prst="line">
            <a:avLst/>
          </a:prstGeom>
          <a:noFill/>
          <a:ln w="19050">
            <a:solidFill>
              <a:schemeClr val="accent5"/>
            </a:solidFill>
            <a:prstDash val="solid"/>
            <a:tailEnd type="triangle"/>
          </a:ln>
        </p:spPr>
      </p:sp>
      <p:sp>
        <p:nvSpPr>
          <p:cNvPr id="24" name="texte-98"/>
          <p:cNvSpPr txBox="1"/>
          <p:nvPr/>
        </p:nvSpPr>
        <p:spPr>
          <a:xfrm>
            <a:off x="1828800" y="2377440"/>
            <a:ext cx="914400" cy="274320"/>
          </a:xfrm>
          <a:prstGeom prst="rect">
            <a:avLst/>
          </a:prstGeom>
          <a:noFill/>
          <a:ln/>
        </p:spPr>
        <p:txBody>
          <a:bodyPr wrap="square" lIns="0" tIns="0" rIns="0" bIns="0" rtlCol="0" anchor="t"/>
          <a:lstStyle/>
          <a:p>
            <a:pPr indent="0" marL="0">
              <a:buNone/>
            </a:pPr>
            <a:r>
              <a:rPr lang="en-US" sz="1100" b="1" dirty="0">
                <a:solidFill>
                  <a:schemeClr val="accent4"/>
                </a:solidFill>
              </a:rPr>
              <a:t>HTTPS</a:t>
            </a:r>
            <a:endParaRPr lang="en-US" sz="1100" dirty="0"/>
          </a:p>
        </p:txBody>
      </p:sp>
      <p:sp>
        <p:nvSpPr>
          <p:cNvPr id="25" name="fleche-99"/>
          <p:cNvSpPr/>
          <p:nvPr/>
        </p:nvSpPr>
        <p:spPr>
          <a:xfrm>
            <a:off x="3291840" y="3355848"/>
            <a:ext cx="914400" cy="0"/>
          </a:xfrm>
          <a:prstGeom prst="line">
            <a:avLst/>
          </a:prstGeom>
          <a:noFill/>
          <a:ln w="19050">
            <a:solidFill>
              <a:schemeClr val="accent5"/>
            </a:solidFill>
            <a:prstDash val="solid"/>
            <a:tailEnd type="triangle"/>
          </a:ln>
        </p:spPr>
      </p:sp>
      <p:sp>
        <p:nvSpPr>
          <p:cNvPr id="26" name="texte-100"/>
          <p:cNvSpPr txBox="1"/>
          <p:nvPr/>
        </p:nvSpPr>
        <p:spPr>
          <a:xfrm>
            <a:off x="3246120" y="3063240"/>
            <a:ext cx="1005840" cy="274320"/>
          </a:xfrm>
          <a:prstGeom prst="rect">
            <a:avLst/>
          </a:prstGeom>
          <a:noFill/>
          <a:ln/>
        </p:spPr>
        <p:txBody>
          <a:bodyPr wrap="square" lIns="0" tIns="0" rIns="0" bIns="0" rtlCol="0" anchor="t"/>
          <a:lstStyle/>
          <a:p>
            <a:pPr algn="ctr" indent="0" marL="0">
              <a:buNone/>
            </a:pPr>
            <a:r>
              <a:rPr lang="en-US" sz="1000" i="1" dirty="0">
                <a:solidFill>
                  <a:schemeClr val="accent5"/>
                </a:solidFill>
              </a:rPr>
              <a:t>exposition</a:t>
            </a:r>
            <a:endParaRPr lang="en-US" sz="1000" dirty="0"/>
          </a:p>
        </p:txBody>
      </p:sp>
      <p:sp>
        <p:nvSpPr>
          <p:cNvPr id="27" name="fleche-101"/>
          <p:cNvSpPr/>
          <p:nvPr/>
        </p:nvSpPr>
        <p:spPr>
          <a:xfrm>
            <a:off x="8961120" y="3355848"/>
            <a:ext cx="-2103120" cy="0"/>
          </a:xfrm>
          <a:prstGeom prst="line">
            <a:avLst/>
          </a:prstGeom>
          <a:noFill/>
          <a:ln w="19050">
            <a:solidFill>
              <a:schemeClr val="accent4"/>
            </a:solidFill>
            <a:prstDash val="solid"/>
            <a:tailEnd type="triangle"/>
          </a:ln>
        </p:spPr>
      </p:sp>
      <p:sp>
        <p:nvSpPr>
          <p:cNvPr id="28" name="texte-102"/>
          <p:cNvSpPr txBox="1"/>
          <p:nvPr/>
        </p:nvSpPr>
        <p:spPr>
          <a:xfrm>
            <a:off x="7223760" y="3063240"/>
            <a:ext cx="1371600" cy="274320"/>
          </a:xfrm>
          <a:prstGeom prst="rect">
            <a:avLst/>
          </a:prstGeom>
          <a:noFill/>
          <a:ln/>
        </p:spPr>
        <p:txBody>
          <a:bodyPr wrap="square" lIns="0" tIns="0" rIns="0" bIns="0" rtlCol="0" anchor="t"/>
          <a:lstStyle/>
          <a:p>
            <a:pPr algn="ctr" indent="0" marL="0">
              <a:buNone/>
            </a:pPr>
            <a:r>
              <a:rPr lang="en-US" sz="1000" i="1" dirty="0">
                <a:solidFill>
                  <a:schemeClr val="accent4"/>
                </a:solidFill>
              </a:rPr>
              <a:t>collecte</a:t>
            </a:r>
            <a:endParaRPr lang="en-US" sz="1000" dirty="0"/>
          </a:p>
        </p:txBody>
      </p:sp>
      <p:sp>
        <p:nvSpPr>
          <p:cNvPr id="29" name="fleche-103"/>
          <p:cNvSpPr/>
          <p:nvPr/>
        </p:nvSpPr>
        <p:spPr>
          <a:xfrm>
            <a:off x="10149840" y="3017520"/>
            <a:ext cx="0" cy="-685800"/>
          </a:xfrm>
          <a:prstGeom prst="line">
            <a:avLst/>
          </a:prstGeom>
          <a:noFill/>
          <a:ln w="19050">
            <a:solidFill>
              <a:schemeClr val="accent5"/>
            </a:solidFill>
            <a:prstDash val="solid"/>
            <a:tailEnd type="triangle"/>
          </a:ln>
        </p:spPr>
      </p:sp>
      <p:sp>
        <p:nvSpPr>
          <p:cNvPr id="30" name="fleche-104"/>
          <p:cNvSpPr/>
          <p:nvPr/>
        </p:nvSpPr>
        <p:spPr>
          <a:xfrm>
            <a:off x="5532120" y="3703320"/>
            <a:ext cx="0" cy="365760"/>
          </a:xfrm>
          <a:prstGeom prst="line">
            <a:avLst/>
          </a:prstGeom>
          <a:noFill/>
          <a:ln w="19050">
            <a:solidFill>
              <a:schemeClr val="accent5"/>
            </a:solidFill>
            <a:prstDash val="solid"/>
            <a:tailEnd type="triangle"/>
          </a:ln>
        </p:spPr>
      </p:sp>
      <p:sp>
        <p:nvSpPr>
          <p:cNvPr id="31" name="texte-105"/>
          <p:cNvSpPr txBox="1"/>
          <p:nvPr/>
        </p:nvSpPr>
        <p:spPr>
          <a:xfrm>
            <a:off x="1737360" y="4206240"/>
            <a:ext cx="2377440" cy="274320"/>
          </a:xfrm>
          <a:prstGeom prst="rect">
            <a:avLst/>
          </a:prstGeom>
          <a:noFill/>
          <a:ln/>
        </p:spPr>
        <p:txBody>
          <a:bodyPr wrap="square" lIns="0" tIns="0" rIns="0" bIns="0" rtlCol="0" anchor="t"/>
          <a:lstStyle/>
          <a:p>
            <a:pPr algn="r" indent="0" marL="0">
              <a:buNone/>
            </a:pPr>
            <a:r>
              <a:rPr lang="en-US" sz="1000" i="1" dirty="0">
                <a:solidFill>
                  <a:schemeClr val="accent5"/>
                </a:solidFill>
              </a:rPr>
              <a:t>données (interne)</a:t>
            </a:r>
            <a:endParaRPr lang="en-US" sz="1000" dirty="0"/>
          </a:p>
        </p:txBody>
      </p:sp>
      <p:sp>
        <p:nvSpPr>
          <p:cNvPr id="32" name="fleche-106"/>
          <p:cNvSpPr/>
          <p:nvPr/>
        </p:nvSpPr>
        <p:spPr>
          <a:xfrm>
            <a:off x="6858000" y="4370832"/>
            <a:ext cx="731520" cy="0"/>
          </a:xfrm>
          <a:prstGeom prst="line">
            <a:avLst/>
          </a:prstGeom>
          <a:noFill/>
          <a:ln w="19050">
            <a:solidFill>
              <a:schemeClr val="accent5"/>
            </a:solidFill>
            <a:prstDash val="solid"/>
            <a:tailEnd type="triangle"/>
          </a:ln>
        </p:spPr>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DÉCISION D1 · DÉCOUPAGE APPLICATIF</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D1 · Combien de services ?</a:t>
            </a:r>
            <a:endParaRPr lang="en-US" sz="3200" dirty="0"/>
          </a:p>
        </p:txBody>
      </p:sp>
      <p:graphicFrame>
        <p:nvGraphicFramePr>
          <p:cNvPr id="9" name="grille-107"/>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4325112"/>
                <a:gridCol w="2194560"/>
                <a:gridCol w="2377440"/>
                <a:gridCol w="2194560"/>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Critère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Monolithe modulaire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2 services + front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Microservices fins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Isolation des pannes (source tierce ne dégrade pas API)</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CE6"/>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Mise à l'échelle indépendante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CE6"/>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Complexité (déploiement, contrats, observabilité)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9D3C7"/>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Adéquation à une équipe de 2 développeurs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9D3C7"/>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Moindre privilège (qui accède à quoi)</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CE6"/>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r>
            </a:tbl>
          </a:graphicData>
        </a:graphic>
      </p:graphicFrame>
      <p:sp>
        <p:nvSpPr>
          <p:cNvPr id="6" name="carte-108"/>
          <p:cNvSpPr/>
          <p:nvPr/>
        </p:nvSpPr>
        <p:spPr>
          <a:xfrm>
            <a:off x="548640" y="4343400"/>
            <a:ext cx="11094415" cy="914400"/>
          </a:xfrm>
          <a:prstGeom prst="roundRect">
            <a:avLst>
              <a:gd name="adj" fmla="val 8000"/>
            </a:avLst>
          </a:prstGeom>
          <a:solidFill>
            <a:schemeClr val="tx2"/>
          </a:solidFill>
          <a:ln w="9525">
            <a:solidFill>
              <a:schemeClr val="tx2"/>
            </a:solidFill>
            <a:prstDash val="solid"/>
          </a:ln>
        </p:spPr>
      </p:sp>
      <p:sp>
        <p:nvSpPr>
          <p:cNvPr id="7" name="texte-109"/>
          <p:cNvSpPr txBox="1"/>
          <p:nvPr/>
        </p:nvSpPr>
        <p:spPr>
          <a:xfrm>
            <a:off x="822960" y="4343400"/>
            <a:ext cx="10545775" cy="91440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radar-api + signal-collector (un seul exemplaire) + radar-web. Seul le collecteur sort sur Internet ; il n'écrit dans le radar que par l'API.</a:t>
            </a:r>
            <a:endParaRPr lang="en-US" sz="1600" dirty="0"/>
          </a:p>
        </p:txBody>
      </p:sp>
      <p:sp>
        <p:nvSpPr>
          <p:cNvPr id="8" name="texte-110"/>
          <p:cNvSpPr txBox="1"/>
          <p:nvPr/>
        </p:nvSpPr>
        <p:spPr>
          <a:xfrm>
            <a:off x="548640" y="5532120"/>
            <a:ext cx="11094415" cy="365760"/>
          </a:xfrm>
          <a:prstGeom prst="rect">
            <a:avLst/>
          </a:prstGeom>
          <a:noFill/>
          <a:ln/>
        </p:spPr>
        <p:txBody>
          <a:bodyPr wrap="square" lIns="0" tIns="0" rIns="0" bIns="0" rtlCol="0" anchor="t"/>
          <a:lstStyle/>
          <a:p>
            <a:pPr indent="0" marL="0">
              <a:buNone/>
            </a:pPr>
            <a:r>
              <a:rPr lang="en-US" sz="1300" i="1" dirty="0">
                <a:solidFill>
                  <a:schemeClr val="accent5"/>
                </a:solidFill>
              </a:rPr>
              <a:t>Signal de révision : plus de 10 sources : collecteurs par famille et file de messages</a:t>
            </a:r>
            <a:endParaRPr lang="en-US" sz="13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DÉCISION D2 · HÉBERGEMENT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D2 · Kubernetes ou Docker Compose ?</a:t>
            </a:r>
            <a:endParaRPr lang="en-US" sz="3200" dirty="0"/>
          </a:p>
        </p:txBody>
      </p:sp>
      <p:graphicFrame>
        <p:nvGraphicFramePr>
          <p:cNvPr id="10" name="grille-111"/>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4325112"/>
                <a:gridCol w="2377440"/>
                <a:gridCol w="2194560"/>
                <a:gridCol w="2194560"/>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Critère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Docker Compose (1 serveur)</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PaaS conteneurs (UE)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Kubernetes managé (UE)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Adéquation aux compétences de l'équipe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9D3C7"/>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Coût fixe (plateforme, outillage, formation)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CE6"/>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Simplicité d'exploitation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CE6"/>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Haute disponibilité sur plusieurs serveurs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CE6"/>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r>
              <a:tr h="0">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Souveraineté et réversibilité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FFFFF"/>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r>
            </a:tbl>
          </a:graphicData>
        </a:graphic>
      </p:graphicFrame>
      <p:sp>
        <p:nvSpPr>
          <p:cNvPr id="6" name="carte-112"/>
          <p:cNvSpPr/>
          <p:nvPr/>
        </p:nvSpPr>
        <p:spPr>
          <a:xfrm>
            <a:off x="548640" y="4343400"/>
            <a:ext cx="11094415" cy="914400"/>
          </a:xfrm>
          <a:prstGeom prst="roundRect">
            <a:avLst>
              <a:gd name="adj" fmla="val 8000"/>
            </a:avLst>
          </a:prstGeom>
          <a:solidFill>
            <a:srgbClr val="FDEBD8"/>
          </a:solidFill>
          <a:ln w="9525">
            <a:solidFill>
              <a:srgbClr val="FDEBD8"/>
            </a:solidFill>
            <a:prstDash val="solid"/>
          </a:ln>
        </p:spPr>
      </p:sp>
      <p:sp>
        <p:nvSpPr>
          <p:cNvPr id="7" name="pastille-113"/>
          <p:cNvSpPr/>
          <p:nvPr/>
        </p:nvSpPr>
        <p:spPr>
          <a:xfrm>
            <a:off x="777240" y="4526280"/>
            <a:ext cx="548640" cy="548640"/>
          </a:xfrm>
          <a:prstGeom prst="ellipse">
            <a:avLst/>
          </a:prstGeom>
          <a:solidFill>
            <a:schemeClr val="accent1"/>
          </a:solidFill>
          <a:ln/>
        </p:spPr>
      </p:sp>
      <p:pic>
        <p:nvPicPr>
          <p:cNvPr id="8" name="icone-114" descr="preencoded.png">    </p:cNvPr>
          <p:cNvPicPr>
            <a:picLocks noChangeAspect="1"/>
          </p:cNvPicPr>
          <p:nvPr/>
        </p:nvPicPr>
        <p:blipFill>
          <a:blip r:embed="rId1"/>
          <a:stretch>
            <a:fillRect/>
          </a:stretch>
        </p:blipFill>
        <p:spPr>
          <a:xfrm>
            <a:off x="897941" y="4646981"/>
            <a:ext cx="307238" cy="307238"/>
          </a:xfrm>
          <a:prstGeom prst="rect">
            <a:avLst/>
          </a:prstGeom>
        </p:spPr>
      </p:pic>
      <p:sp>
        <p:nvSpPr>
          <p:cNvPr id="9" name="texte-115"/>
          <p:cNvSpPr txBox="1"/>
          <p:nvPr/>
        </p:nvSpPr>
        <p:spPr>
          <a:xfrm>
            <a:off x="1508760" y="4343400"/>
            <a:ext cx="9905695" cy="914400"/>
          </a:xfrm>
          <a:prstGeom prst="rect">
            <a:avLst/>
          </a:prstGeom>
          <a:noFill/>
          <a:ln/>
        </p:spPr>
        <p:txBody>
          <a:bodyPr wrap="square" lIns="0" tIns="0" rIns="0" bIns="0" rtlCol="0" anchor="ctr"/>
          <a:lstStyle/>
          <a:p>
            <a:pPr indent="0" marL="0">
              <a:buNone/>
            </a:pPr>
            <a:r>
              <a:rPr lang="en-US" sz="1500" b="1" dirty="0">
                <a:solidFill>
                  <a:schemeClr val="tx2"/>
                </a:solidFill>
              </a:rPr>
              <a:t>Kubernetes redevient pertinent si la charge dépasse un serveur, si l'exigence monte à 99,9 % ou si l'équipe se forme. D2 vaut pour le contexte d'Altéa aujourd'hui.</a:t>
            </a:r>
            <a:endParaRPr lang="en-US" sz="1500" dirty="0"/>
          </a:p>
        </p:txBody>
      </p:sp>
      <p:sp>
        <p:nvSpPr>
          <p:cNvPr id="10" name="carte-116"/>
          <p:cNvSpPr/>
          <p:nvPr/>
        </p:nvSpPr>
        <p:spPr>
          <a:xfrm>
            <a:off x="548640" y="5440680"/>
            <a:ext cx="11094415" cy="548640"/>
          </a:xfrm>
          <a:prstGeom prst="roundRect">
            <a:avLst>
              <a:gd name="adj" fmla="val 13333"/>
            </a:avLst>
          </a:prstGeom>
          <a:solidFill>
            <a:schemeClr val="tx2"/>
          </a:solidFill>
          <a:ln w="9525">
            <a:solidFill>
              <a:schemeClr val="tx2"/>
            </a:solidFill>
            <a:prstDash val="solid"/>
          </a:ln>
        </p:spPr>
      </p:sp>
      <p:sp>
        <p:nvSpPr>
          <p:cNvPr id="11" name="texte-117"/>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Docker Compose sur un serveur européen ; redémarrage automatique des conteneurs ; images versionnées.</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DÉCISION D3 · SÉCURITÉ DES ÉCHANGES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D3 · Sécuriser sans complexifier</a:t>
            </a:r>
            <a:endParaRPr lang="en-US" sz="3200" dirty="0"/>
          </a:p>
        </p:txBody>
      </p:sp>
      <p:graphicFrame>
        <p:nvGraphicFramePr>
          <p:cNvPr id="11" name="tableau-118"/>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2926080"/>
                <a:gridCol w="8165592"/>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Menace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Mesure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Écoute du trafic</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HTTPS sur le point d'entrée unique ; aucun autre port publié en production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Accès direct à la base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Réseau Docker interne (donnees) : seule l'API joint PostgreSQL</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Collecteur compromis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Réseau dédié (collecte) : il ne voit que l'API, jamais la base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Évasion de conteneur</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Conteneurs sans privilège : utilisateur 10001, nginx non privilégié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Secret divulgué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Mots de passe dans un fichier .env non versionné, jamais dans Git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Données personnelles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Masquage des adresses électroniques dans les journaux (Vector)</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6" name="carte-119"/>
          <p:cNvSpPr/>
          <p:nvPr/>
        </p:nvSpPr>
        <p:spPr>
          <a:xfrm>
            <a:off x="548640" y="5120640"/>
            <a:ext cx="11094415" cy="777240"/>
          </a:xfrm>
          <a:prstGeom prst="roundRect">
            <a:avLst>
              <a:gd name="adj" fmla="val 9412"/>
            </a:avLst>
          </a:prstGeom>
          <a:solidFill>
            <a:schemeClr val="tx2"/>
          </a:solidFill>
          <a:ln w="9525">
            <a:solidFill>
              <a:schemeClr val="tx2"/>
            </a:solidFill>
            <a:prstDash val="solid"/>
          </a:ln>
        </p:spPr>
      </p:sp>
      <p:sp>
        <p:nvSpPr>
          <p:cNvPr id="7" name="texte-120"/>
          <p:cNvSpPr txBox="1"/>
          <p:nvPr/>
        </p:nvSpPr>
        <p:spPr>
          <a:xfrm>
            <a:off x="822960" y="5120640"/>
            <a:ext cx="10545775" cy="77724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Point d'entrée unique en HTTPS et réseaux Docker séparés. Accepté : échanges internes non chiffrés, sur un seul serveur.</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DÉCISION D4 · DONNÉES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D4 · Protéger les données simplement</a:t>
            </a:r>
            <a:endParaRPr lang="en-US" sz="3200" dirty="0"/>
          </a:p>
        </p:txBody>
      </p:sp>
      <p:graphicFrame>
        <p:nvGraphicFramePr>
          <p:cNvPr id="12" name="tableau-121"/>
          <p:cNvGraphicFramePr>
            <a:graphicFrameLocks noGrp="1"/>
          </p:cNvGraphicFramePr>
          <p:nvPr>
            <p:extLst>
              <p:ext uri="{D42A27DB-BD31-4B8C-83A1-F6EECF244321}">
                <p14:modId xmlns:p14="http://schemas.microsoft.com/office/powerpoint/2010/main" val="1579011935"/>
              </p:ext>
            </p:extLst>
          </p:nvPr>
        </p:nvGraphicFramePr>
        <p:xfrm>
          <a:off x="548640" y="1645920"/>
          <a:ext cx="6949440" cy="914400"/>
        </p:xfrm>
        <a:graphic>
          <a:graphicData uri="http://schemas.openxmlformats.org/drawingml/2006/table">
            <a:tbl>
              <a:tblPr/>
              <a:tblGrid>
                <a:gridCol w="2103120"/>
                <a:gridCol w="2926080"/>
                <a:gridCol w="1920240"/>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Situation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Mécanisme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Valeur attendue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Plantage de la base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restart: unless-stopped, volume persistant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Quelques secondes, aucune perte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Perte du disque ou du serveur</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Sauvegarde chaque nuit, copiée hors du serveur</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RPO ≤ 24 h</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Restauration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make restauration, exercice mensuel</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RTO ≤ 30 min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6" name="carte-122"/>
          <p:cNvSpPr/>
          <p:nvPr/>
        </p:nvSpPr>
        <p:spPr>
          <a:xfrm>
            <a:off x="7754112" y="1645920"/>
            <a:ext cx="3886200" cy="2286000"/>
          </a:xfrm>
          <a:prstGeom prst="roundRect">
            <a:avLst>
              <a:gd name="adj" fmla="val 3200"/>
            </a:avLst>
          </a:prstGeom>
          <a:solidFill>
            <a:schemeClr val="bg1"/>
          </a:solidFill>
          <a:ln w="9525">
            <a:solidFill>
              <a:schemeClr val="accent6"/>
            </a:solidFill>
            <a:prstDash val="solid"/>
          </a:ln>
        </p:spPr>
      </p:sp>
      <p:sp>
        <p:nvSpPr>
          <p:cNvPr id="7" name="pastille-123"/>
          <p:cNvSpPr/>
          <p:nvPr/>
        </p:nvSpPr>
        <p:spPr>
          <a:xfrm>
            <a:off x="7982712" y="1874520"/>
            <a:ext cx="548640" cy="548640"/>
          </a:xfrm>
          <a:prstGeom prst="ellipse">
            <a:avLst/>
          </a:prstGeom>
          <a:solidFill>
            <a:schemeClr val="accent3"/>
          </a:solidFill>
          <a:ln/>
        </p:spPr>
      </p:sp>
      <p:pic>
        <p:nvPicPr>
          <p:cNvPr id="8" name="icone-124" descr="preencoded.png">    </p:cNvPr>
          <p:cNvPicPr>
            <a:picLocks noChangeAspect="1"/>
          </p:cNvPicPr>
          <p:nvPr/>
        </p:nvPicPr>
        <p:blipFill>
          <a:blip r:embed="rId1"/>
          <a:stretch>
            <a:fillRect/>
          </a:stretch>
        </p:blipFill>
        <p:spPr>
          <a:xfrm>
            <a:off x="8103413" y="1995221"/>
            <a:ext cx="307238" cy="307238"/>
          </a:xfrm>
          <a:prstGeom prst="rect">
            <a:avLst/>
          </a:prstGeom>
        </p:spPr>
      </p:pic>
      <p:sp>
        <p:nvSpPr>
          <p:cNvPr id="9" name="texte-125"/>
          <p:cNvSpPr txBox="1"/>
          <p:nvPr/>
        </p:nvSpPr>
        <p:spPr>
          <a:xfrm>
            <a:off x="8668512" y="1874520"/>
            <a:ext cx="2788920" cy="548640"/>
          </a:xfrm>
          <a:prstGeom prst="rect">
            <a:avLst/>
          </a:prstGeom>
          <a:noFill/>
          <a:ln/>
        </p:spPr>
        <p:txBody>
          <a:bodyPr wrap="square" lIns="0" tIns="0" rIns="0" bIns="0" rtlCol="0" anchor="ctr"/>
          <a:lstStyle/>
          <a:p>
            <a:pPr indent="0" marL="0">
              <a:buNone/>
            </a:pPr>
            <a:r>
              <a:rPr lang="en-US" sz="1700" b="1" dirty="0">
                <a:solidFill>
                  <a:schemeClr val="tx2"/>
                </a:solidFill>
              </a:rPr>
              <a:t>Pourquoi 24 h suffisent</a:t>
            </a:r>
            <a:endParaRPr lang="en-US" sz="1700" dirty="0"/>
          </a:p>
        </p:txBody>
      </p:sp>
      <p:sp>
        <p:nvSpPr>
          <p:cNvPr id="10" name="texte-126"/>
          <p:cNvSpPr txBox="1"/>
          <p:nvPr/>
        </p:nvSpPr>
        <p:spPr>
          <a:xfrm>
            <a:off x="7982712" y="2560320"/>
            <a:ext cx="3429000" cy="123444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Signaux recollectables</a:t>
            </a:r>
            <a:endParaRPr lang="en-US" sz="1400" dirty="0"/>
          </a:p>
          <a:p>
            <a:pPr marL="203200" indent="-203200">
              <a:spcAft>
                <a:spcPts val="800"/>
              </a:spcAft>
              <a:buSzPct val="100000"/>
              <a:buChar char="•"/>
            </a:pPr>
            <a:r>
              <a:rPr lang="en-US" sz="1400" dirty="0">
                <a:solidFill>
                  <a:schemeClr val="tx1"/>
                </a:solidFill>
              </a:rPr>
              <a:t>Verdicts : quelques Ko</a:t>
            </a:r>
            <a:endParaRPr lang="en-US" sz="1400" dirty="0"/>
          </a:p>
          <a:p>
            <a:pPr marL="203200" indent="-203200">
              <a:spcAft>
                <a:spcPts val="800"/>
              </a:spcAft>
              <a:buSzPct val="100000"/>
              <a:buChar char="•"/>
            </a:pPr>
            <a:r>
              <a:rPr lang="en-US" sz="1400" dirty="0">
                <a:solidFill>
                  <a:schemeClr val="tx1"/>
                </a:solidFill>
              </a:rPr>
              <a:t>Révision : saisie client</a:t>
            </a:r>
            <a:endParaRPr lang="en-US" sz="1400" dirty="0"/>
          </a:p>
        </p:txBody>
      </p:sp>
      <p:sp>
        <p:nvSpPr>
          <p:cNvPr id="11" name="code-127"/>
          <p:cNvSpPr/>
          <p:nvPr/>
        </p:nvSpPr>
        <p:spPr>
          <a:xfrm>
            <a:off x="548640" y="4114800"/>
            <a:ext cx="11094415" cy="777240"/>
          </a:xfrm>
          <a:prstGeom prst="roundRect">
            <a:avLst>
              <a:gd name="adj" fmla="val 7059"/>
            </a:avLst>
          </a:prstGeom>
          <a:solidFill>
            <a:schemeClr val="tx2"/>
          </a:solidFill>
          <a:ln/>
        </p:spPr>
      </p:sp>
      <p:sp>
        <p:nvSpPr>
          <p:cNvPr id="12" name="code-texte-128"/>
          <p:cNvSpPr txBox="1"/>
          <p:nvPr/>
        </p:nvSpPr>
        <p:spPr>
          <a:xfrm>
            <a:off x="777240" y="4297680"/>
            <a:ext cx="10637215" cy="411480"/>
          </a:xfrm>
          <a:prstGeom prst="rect">
            <a:avLst/>
          </a:prstGeom>
          <a:noFill/>
          <a:ln/>
        </p:spPr>
        <p:txBody>
          <a:bodyPr wrap="square" lIns="0" tIns="0" rIns="0" bIns="0" rtlCol="0" anchor="t"/>
          <a:lstStyle/>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sauvegarde     </a:t>
            </a:r>
            <a:r>
              <a:rPr lang="en-US" sz="1300" dirty="0">
                <a:solidFill>
                  <a:schemeClr val="accent1"/>
                </a:solidFill>
                <a:latin typeface="Courier New" pitchFamily="34" charset="0"/>
                <a:ea typeface="Courier New" pitchFamily="34" charset="-122"/>
                <a:cs typeface="Courier New" pitchFamily="34" charset="-120"/>
              </a:rPr>
              <a:t> # pg_dump dans demo/sauvegardes/</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restauration   </a:t>
            </a:r>
            <a:r>
              <a:rPr lang="en-US" sz="1300" dirty="0">
                <a:solidFill>
                  <a:schemeClr val="accent1"/>
                </a:solidFill>
                <a:latin typeface="Courier New" pitchFamily="34" charset="0"/>
                <a:ea typeface="Courier New" pitchFamily="34" charset="-122"/>
                <a:cs typeface="Courier New" pitchFamily="34" charset="-120"/>
              </a:rPr>
              <a:t> # dernière sauvegarde, API arrêtée le temps de l'opération</a:t>
            </a:r>
            <a:endParaRPr lang="en-US" sz="1300" dirty="0"/>
          </a:p>
        </p:txBody>
      </p:sp>
      <p:sp>
        <p:nvSpPr>
          <p:cNvPr id="13" name="carte-129"/>
          <p:cNvSpPr/>
          <p:nvPr/>
        </p:nvSpPr>
        <p:spPr>
          <a:xfrm>
            <a:off x="548640" y="5120640"/>
            <a:ext cx="11094415" cy="777240"/>
          </a:xfrm>
          <a:prstGeom prst="roundRect">
            <a:avLst>
              <a:gd name="adj" fmla="val 9412"/>
            </a:avLst>
          </a:prstGeom>
          <a:solidFill>
            <a:schemeClr val="tx2"/>
          </a:solidFill>
          <a:ln w="9525">
            <a:solidFill>
              <a:schemeClr val="tx2"/>
            </a:solidFill>
            <a:prstDash val="solid"/>
          </a:ln>
        </p:spPr>
      </p:sp>
      <p:sp>
        <p:nvSpPr>
          <p:cNvPr id="14" name="texte-130"/>
          <p:cNvSpPr txBox="1"/>
          <p:nvPr/>
        </p:nvSpPr>
        <p:spPr>
          <a:xfrm>
            <a:off x="822960" y="5120640"/>
            <a:ext cx="10545775" cy="77724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PostgreSQL sur volume persistant, sauvegardé chaque nuit hors du serveur, restauration testée chaque mois.</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DÉCISION D5 · MÉTRIQUES ET ALERTES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D5 · Alerter sur ce qui compte</a:t>
            </a:r>
            <a:endParaRPr lang="en-US" sz="3200" dirty="0"/>
          </a:p>
        </p:txBody>
      </p:sp>
      <p:graphicFrame>
        <p:nvGraphicFramePr>
          <p:cNvPr id="13" name="tableau-131"/>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560320"/>
                <a:gridCol w="2743200"/>
                <a:gridCol w="1463040"/>
              </a:tblGrid>
              <a:tr h="45720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Alerte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Condition</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Sévérité</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RadarApiDown</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API injoignable depuis 30 s</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critique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RadarApiErrorRate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Plus de 5 % d'erreurs 5xx</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critique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RadarCollectorDown</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Collecteur arrêté</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avertissement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RadarCollectorStale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Source non collectée depuis 6 h</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avertissement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RadarErrorLogsSpike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Pic de journaux d'erreur</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avertissement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RadarDisruptionDetected</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Indice de rupture &gt; 0,5</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info · team=veille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6" name="carte-132"/>
          <p:cNvSpPr/>
          <p:nvPr/>
        </p:nvSpPr>
        <p:spPr>
          <a:xfrm>
            <a:off x="7616952" y="1645920"/>
            <a:ext cx="4023360" cy="1005840"/>
          </a:xfrm>
          <a:prstGeom prst="roundRect">
            <a:avLst>
              <a:gd name="adj" fmla="val 7273"/>
            </a:avLst>
          </a:prstGeom>
          <a:solidFill>
            <a:schemeClr val="bg1"/>
          </a:solidFill>
          <a:ln w="9525">
            <a:solidFill>
              <a:schemeClr val="accent6"/>
            </a:solidFill>
            <a:prstDash val="solid"/>
          </a:ln>
        </p:spPr>
      </p:sp>
      <p:sp>
        <p:nvSpPr>
          <p:cNvPr id="7" name="pastille-133"/>
          <p:cNvSpPr/>
          <p:nvPr/>
        </p:nvSpPr>
        <p:spPr>
          <a:xfrm>
            <a:off x="7799832" y="1828800"/>
            <a:ext cx="640080" cy="640080"/>
          </a:xfrm>
          <a:prstGeom prst="ellipse">
            <a:avLst/>
          </a:prstGeom>
          <a:solidFill>
            <a:schemeClr val="accent1"/>
          </a:solidFill>
          <a:ln/>
        </p:spPr>
      </p:sp>
      <p:pic>
        <p:nvPicPr>
          <p:cNvPr id="8" name="icone-134" descr="preencoded.png">    </p:cNvPr>
          <p:cNvPicPr>
            <a:picLocks noChangeAspect="1"/>
          </p:cNvPicPr>
          <p:nvPr/>
        </p:nvPicPr>
        <p:blipFill>
          <a:blip r:embed="rId1"/>
          <a:stretch>
            <a:fillRect/>
          </a:stretch>
        </p:blipFill>
        <p:spPr>
          <a:xfrm>
            <a:off x="7940650" y="1969618"/>
            <a:ext cx="358445" cy="358445"/>
          </a:xfrm>
          <a:prstGeom prst="rect">
            <a:avLst/>
          </a:prstGeom>
        </p:spPr>
      </p:pic>
      <p:sp>
        <p:nvSpPr>
          <p:cNvPr id="9" name="texte-135"/>
          <p:cNvSpPr txBox="1"/>
          <p:nvPr/>
        </p:nvSpPr>
        <p:spPr>
          <a:xfrm>
            <a:off x="8622792" y="1645920"/>
            <a:ext cx="2926080" cy="1005840"/>
          </a:xfrm>
          <a:prstGeom prst="rect">
            <a:avLst/>
          </a:prstGeom>
          <a:noFill/>
          <a:ln/>
        </p:spPr>
        <p:txBody>
          <a:bodyPr wrap="square" lIns="0" tIns="0" rIns="0" bIns="0" rtlCol="0" anchor="ctr"/>
          <a:lstStyle/>
          <a:p>
            <a:pPr indent="0" marL="0">
              <a:buNone/>
            </a:pPr>
            <a:r>
              <a:rPr lang="en-US" sz="1500" b="1" dirty="0">
                <a:solidFill>
                  <a:schemeClr val="tx2"/>
                </a:solidFill>
              </a:rPr>
              <a:t>Symptômes visibles, pas l'état interne</a:t>
            </a:r>
            <a:endParaRPr lang="en-US" sz="1500" dirty="0"/>
          </a:p>
        </p:txBody>
      </p:sp>
      <p:sp>
        <p:nvSpPr>
          <p:cNvPr id="10" name="carte-136"/>
          <p:cNvSpPr/>
          <p:nvPr/>
        </p:nvSpPr>
        <p:spPr>
          <a:xfrm>
            <a:off x="7616952" y="2788920"/>
            <a:ext cx="4023360" cy="1005840"/>
          </a:xfrm>
          <a:prstGeom prst="roundRect">
            <a:avLst>
              <a:gd name="adj" fmla="val 7273"/>
            </a:avLst>
          </a:prstGeom>
          <a:solidFill>
            <a:schemeClr val="bg1"/>
          </a:solidFill>
          <a:ln w="9525">
            <a:solidFill>
              <a:schemeClr val="accent6"/>
            </a:solidFill>
            <a:prstDash val="solid"/>
          </a:ln>
        </p:spPr>
      </p:sp>
      <p:sp>
        <p:nvSpPr>
          <p:cNvPr id="11" name="pastille-137"/>
          <p:cNvSpPr/>
          <p:nvPr/>
        </p:nvSpPr>
        <p:spPr>
          <a:xfrm>
            <a:off x="7799832" y="2971800"/>
            <a:ext cx="640080" cy="640080"/>
          </a:xfrm>
          <a:prstGeom prst="ellipse">
            <a:avLst/>
          </a:prstGeom>
          <a:solidFill>
            <a:schemeClr val="accent4"/>
          </a:solidFill>
          <a:ln/>
        </p:spPr>
      </p:sp>
      <p:pic>
        <p:nvPicPr>
          <p:cNvPr id="12" name="icone-138" descr="preencoded.png">    </p:cNvPr>
          <p:cNvPicPr>
            <a:picLocks noChangeAspect="1"/>
          </p:cNvPicPr>
          <p:nvPr/>
        </p:nvPicPr>
        <p:blipFill>
          <a:blip r:embed="rId2"/>
          <a:stretch>
            <a:fillRect/>
          </a:stretch>
        </p:blipFill>
        <p:spPr>
          <a:xfrm>
            <a:off x="7940650" y="3112618"/>
            <a:ext cx="358445" cy="358445"/>
          </a:xfrm>
          <a:prstGeom prst="rect">
            <a:avLst/>
          </a:prstGeom>
        </p:spPr>
      </p:pic>
      <p:sp>
        <p:nvSpPr>
          <p:cNvPr id="13" name="texte-139"/>
          <p:cNvSpPr txBox="1"/>
          <p:nvPr/>
        </p:nvSpPr>
        <p:spPr>
          <a:xfrm>
            <a:off x="8622792" y="2788920"/>
            <a:ext cx="2926080" cy="1005840"/>
          </a:xfrm>
          <a:prstGeom prst="rect">
            <a:avLst/>
          </a:prstGeom>
          <a:noFill/>
          <a:ln/>
        </p:spPr>
        <p:txBody>
          <a:bodyPr wrap="square" lIns="0" tIns="0" rIns="0" bIns="0" rtlCol="0" anchor="ctr"/>
          <a:lstStyle/>
          <a:p>
            <a:pPr indent="0" marL="0">
              <a:buNone/>
            </a:pPr>
            <a:r>
              <a:rPr lang="en-US" sz="1500" b="1" dirty="0">
                <a:solidFill>
                  <a:schemeClr val="tx2"/>
                </a:solidFill>
              </a:rPr>
              <a:t>La panne silencieuse devient une alerte</a:t>
            </a:r>
            <a:endParaRPr lang="en-US" sz="1500" dirty="0"/>
          </a:p>
        </p:txBody>
      </p:sp>
      <p:sp>
        <p:nvSpPr>
          <p:cNvPr id="14" name="carte-140"/>
          <p:cNvSpPr/>
          <p:nvPr/>
        </p:nvSpPr>
        <p:spPr>
          <a:xfrm>
            <a:off x="7616952" y="3931920"/>
            <a:ext cx="4023360" cy="1005840"/>
          </a:xfrm>
          <a:prstGeom prst="roundRect">
            <a:avLst>
              <a:gd name="adj" fmla="val 7273"/>
            </a:avLst>
          </a:prstGeom>
          <a:solidFill>
            <a:schemeClr val="bg1"/>
          </a:solidFill>
          <a:ln w="9525">
            <a:solidFill>
              <a:schemeClr val="accent6"/>
            </a:solidFill>
            <a:prstDash val="solid"/>
          </a:ln>
        </p:spPr>
      </p:sp>
      <p:sp>
        <p:nvSpPr>
          <p:cNvPr id="15" name="pastille-141"/>
          <p:cNvSpPr/>
          <p:nvPr/>
        </p:nvSpPr>
        <p:spPr>
          <a:xfrm>
            <a:off x="7799832" y="4114800"/>
            <a:ext cx="640080" cy="640080"/>
          </a:xfrm>
          <a:prstGeom prst="ellipse">
            <a:avLst/>
          </a:prstGeom>
          <a:solidFill>
            <a:schemeClr val="tx2"/>
          </a:solidFill>
          <a:ln/>
        </p:spPr>
      </p:sp>
      <p:pic>
        <p:nvPicPr>
          <p:cNvPr id="16" name="icone-142" descr="preencoded.png">    </p:cNvPr>
          <p:cNvPicPr>
            <a:picLocks noChangeAspect="1"/>
          </p:cNvPicPr>
          <p:nvPr/>
        </p:nvPicPr>
        <p:blipFill>
          <a:blip r:embed="rId3"/>
          <a:stretch>
            <a:fillRect/>
          </a:stretch>
        </p:blipFill>
        <p:spPr>
          <a:xfrm>
            <a:off x="7940650" y="4255618"/>
            <a:ext cx="358445" cy="358445"/>
          </a:xfrm>
          <a:prstGeom prst="rect">
            <a:avLst/>
          </a:prstGeom>
        </p:spPr>
      </p:pic>
      <p:sp>
        <p:nvSpPr>
          <p:cNvPr id="17" name="texte-143"/>
          <p:cNvSpPr txBox="1"/>
          <p:nvPr/>
        </p:nvSpPr>
        <p:spPr>
          <a:xfrm>
            <a:off x="8622792" y="3931920"/>
            <a:ext cx="2926080" cy="1005840"/>
          </a:xfrm>
          <a:prstGeom prst="rect">
            <a:avLst/>
          </a:prstGeom>
          <a:noFill/>
          <a:ln/>
        </p:spPr>
        <p:txBody>
          <a:bodyPr wrap="square" lIns="0" tIns="0" rIns="0" bIns="0" rtlCol="0" anchor="ctr"/>
          <a:lstStyle/>
          <a:p>
            <a:pPr indent="0" marL="0">
              <a:buNone/>
            </a:pPr>
            <a:r>
              <a:rPr lang="en-US" sz="1500" b="1" dirty="0">
                <a:solidFill>
                  <a:schemeClr val="tx2"/>
                </a:solidFill>
              </a:rPr>
              <a:t>Un runbook par alerte</a:t>
            </a:r>
            <a:endParaRPr lang="en-US" sz="1500" dirty="0"/>
          </a:p>
        </p:txBody>
      </p:sp>
      <p:sp>
        <p:nvSpPr>
          <p:cNvPr id="18" name="carte-144"/>
          <p:cNvSpPr/>
          <p:nvPr/>
        </p:nvSpPr>
        <p:spPr>
          <a:xfrm>
            <a:off x="548640" y="5120640"/>
            <a:ext cx="11094415" cy="777240"/>
          </a:xfrm>
          <a:prstGeom prst="roundRect">
            <a:avLst>
              <a:gd name="adj" fmla="val 9412"/>
            </a:avLst>
          </a:prstGeom>
          <a:solidFill>
            <a:schemeClr val="tx2"/>
          </a:solidFill>
          <a:ln w="9525">
            <a:solidFill>
              <a:schemeClr val="tx2"/>
            </a:solidFill>
            <a:prstDash val="solid"/>
          </a:ln>
        </p:spPr>
      </p:sp>
      <p:sp>
        <p:nvSpPr>
          <p:cNvPr id="19" name="texte-145"/>
          <p:cNvSpPr txBox="1"/>
          <p:nvPr/>
        </p:nvSpPr>
        <p:spPr>
          <a:xfrm>
            <a:off x="822960" y="5120640"/>
            <a:ext cx="10545775" cy="77724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Prometheus, Alertmanager et Grafana (open source, souverains) ; une alerte par symptôme ; un runbook par alerte.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DÉCISION D5 · JOURNAUX</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D5 · Les journaux avec Vector et Loki</a:t>
            </a:r>
            <a:endParaRPr lang="en-US" sz="3200" dirty="0"/>
          </a:p>
        </p:txBody>
      </p:sp>
      <p:sp>
        <p:nvSpPr>
          <p:cNvPr id="5" name="etape-146"/>
          <p:cNvSpPr/>
          <p:nvPr/>
        </p:nvSpPr>
        <p:spPr>
          <a:xfrm>
            <a:off x="548640" y="1783080"/>
            <a:ext cx="2306665" cy="685800"/>
          </a:xfrm>
          <a:prstGeom prst="pentagon">
            <a:avLst/>
          </a:prstGeom>
          <a:solidFill>
            <a:schemeClr val="accent6"/>
          </a:solidFill>
          <a:ln/>
        </p:spPr>
      </p:sp>
      <p:sp>
        <p:nvSpPr>
          <p:cNvPr id="6" name="texte-147"/>
          <p:cNvSpPr txBox="1"/>
          <p:nvPr/>
        </p:nvSpPr>
        <p:spPr>
          <a:xfrm>
            <a:off x="640080" y="1783080"/>
            <a:ext cx="1849465" cy="685800"/>
          </a:xfrm>
          <a:prstGeom prst="rect">
            <a:avLst/>
          </a:prstGeom>
          <a:noFill/>
          <a:ln/>
        </p:spPr>
        <p:txBody>
          <a:bodyPr wrap="square" lIns="0" tIns="0" rIns="0" bIns="0" rtlCol="0" anchor="ctr"/>
          <a:lstStyle/>
          <a:p>
            <a:pPr algn="ctr" indent="0" marL="0">
              <a:buNone/>
            </a:pPr>
            <a:r>
              <a:rPr lang="en-US" sz="1400" b="1" dirty="0">
                <a:solidFill>
                  <a:schemeClr val="tx2"/>
                </a:solidFill>
              </a:rPr>
              <a:t>Conteneurs</a:t>
            </a:r>
            <a:endParaRPr lang="en-US" sz="1400" dirty="0"/>
          </a:p>
        </p:txBody>
      </p:sp>
      <p:sp>
        <p:nvSpPr>
          <p:cNvPr id="7" name="texte-148"/>
          <p:cNvSpPr txBox="1"/>
          <p:nvPr/>
        </p:nvSpPr>
        <p:spPr>
          <a:xfrm>
            <a:off x="685800" y="2542032"/>
            <a:ext cx="2123785" cy="457200"/>
          </a:xfrm>
          <a:prstGeom prst="rect">
            <a:avLst/>
          </a:prstGeom>
          <a:noFill/>
          <a:ln/>
        </p:spPr>
        <p:txBody>
          <a:bodyPr wrap="square" lIns="0" tIns="0" rIns="0" bIns="0" rtlCol="0" anchor="t"/>
          <a:lstStyle/>
          <a:p>
            <a:pPr algn="ctr" indent="0" marL="0">
              <a:buNone/>
            </a:pPr>
            <a:r>
              <a:rPr lang="en-US" sz="1100" dirty="0">
                <a:solidFill>
                  <a:schemeClr val="accent5"/>
                </a:solidFill>
              </a:rPr>
              <a:t>lecture via le démon Docker</a:t>
            </a:r>
            <a:endParaRPr lang="en-US" sz="1100" dirty="0"/>
          </a:p>
        </p:txBody>
      </p:sp>
      <p:sp>
        <p:nvSpPr>
          <p:cNvPr id="8" name="etape-149"/>
          <p:cNvSpPr/>
          <p:nvPr/>
        </p:nvSpPr>
        <p:spPr>
          <a:xfrm>
            <a:off x="2745577" y="1783080"/>
            <a:ext cx="2306665" cy="685800"/>
          </a:xfrm>
          <a:prstGeom prst="chevron">
            <a:avLst/>
          </a:prstGeom>
          <a:solidFill>
            <a:schemeClr val="accent2"/>
          </a:solidFill>
          <a:ln/>
        </p:spPr>
      </p:sp>
      <p:sp>
        <p:nvSpPr>
          <p:cNvPr id="9" name="texte-150"/>
          <p:cNvSpPr txBox="1"/>
          <p:nvPr/>
        </p:nvSpPr>
        <p:spPr>
          <a:xfrm>
            <a:off x="3038185" y="1783080"/>
            <a:ext cx="1849465" cy="685800"/>
          </a:xfrm>
          <a:prstGeom prst="rect">
            <a:avLst/>
          </a:prstGeom>
          <a:noFill/>
          <a:ln/>
        </p:spPr>
        <p:txBody>
          <a:bodyPr wrap="square" lIns="0" tIns="0" rIns="0" bIns="0" rtlCol="0" anchor="ctr"/>
          <a:lstStyle/>
          <a:p>
            <a:pPr algn="ctr" indent="0" marL="0">
              <a:buNone/>
            </a:pPr>
            <a:r>
              <a:rPr lang="en-US" sz="1400" b="1" dirty="0">
                <a:solidFill>
                  <a:schemeClr val="tx2"/>
                </a:solidFill>
              </a:rPr>
              <a:t>Analyse VRL</a:t>
            </a:r>
            <a:endParaRPr lang="en-US" sz="1400" dirty="0"/>
          </a:p>
        </p:txBody>
      </p:sp>
      <p:sp>
        <p:nvSpPr>
          <p:cNvPr id="10" name="texte-151"/>
          <p:cNvSpPr txBox="1"/>
          <p:nvPr/>
        </p:nvSpPr>
        <p:spPr>
          <a:xfrm>
            <a:off x="2882737" y="2542032"/>
            <a:ext cx="2123785" cy="457200"/>
          </a:xfrm>
          <a:prstGeom prst="rect">
            <a:avLst/>
          </a:prstGeom>
          <a:noFill/>
          <a:ln/>
        </p:spPr>
        <p:txBody>
          <a:bodyPr wrap="square" lIns="0" tIns="0" rIns="0" bIns="0" rtlCol="0" anchor="t"/>
          <a:lstStyle/>
          <a:p>
            <a:pPr algn="ctr" indent="0" marL="0">
              <a:buNone/>
            </a:pPr>
            <a:r>
              <a:rPr lang="en-US" sz="1100" dirty="0">
                <a:solidFill>
                  <a:schemeClr val="accent5"/>
                </a:solidFill>
              </a:rPr>
              <a:t>JSON de Spring Boot</a:t>
            </a:r>
            <a:endParaRPr lang="en-US" sz="1100" dirty="0"/>
          </a:p>
        </p:txBody>
      </p:sp>
      <p:sp>
        <p:nvSpPr>
          <p:cNvPr id="11" name="etape-152"/>
          <p:cNvSpPr/>
          <p:nvPr/>
        </p:nvSpPr>
        <p:spPr>
          <a:xfrm>
            <a:off x="4942515" y="1783080"/>
            <a:ext cx="2306665" cy="685800"/>
          </a:xfrm>
          <a:prstGeom prst="chevron">
            <a:avLst/>
          </a:prstGeom>
          <a:solidFill>
            <a:schemeClr val="accent2"/>
          </a:solidFill>
          <a:ln/>
        </p:spPr>
      </p:sp>
      <p:sp>
        <p:nvSpPr>
          <p:cNvPr id="12" name="texte-153"/>
          <p:cNvSpPr txBox="1"/>
          <p:nvPr/>
        </p:nvSpPr>
        <p:spPr>
          <a:xfrm>
            <a:off x="5235123" y="1783080"/>
            <a:ext cx="1849465" cy="685800"/>
          </a:xfrm>
          <a:prstGeom prst="rect">
            <a:avLst/>
          </a:prstGeom>
          <a:noFill/>
          <a:ln/>
        </p:spPr>
        <p:txBody>
          <a:bodyPr wrap="square" lIns="0" tIns="0" rIns="0" bIns="0" rtlCol="0" anchor="ctr"/>
          <a:lstStyle/>
          <a:p>
            <a:pPr algn="ctr" indent="0" marL="0">
              <a:buNone/>
            </a:pPr>
            <a:r>
              <a:rPr lang="en-US" sz="1400" b="1" dirty="0">
                <a:solidFill>
                  <a:schemeClr val="tx2"/>
                </a:solidFill>
              </a:rPr>
              <a:t>Masquage RGPD</a:t>
            </a:r>
            <a:endParaRPr lang="en-US" sz="1400" dirty="0"/>
          </a:p>
        </p:txBody>
      </p:sp>
      <p:sp>
        <p:nvSpPr>
          <p:cNvPr id="13" name="texte-154"/>
          <p:cNvSpPr txBox="1"/>
          <p:nvPr/>
        </p:nvSpPr>
        <p:spPr>
          <a:xfrm>
            <a:off x="5079675" y="2542032"/>
            <a:ext cx="2123785" cy="457200"/>
          </a:xfrm>
          <a:prstGeom prst="rect">
            <a:avLst/>
          </a:prstGeom>
          <a:noFill/>
          <a:ln/>
        </p:spPr>
        <p:txBody>
          <a:bodyPr wrap="square" lIns="0" tIns="0" rIns="0" bIns="0" rtlCol="0" anchor="t"/>
          <a:lstStyle/>
          <a:p>
            <a:pPr algn="ctr" indent="0" marL="0">
              <a:buNone/>
            </a:pPr>
            <a:r>
              <a:rPr lang="en-US" sz="1100" dirty="0">
                <a:solidFill>
                  <a:schemeClr val="accent5"/>
                </a:solidFill>
              </a:rPr>
              <a:t>adresses électroniques</a:t>
            </a:r>
            <a:endParaRPr lang="en-US" sz="1100" dirty="0"/>
          </a:p>
        </p:txBody>
      </p:sp>
      <p:sp>
        <p:nvSpPr>
          <p:cNvPr id="14" name="etape-155"/>
          <p:cNvSpPr/>
          <p:nvPr/>
        </p:nvSpPr>
        <p:spPr>
          <a:xfrm>
            <a:off x="7139452" y="1783080"/>
            <a:ext cx="2306665" cy="685800"/>
          </a:xfrm>
          <a:prstGeom prst="chevron">
            <a:avLst/>
          </a:prstGeom>
          <a:solidFill>
            <a:schemeClr val="accent2"/>
          </a:solidFill>
          <a:ln/>
        </p:spPr>
      </p:sp>
      <p:sp>
        <p:nvSpPr>
          <p:cNvPr id="15" name="texte-156"/>
          <p:cNvSpPr txBox="1"/>
          <p:nvPr/>
        </p:nvSpPr>
        <p:spPr>
          <a:xfrm>
            <a:off x="7432060" y="1783080"/>
            <a:ext cx="1849465" cy="685800"/>
          </a:xfrm>
          <a:prstGeom prst="rect">
            <a:avLst/>
          </a:prstGeom>
          <a:noFill/>
          <a:ln/>
        </p:spPr>
        <p:txBody>
          <a:bodyPr wrap="square" lIns="0" tIns="0" rIns="0" bIns="0" rtlCol="0" anchor="ctr"/>
          <a:lstStyle/>
          <a:p>
            <a:pPr algn="ctr" indent="0" marL="0">
              <a:buNone/>
            </a:pPr>
            <a:r>
              <a:rPr lang="en-US" sz="1400" b="1" dirty="0">
                <a:solidFill>
                  <a:schemeClr val="tx2"/>
                </a:solidFill>
              </a:rPr>
              <a:t>Filtrage</a:t>
            </a:r>
            <a:endParaRPr lang="en-US" sz="1400" dirty="0"/>
          </a:p>
        </p:txBody>
      </p:sp>
      <p:sp>
        <p:nvSpPr>
          <p:cNvPr id="16" name="texte-157"/>
          <p:cNvSpPr txBox="1"/>
          <p:nvPr/>
        </p:nvSpPr>
        <p:spPr>
          <a:xfrm>
            <a:off x="7276612" y="2542032"/>
            <a:ext cx="2123785" cy="457200"/>
          </a:xfrm>
          <a:prstGeom prst="rect">
            <a:avLst/>
          </a:prstGeom>
          <a:noFill/>
          <a:ln/>
        </p:spPr>
        <p:txBody>
          <a:bodyPr wrap="square" lIns="0" tIns="0" rIns="0" bIns="0" rtlCol="0" anchor="t"/>
          <a:lstStyle/>
          <a:p>
            <a:pPr algn="ctr" indent="0" marL="0">
              <a:buNone/>
            </a:pPr>
            <a:r>
              <a:rPr lang="en-US" sz="1100" dirty="0">
                <a:solidFill>
                  <a:schemeClr val="accent5"/>
                </a:solidFill>
              </a:rPr>
              <a:t>sondes de santé</a:t>
            </a:r>
            <a:endParaRPr lang="en-US" sz="1100" dirty="0"/>
          </a:p>
        </p:txBody>
      </p:sp>
      <p:sp>
        <p:nvSpPr>
          <p:cNvPr id="17" name="etape-158"/>
          <p:cNvSpPr/>
          <p:nvPr/>
        </p:nvSpPr>
        <p:spPr>
          <a:xfrm>
            <a:off x="9336390" y="1783080"/>
            <a:ext cx="2306665" cy="685800"/>
          </a:xfrm>
          <a:prstGeom prst="chevron">
            <a:avLst/>
          </a:prstGeom>
          <a:solidFill>
            <a:schemeClr val="accent3"/>
          </a:solidFill>
          <a:ln/>
        </p:spPr>
      </p:sp>
      <p:sp>
        <p:nvSpPr>
          <p:cNvPr id="18" name="texte-159"/>
          <p:cNvSpPr txBox="1"/>
          <p:nvPr/>
        </p:nvSpPr>
        <p:spPr>
          <a:xfrm>
            <a:off x="9628998" y="1783080"/>
            <a:ext cx="1849465" cy="685800"/>
          </a:xfrm>
          <a:prstGeom prst="rect">
            <a:avLst/>
          </a:prstGeom>
          <a:noFill/>
          <a:ln/>
        </p:spPr>
        <p:txBody>
          <a:bodyPr wrap="square" lIns="0" tIns="0" rIns="0" bIns="0" rtlCol="0" anchor="ctr"/>
          <a:lstStyle/>
          <a:p>
            <a:pPr algn="ctr" indent="0" marL="0">
              <a:buNone/>
            </a:pPr>
            <a:r>
              <a:rPr lang="en-US" sz="1400" b="1" dirty="0">
                <a:solidFill>
                  <a:schemeClr val="bg1"/>
                </a:solidFill>
              </a:rPr>
              <a:t>Loki + métriques</a:t>
            </a:r>
            <a:endParaRPr lang="en-US" sz="1400" dirty="0"/>
          </a:p>
        </p:txBody>
      </p:sp>
      <p:sp>
        <p:nvSpPr>
          <p:cNvPr id="19" name="texte-160"/>
          <p:cNvSpPr txBox="1"/>
          <p:nvPr/>
        </p:nvSpPr>
        <p:spPr>
          <a:xfrm>
            <a:off x="9473550" y="2542032"/>
            <a:ext cx="2123785" cy="457200"/>
          </a:xfrm>
          <a:prstGeom prst="rect">
            <a:avLst/>
          </a:prstGeom>
          <a:noFill/>
          <a:ln/>
        </p:spPr>
        <p:txBody>
          <a:bodyPr wrap="square" lIns="0" tIns="0" rIns="0" bIns="0" rtlCol="0" anchor="t"/>
          <a:lstStyle/>
          <a:p>
            <a:pPr algn="ctr" indent="0" marL="0">
              <a:buNone/>
            </a:pPr>
            <a:r>
              <a:rPr lang="en-US" sz="1100" dirty="0">
                <a:solidFill>
                  <a:schemeClr val="accent5"/>
                </a:solidFill>
              </a:rPr>
              <a:t>2 labels, métrique d'erreurs</a:t>
            </a:r>
            <a:endParaRPr lang="en-US" sz="1100" dirty="0"/>
          </a:p>
        </p:txBody>
      </p:sp>
      <p:graphicFrame>
        <p:nvGraphicFramePr>
          <p:cNvPr id="14" name="grille-161"/>
          <p:cNvGraphicFramePr>
            <a:graphicFrameLocks noGrp="1"/>
          </p:cNvGraphicFramePr>
          <p:nvPr>
            <p:extLst>
              <p:ext uri="{D42A27DB-BD31-4B8C-83A1-F6EECF244321}">
                <p14:modId xmlns:p14="http://schemas.microsoft.com/office/powerpoint/2010/main" val="1579011935"/>
              </p:ext>
            </p:extLst>
          </p:nvPr>
        </p:nvGraphicFramePr>
        <p:xfrm>
          <a:off x="548640" y="3063240"/>
          <a:ext cx="11094415" cy="914400"/>
        </p:xfrm>
        <a:graphic>
          <a:graphicData uri="http://schemas.openxmlformats.org/drawingml/2006/table">
            <a:tbl>
              <a:tblPr/>
              <a:tblGrid>
                <a:gridCol w="3959352"/>
                <a:gridCol w="1783080"/>
                <a:gridCol w="1783080"/>
                <a:gridCol w="1783080"/>
                <a:gridCol w="1783080"/>
              </a:tblGrid>
              <a:tr h="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Critère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Vector</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Fluent Bit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Alloy</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OTel Collector</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0">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Langage de transformation</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r>
              <a:tr h="0">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Performance, empreinte</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r>
              <a:tr h="0">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Métriques dérivées des journaux</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r>
              <a:tr h="0">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Unification journaux, métriques, traces</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EAF6F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D6EFE9"/>
                    </a:solidFill>
                  </a:tcPr>
                </a:tc>
              </a:tr>
            </a:tbl>
          </a:graphicData>
        </a:graphic>
      </p:graphicFrame>
      <p:sp>
        <p:nvSpPr>
          <p:cNvPr id="21" name="carte-162"/>
          <p:cNvSpPr/>
          <p:nvPr/>
        </p:nvSpPr>
        <p:spPr>
          <a:xfrm>
            <a:off x="548640" y="5440680"/>
            <a:ext cx="11094415" cy="548640"/>
          </a:xfrm>
          <a:prstGeom prst="roundRect">
            <a:avLst>
              <a:gd name="adj" fmla="val 13333"/>
            </a:avLst>
          </a:prstGeom>
          <a:solidFill>
            <a:schemeClr val="tx2"/>
          </a:solidFill>
          <a:ln w="9525">
            <a:solidFill>
              <a:schemeClr val="tx2"/>
            </a:solidFill>
            <a:prstDash val="solid"/>
          </a:ln>
        </p:spPr>
      </p:sp>
      <p:sp>
        <p:nvSpPr>
          <p:cNvPr id="22" name="texte-163"/>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Vector vers Loki, masquage RGPD à la source. Révision : généralisation d'OpenTelemetry dans les équipes.</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DÉCISION D6 · ROUTAGE DES ALERTES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D6 · Qui reçoit quelle alerte ?</a:t>
            </a:r>
            <a:endParaRPr lang="en-US" sz="3200" dirty="0"/>
          </a:p>
        </p:txBody>
      </p:sp>
      <p:sp>
        <p:nvSpPr>
          <p:cNvPr id="5" name="carte-164"/>
          <p:cNvSpPr/>
          <p:nvPr/>
        </p:nvSpPr>
        <p:spPr>
          <a:xfrm>
            <a:off x="548640" y="1691640"/>
            <a:ext cx="3566160" cy="2606040"/>
          </a:xfrm>
          <a:prstGeom prst="roundRect">
            <a:avLst>
              <a:gd name="adj" fmla="val 2807"/>
            </a:avLst>
          </a:prstGeom>
          <a:solidFill>
            <a:schemeClr val="bg1"/>
          </a:solidFill>
          <a:ln w="9525">
            <a:solidFill>
              <a:schemeClr val="accent6"/>
            </a:solidFill>
            <a:prstDash val="solid"/>
          </a:ln>
        </p:spPr>
      </p:sp>
      <p:sp>
        <p:nvSpPr>
          <p:cNvPr id="6" name="pastille-165"/>
          <p:cNvSpPr/>
          <p:nvPr/>
        </p:nvSpPr>
        <p:spPr>
          <a:xfrm>
            <a:off x="822960" y="1920240"/>
            <a:ext cx="640080" cy="640080"/>
          </a:xfrm>
          <a:prstGeom prst="ellipse">
            <a:avLst/>
          </a:prstGeom>
          <a:solidFill>
            <a:schemeClr val="accent4"/>
          </a:solidFill>
          <a:ln/>
        </p:spPr>
      </p:sp>
      <p:pic>
        <p:nvPicPr>
          <p:cNvPr id="7" name="icone-166" descr="preencoded.png">    </p:cNvPr>
          <p:cNvPicPr>
            <a:picLocks noChangeAspect="1"/>
          </p:cNvPicPr>
          <p:nvPr/>
        </p:nvPicPr>
        <p:blipFill>
          <a:blip r:embed="rId1"/>
          <a:stretch>
            <a:fillRect/>
          </a:stretch>
        </p:blipFill>
        <p:spPr>
          <a:xfrm>
            <a:off x="963778" y="2061058"/>
            <a:ext cx="358445" cy="358445"/>
          </a:xfrm>
          <a:prstGeom prst="rect">
            <a:avLst/>
          </a:prstGeom>
        </p:spPr>
      </p:pic>
      <p:sp>
        <p:nvSpPr>
          <p:cNvPr id="8" name="texte-167"/>
          <p:cNvSpPr txBox="1"/>
          <p:nvPr/>
        </p:nvSpPr>
        <p:spPr>
          <a:xfrm>
            <a:off x="1645920" y="1920240"/>
            <a:ext cx="2286000" cy="640080"/>
          </a:xfrm>
          <a:prstGeom prst="rect">
            <a:avLst/>
          </a:prstGeom>
          <a:noFill/>
          <a:ln/>
        </p:spPr>
        <p:txBody>
          <a:bodyPr wrap="square" lIns="0" tIns="0" rIns="0" bIns="0" rtlCol="0" anchor="ctr"/>
          <a:lstStyle/>
          <a:p>
            <a:pPr indent="0" marL="0">
              <a:buNone/>
            </a:pPr>
            <a:r>
              <a:rPr lang="en-US" sz="1800" b="1" dirty="0">
                <a:solidFill>
                  <a:schemeClr val="tx2"/>
                </a:solidFill>
              </a:rPr>
              <a:t>Critique</a:t>
            </a:r>
            <a:endParaRPr lang="en-US" sz="1800" dirty="0"/>
          </a:p>
        </p:txBody>
      </p:sp>
      <p:sp>
        <p:nvSpPr>
          <p:cNvPr id="9" name="texte-168"/>
          <p:cNvSpPr txBox="1"/>
          <p:nvPr/>
        </p:nvSpPr>
        <p:spPr>
          <a:xfrm>
            <a:off x="822960" y="2697480"/>
            <a:ext cx="3017520" cy="365760"/>
          </a:xfrm>
          <a:prstGeom prst="rect">
            <a:avLst/>
          </a:prstGeom>
          <a:noFill/>
          <a:ln/>
        </p:spPr>
        <p:txBody>
          <a:bodyPr wrap="square" lIns="0" tIns="0" rIns="0" bIns="0" rtlCol="0" anchor="t"/>
          <a:lstStyle/>
          <a:p>
            <a:pPr indent="0" marL="0">
              <a:buNone/>
            </a:pPr>
            <a:r>
              <a:rPr lang="en-US" sz="1600" b="1" dirty="0">
                <a:solidFill>
                  <a:schemeClr val="accent4"/>
                </a:solidFill>
              </a:rPr>
              <a:t>Astreinte</a:t>
            </a:r>
            <a:endParaRPr lang="en-US" sz="1600" dirty="0"/>
          </a:p>
        </p:txBody>
      </p:sp>
      <p:sp>
        <p:nvSpPr>
          <p:cNvPr id="10" name="texte-169"/>
          <p:cNvSpPr txBox="1"/>
          <p:nvPr/>
        </p:nvSpPr>
        <p:spPr>
          <a:xfrm>
            <a:off x="822960" y="3063240"/>
            <a:ext cx="3017520" cy="411480"/>
          </a:xfrm>
          <a:prstGeom prst="rect">
            <a:avLst/>
          </a:prstGeom>
          <a:noFill/>
          <a:ln/>
        </p:spPr>
        <p:txBody>
          <a:bodyPr wrap="square" lIns="0" tIns="0" rIns="0" bIns="0" rtlCol="0" anchor="t"/>
          <a:lstStyle/>
          <a:p>
            <a:pPr indent="0" marL="0">
              <a:buNone/>
            </a:pPr>
            <a:r>
              <a:rPr lang="en-US" sz="1400" dirty="0">
                <a:solidFill>
                  <a:schemeClr val="tx1"/>
                </a:solidFill>
              </a:rPr>
              <a:t>Action immédiate, de jour comme de nuit</a:t>
            </a:r>
            <a:endParaRPr lang="en-US" sz="1400" dirty="0"/>
          </a:p>
        </p:txBody>
      </p:sp>
      <p:sp>
        <p:nvSpPr>
          <p:cNvPr id="11" name="texte-170"/>
          <p:cNvSpPr txBox="1"/>
          <p:nvPr/>
        </p:nvSpPr>
        <p:spPr>
          <a:xfrm>
            <a:off x="822960" y="3474720"/>
            <a:ext cx="3017520" cy="731520"/>
          </a:xfrm>
          <a:prstGeom prst="rect">
            <a:avLst/>
          </a:prstGeom>
          <a:noFill/>
          <a:ln/>
        </p:spPr>
        <p:txBody>
          <a:bodyPr wrap="square" lIns="0" tIns="0" rIns="0" bIns="0" rtlCol="0" anchor="t"/>
          <a:lstStyle/>
          <a:p>
            <a:pPr indent="0" marL="0">
              <a:buNone/>
            </a:pPr>
            <a:r>
              <a:rPr lang="en-US" sz="1200" dirty="0">
                <a:solidFill>
                  <a:schemeClr val="accent5"/>
                </a:solidFill>
              </a:rPr>
              <a:t>RadarApiDown · RadarApiErrorRate</a:t>
            </a:r>
            <a:endParaRPr lang="en-US" sz="1200" dirty="0"/>
          </a:p>
        </p:txBody>
      </p:sp>
      <p:sp>
        <p:nvSpPr>
          <p:cNvPr id="12" name="carte-171"/>
          <p:cNvSpPr/>
          <p:nvPr/>
        </p:nvSpPr>
        <p:spPr>
          <a:xfrm>
            <a:off x="4297680" y="1691640"/>
            <a:ext cx="3566160" cy="2606040"/>
          </a:xfrm>
          <a:prstGeom prst="roundRect">
            <a:avLst>
              <a:gd name="adj" fmla="val 2807"/>
            </a:avLst>
          </a:prstGeom>
          <a:solidFill>
            <a:schemeClr val="bg1"/>
          </a:solidFill>
          <a:ln w="9525">
            <a:solidFill>
              <a:schemeClr val="accent6"/>
            </a:solidFill>
            <a:prstDash val="solid"/>
          </a:ln>
        </p:spPr>
      </p:sp>
      <p:sp>
        <p:nvSpPr>
          <p:cNvPr id="13" name="pastille-172"/>
          <p:cNvSpPr/>
          <p:nvPr/>
        </p:nvSpPr>
        <p:spPr>
          <a:xfrm>
            <a:off x="4572000" y="1920240"/>
            <a:ext cx="640080" cy="640080"/>
          </a:xfrm>
          <a:prstGeom prst="ellipse">
            <a:avLst/>
          </a:prstGeom>
          <a:solidFill>
            <a:schemeClr val="accent1"/>
          </a:solidFill>
          <a:ln/>
        </p:spPr>
      </p:sp>
      <p:pic>
        <p:nvPicPr>
          <p:cNvPr id="14" name="icone-173" descr="preencoded.png">    </p:cNvPr>
          <p:cNvPicPr>
            <a:picLocks noChangeAspect="1"/>
          </p:cNvPicPr>
          <p:nvPr/>
        </p:nvPicPr>
        <p:blipFill>
          <a:blip r:embed="rId2"/>
          <a:stretch>
            <a:fillRect/>
          </a:stretch>
        </p:blipFill>
        <p:spPr>
          <a:xfrm>
            <a:off x="4712818" y="2061058"/>
            <a:ext cx="358445" cy="358445"/>
          </a:xfrm>
          <a:prstGeom prst="rect">
            <a:avLst/>
          </a:prstGeom>
        </p:spPr>
      </p:pic>
      <p:sp>
        <p:nvSpPr>
          <p:cNvPr id="15" name="texte-174"/>
          <p:cNvSpPr txBox="1"/>
          <p:nvPr/>
        </p:nvSpPr>
        <p:spPr>
          <a:xfrm>
            <a:off x="5394960" y="1920240"/>
            <a:ext cx="2286000" cy="640080"/>
          </a:xfrm>
          <a:prstGeom prst="rect">
            <a:avLst/>
          </a:prstGeom>
          <a:noFill/>
          <a:ln/>
        </p:spPr>
        <p:txBody>
          <a:bodyPr wrap="square" lIns="0" tIns="0" rIns="0" bIns="0" rtlCol="0" anchor="ctr"/>
          <a:lstStyle/>
          <a:p>
            <a:pPr indent="0" marL="0">
              <a:buNone/>
            </a:pPr>
            <a:r>
              <a:rPr lang="en-US" sz="1800" b="1" dirty="0">
                <a:solidFill>
                  <a:schemeClr val="tx2"/>
                </a:solidFill>
              </a:rPr>
              <a:t>Avertissement</a:t>
            </a:r>
            <a:endParaRPr lang="en-US" sz="1800" dirty="0"/>
          </a:p>
        </p:txBody>
      </p:sp>
      <p:sp>
        <p:nvSpPr>
          <p:cNvPr id="16" name="texte-175"/>
          <p:cNvSpPr txBox="1"/>
          <p:nvPr/>
        </p:nvSpPr>
        <p:spPr>
          <a:xfrm>
            <a:off x="4572000" y="2697480"/>
            <a:ext cx="3017520" cy="365760"/>
          </a:xfrm>
          <a:prstGeom prst="rect">
            <a:avLst/>
          </a:prstGeom>
          <a:noFill/>
          <a:ln/>
        </p:spPr>
        <p:txBody>
          <a:bodyPr wrap="square" lIns="0" tIns="0" rIns="0" bIns="0" rtlCol="0" anchor="t"/>
          <a:lstStyle/>
          <a:p>
            <a:pPr indent="0" marL="0">
              <a:buNone/>
            </a:pPr>
            <a:r>
              <a:rPr lang="en-US" sz="1600" b="1" dirty="0">
                <a:solidFill>
                  <a:schemeClr val="accent1"/>
                </a:solidFill>
              </a:rPr>
              <a:t>Canal d'exploitation</a:t>
            </a:r>
            <a:endParaRPr lang="en-US" sz="1600" dirty="0"/>
          </a:p>
        </p:txBody>
      </p:sp>
      <p:sp>
        <p:nvSpPr>
          <p:cNvPr id="17" name="texte-176"/>
          <p:cNvSpPr txBox="1"/>
          <p:nvPr/>
        </p:nvSpPr>
        <p:spPr>
          <a:xfrm>
            <a:off x="4572000" y="3063240"/>
            <a:ext cx="3017520" cy="411480"/>
          </a:xfrm>
          <a:prstGeom prst="rect">
            <a:avLst/>
          </a:prstGeom>
          <a:noFill/>
          <a:ln/>
        </p:spPr>
        <p:txBody>
          <a:bodyPr wrap="square" lIns="0" tIns="0" rIns="0" bIns="0" rtlCol="0" anchor="t"/>
          <a:lstStyle/>
          <a:p>
            <a:pPr indent="0" marL="0">
              <a:buNone/>
            </a:pPr>
            <a:r>
              <a:rPr lang="en-US" sz="1400" dirty="0">
                <a:solidFill>
                  <a:schemeClr val="tx1"/>
                </a:solidFill>
              </a:rPr>
              <a:t>Traité dans la journée</a:t>
            </a:r>
            <a:endParaRPr lang="en-US" sz="1400" dirty="0"/>
          </a:p>
        </p:txBody>
      </p:sp>
      <p:sp>
        <p:nvSpPr>
          <p:cNvPr id="18" name="texte-177"/>
          <p:cNvSpPr txBox="1"/>
          <p:nvPr/>
        </p:nvSpPr>
        <p:spPr>
          <a:xfrm>
            <a:off x="4572000" y="3474720"/>
            <a:ext cx="3017520" cy="731520"/>
          </a:xfrm>
          <a:prstGeom prst="rect">
            <a:avLst/>
          </a:prstGeom>
          <a:noFill/>
          <a:ln/>
        </p:spPr>
        <p:txBody>
          <a:bodyPr wrap="square" lIns="0" tIns="0" rIns="0" bIns="0" rtlCol="0" anchor="t"/>
          <a:lstStyle/>
          <a:p>
            <a:pPr indent="0" marL="0">
              <a:buNone/>
            </a:pPr>
            <a:r>
              <a:rPr lang="en-US" sz="1200" dirty="0">
                <a:solidFill>
                  <a:schemeClr val="accent5"/>
                </a:solidFill>
              </a:rPr>
              <a:t>RadarCollectorDown · RadarCollectorStale · RadarErrorLogsSpike</a:t>
            </a:r>
            <a:endParaRPr lang="en-US" sz="1200" dirty="0"/>
          </a:p>
        </p:txBody>
      </p:sp>
      <p:sp>
        <p:nvSpPr>
          <p:cNvPr id="19" name="carte-178"/>
          <p:cNvSpPr/>
          <p:nvPr/>
        </p:nvSpPr>
        <p:spPr>
          <a:xfrm>
            <a:off x="8046720" y="1691640"/>
            <a:ext cx="3566160" cy="2606040"/>
          </a:xfrm>
          <a:prstGeom prst="roundRect">
            <a:avLst>
              <a:gd name="adj" fmla="val 2807"/>
            </a:avLst>
          </a:prstGeom>
          <a:solidFill>
            <a:schemeClr val="bg1"/>
          </a:solidFill>
          <a:ln w="9525">
            <a:solidFill>
              <a:schemeClr val="accent6"/>
            </a:solidFill>
            <a:prstDash val="solid"/>
          </a:ln>
        </p:spPr>
      </p:sp>
      <p:sp>
        <p:nvSpPr>
          <p:cNvPr id="20" name="pastille-179"/>
          <p:cNvSpPr/>
          <p:nvPr/>
        </p:nvSpPr>
        <p:spPr>
          <a:xfrm>
            <a:off x="8321040" y="1920240"/>
            <a:ext cx="640080" cy="640080"/>
          </a:xfrm>
          <a:prstGeom prst="ellipse">
            <a:avLst/>
          </a:prstGeom>
          <a:solidFill>
            <a:schemeClr val="accent3"/>
          </a:solidFill>
          <a:ln/>
        </p:spPr>
      </p:sp>
      <p:pic>
        <p:nvPicPr>
          <p:cNvPr id="21" name="icone-180" descr="preencoded.png">    </p:cNvPr>
          <p:cNvPicPr>
            <a:picLocks noChangeAspect="1"/>
          </p:cNvPicPr>
          <p:nvPr/>
        </p:nvPicPr>
        <p:blipFill>
          <a:blip r:embed="rId3"/>
          <a:stretch>
            <a:fillRect/>
          </a:stretch>
        </p:blipFill>
        <p:spPr>
          <a:xfrm>
            <a:off x="8461858" y="2061058"/>
            <a:ext cx="358445" cy="358445"/>
          </a:xfrm>
          <a:prstGeom prst="rect">
            <a:avLst/>
          </a:prstGeom>
        </p:spPr>
      </p:pic>
      <p:sp>
        <p:nvSpPr>
          <p:cNvPr id="22" name="texte-181"/>
          <p:cNvSpPr txBox="1"/>
          <p:nvPr/>
        </p:nvSpPr>
        <p:spPr>
          <a:xfrm>
            <a:off x="9144000" y="1920240"/>
            <a:ext cx="2286000" cy="640080"/>
          </a:xfrm>
          <a:prstGeom prst="rect">
            <a:avLst/>
          </a:prstGeom>
          <a:noFill/>
          <a:ln/>
        </p:spPr>
        <p:txBody>
          <a:bodyPr wrap="square" lIns="0" tIns="0" rIns="0" bIns="0" rtlCol="0" anchor="ctr"/>
          <a:lstStyle/>
          <a:p>
            <a:pPr indent="0" marL="0">
              <a:buNone/>
            </a:pPr>
            <a:r>
              <a:rPr lang="en-US" sz="1800" b="1" dirty="0">
                <a:solidFill>
                  <a:schemeClr val="tx2"/>
                </a:solidFill>
              </a:rPr>
              <a:t>team=veille</a:t>
            </a:r>
            <a:endParaRPr lang="en-US" sz="1800" dirty="0"/>
          </a:p>
        </p:txBody>
      </p:sp>
      <p:sp>
        <p:nvSpPr>
          <p:cNvPr id="23" name="texte-182"/>
          <p:cNvSpPr txBox="1"/>
          <p:nvPr/>
        </p:nvSpPr>
        <p:spPr>
          <a:xfrm>
            <a:off x="8321040" y="2697480"/>
            <a:ext cx="3017520" cy="365760"/>
          </a:xfrm>
          <a:prstGeom prst="rect">
            <a:avLst/>
          </a:prstGeom>
          <a:noFill/>
          <a:ln/>
        </p:spPr>
        <p:txBody>
          <a:bodyPr wrap="square" lIns="0" tIns="0" rIns="0" bIns="0" rtlCol="0" anchor="t"/>
          <a:lstStyle/>
          <a:p>
            <a:pPr indent="0" marL="0">
              <a:buNone/>
            </a:pPr>
            <a:r>
              <a:rPr lang="en-US" sz="1600" b="1" dirty="0">
                <a:solidFill>
                  <a:schemeClr val="accent3"/>
                </a:solidFill>
              </a:rPr>
              <a:t>Équipe veille</a:t>
            </a:r>
            <a:endParaRPr lang="en-US" sz="1600" dirty="0"/>
          </a:p>
        </p:txBody>
      </p:sp>
      <p:sp>
        <p:nvSpPr>
          <p:cNvPr id="24" name="texte-183"/>
          <p:cNvSpPr txBox="1"/>
          <p:nvPr/>
        </p:nvSpPr>
        <p:spPr>
          <a:xfrm>
            <a:off x="8321040" y="3063240"/>
            <a:ext cx="3017520" cy="411480"/>
          </a:xfrm>
          <a:prstGeom prst="rect">
            <a:avLst/>
          </a:prstGeom>
          <a:noFill/>
          <a:ln/>
        </p:spPr>
        <p:txBody>
          <a:bodyPr wrap="square" lIns="0" tIns="0" rIns="0" bIns="0" rtlCol="0" anchor="t"/>
          <a:lstStyle/>
          <a:p>
            <a:pPr indent="0" marL="0">
              <a:buNone/>
            </a:pPr>
            <a:r>
              <a:rPr lang="en-US" sz="1400" dirty="0">
                <a:solidFill>
                  <a:schemeClr val="tx1"/>
                </a:solidFill>
              </a:rPr>
              <a:t>Revue hebdomadaire, jamais l'astreinte</a:t>
            </a:r>
            <a:endParaRPr lang="en-US" sz="1400" dirty="0"/>
          </a:p>
        </p:txBody>
      </p:sp>
      <p:sp>
        <p:nvSpPr>
          <p:cNvPr id="25" name="texte-184"/>
          <p:cNvSpPr txBox="1"/>
          <p:nvPr/>
        </p:nvSpPr>
        <p:spPr>
          <a:xfrm>
            <a:off x="8321040" y="3474720"/>
            <a:ext cx="3017520" cy="731520"/>
          </a:xfrm>
          <a:prstGeom prst="rect">
            <a:avLst/>
          </a:prstGeom>
          <a:noFill/>
          <a:ln/>
        </p:spPr>
        <p:txBody>
          <a:bodyPr wrap="square" lIns="0" tIns="0" rIns="0" bIns="0" rtlCol="0" anchor="t"/>
          <a:lstStyle/>
          <a:p>
            <a:pPr indent="0" marL="0">
              <a:buNone/>
            </a:pPr>
            <a:r>
              <a:rPr lang="en-US" sz="1200" dirty="0">
                <a:solidFill>
                  <a:schemeClr val="accent5"/>
                </a:solidFill>
              </a:rPr>
              <a:t>RadarDisruptionDetected</a:t>
            </a:r>
            <a:endParaRPr lang="en-US" sz="1200" dirty="0"/>
          </a:p>
        </p:txBody>
      </p:sp>
      <p:sp>
        <p:nvSpPr>
          <p:cNvPr id="26" name="code-185"/>
          <p:cNvSpPr/>
          <p:nvPr/>
        </p:nvSpPr>
        <p:spPr>
          <a:xfrm>
            <a:off x="548640" y="4480560"/>
            <a:ext cx="11094415" cy="502920"/>
          </a:xfrm>
          <a:prstGeom prst="roundRect">
            <a:avLst>
              <a:gd name="adj" fmla="val 10909"/>
            </a:avLst>
          </a:prstGeom>
          <a:solidFill>
            <a:schemeClr val="tx2"/>
          </a:solidFill>
          <a:ln/>
        </p:spPr>
      </p:sp>
      <p:sp>
        <p:nvSpPr>
          <p:cNvPr id="27" name="code-texte-186"/>
          <p:cNvSpPr txBox="1"/>
          <p:nvPr/>
        </p:nvSpPr>
        <p:spPr>
          <a:xfrm>
            <a:off x="777240" y="4663440"/>
            <a:ext cx="10637215" cy="137160"/>
          </a:xfrm>
          <a:prstGeom prst="rect">
            <a:avLst/>
          </a:prstGeom>
          <a:noFill/>
          <a:ln/>
        </p:spPr>
        <p:txBody>
          <a:bodyPr wrap="square" lIns="0" tIns="0" rIns="0" bIns="0" rtlCol="0" anchor="t"/>
          <a:lstStyle/>
          <a:p>
            <a:pPr indent="0" marL="0">
              <a:lnSpc>
                <a:spcPct val="105000"/>
              </a:lnSpc>
              <a:buNone/>
            </a:pPr>
            <a:r>
              <a:rPr lang="en-US" sz="1200" dirty="0">
                <a:solidFill>
                  <a:schemeClr val="bg1"/>
                </a:solidFill>
                <a:latin typeface="Courier New" pitchFamily="34" charset="0"/>
                <a:ea typeface="Courier New" pitchFamily="34" charset="-122"/>
                <a:cs typeface="Courier New" pitchFamily="34" charset="-120"/>
              </a:rPr>
              <a:t>amtool config routes test --config.file=observabilite/alertmanager.yml team=veille   </a:t>
            </a:r>
            <a:r>
              <a:rPr lang="en-US" sz="1200" dirty="0">
                <a:solidFill>
                  <a:schemeClr val="accent1"/>
                </a:solidFill>
                <a:latin typeface="Courier New" pitchFamily="34" charset="0"/>
                <a:ea typeface="Courier New" pitchFamily="34" charset="-122"/>
                <a:cs typeface="Courier New" pitchFamily="34" charset="-120"/>
              </a:rPr>
              <a:t> # résultat : veille</a:t>
            </a:r>
            <a:endParaRPr lang="en-US" sz="1200" dirty="0"/>
          </a:p>
        </p:txBody>
      </p:sp>
      <p:sp>
        <p:nvSpPr>
          <p:cNvPr id="28" name="carte-187"/>
          <p:cNvSpPr/>
          <p:nvPr/>
        </p:nvSpPr>
        <p:spPr>
          <a:xfrm>
            <a:off x="548640" y="5257800"/>
            <a:ext cx="11094415" cy="685800"/>
          </a:xfrm>
          <a:prstGeom prst="roundRect">
            <a:avLst>
              <a:gd name="adj" fmla="val 10667"/>
            </a:avLst>
          </a:prstGeom>
          <a:solidFill>
            <a:schemeClr val="tx2"/>
          </a:solidFill>
          <a:ln w="9525">
            <a:solidFill>
              <a:schemeClr val="tx2"/>
            </a:solidFill>
            <a:prstDash val="solid"/>
          </a:ln>
        </p:spPr>
      </p:sp>
      <p:sp>
        <p:nvSpPr>
          <p:cNvPr id="29" name="texte-188"/>
          <p:cNvSpPr txBox="1"/>
          <p:nvPr/>
        </p:nvSpPr>
        <p:spPr>
          <a:xfrm>
            <a:off x="822960" y="5257800"/>
            <a:ext cx="10545775" cy="68580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Trois destinataires. Une alerte qui réveille quelqu'un doit exiger une action immédiate.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CINQ PANNES · DÉMONSTRATION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Le service en fonctionnement</a:t>
            </a:r>
            <a:endParaRPr lang="en-US" sz="3200" dirty="0"/>
          </a:p>
        </p:txBody>
      </p:sp>
      <p:sp>
        <p:nvSpPr>
          <p:cNvPr id="5" name="code-189"/>
          <p:cNvSpPr/>
          <p:nvPr/>
        </p:nvSpPr>
        <p:spPr>
          <a:xfrm>
            <a:off x="548640" y="1645920"/>
            <a:ext cx="6766560" cy="3017520"/>
          </a:xfrm>
          <a:prstGeom prst="roundRect">
            <a:avLst>
              <a:gd name="adj" fmla="val 1818"/>
            </a:avLst>
          </a:prstGeom>
          <a:solidFill>
            <a:schemeClr val="tx2"/>
          </a:solidFill>
          <a:ln/>
        </p:spPr>
      </p:sp>
      <p:sp>
        <p:nvSpPr>
          <p:cNvPr id="6" name="code-texte-190"/>
          <p:cNvSpPr txBox="1"/>
          <p:nvPr/>
        </p:nvSpPr>
        <p:spPr>
          <a:xfrm>
            <a:off x="777240" y="1828800"/>
            <a:ext cx="6309360" cy="2651760"/>
          </a:xfrm>
          <a:prstGeom prst="rect">
            <a:avLst/>
          </a:prstGeom>
          <a:noFill/>
          <a:ln/>
        </p:spPr>
        <p:txBody>
          <a:bodyPr wrap="square" lIns="0" tIns="0" rIns="0" bIns="0" rtlCol="0" anchor="t"/>
          <a:lstStyle/>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cd demo</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up-complet              </a:t>
            </a:r>
            <a:r>
              <a:rPr lang="en-US" sz="1300" dirty="0">
                <a:solidFill>
                  <a:schemeClr val="accent1"/>
                </a:solidFill>
                <a:latin typeface="Courier New" pitchFamily="34" charset="0"/>
                <a:ea typeface="Courier New" pitchFamily="34" charset="-122"/>
                <a:cs typeface="Courier New" pitchFamily="34" charset="-120"/>
              </a:rPr>
              <a:t> # application + observabilité</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open http://localhost:8088   </a:t>
            </a:r>
            <a:r>
              <a:rPr lang="en-US" sz="1300" dirty="0">
                <a:solidFill>
                  <a:schemeClr val="accent1"/>
                </a:solidFill>
                <a:latin typeface="Courier New" pitchFamily="34" charset="0"/>
                <a:ea typeface="Courier New" pitchFamily="34" charset="-122"/>
                <a:cs typeface="Courier New" pitchFamily="34" charset="-120"/>
              </a:rPr>
              <a:t> # radar (front Angular)</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open http://localhost:3000   </a:t>
            </a:r>
            <a:r>
              <a:rPr lang="en-US" sz="1300" dirty="0">
                <a:solidFill>
                  <a:schemeClr val="accent1"/>
                </a:solidFill>
                <a:latin typeface="Courier New" pitchFamily="34" charset="0"/>
                <a:ea typeface="Courier New" pitchFamily="34" charset="-122"/>
                <a:cs typeface="Courier New" pitchFamily="34" charset="-120"/>
              </a:rPr>
              <a:t> # Grafana</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open http://localhost:9093   </a:t>
            </a:r>
            <a:r>
              <a:rPr lang="en-US" sz="1300" dirty="0">
                <a:solidFill>
                  <a:schemeClr val="accent1"/>
                </a:solidFill>
                <a:latin typeface="Courier New" pitchFamily="34" charset="0"/>
                <a:ea typeface="Courier New" pitchFamily="34" charset="-122"/>
                <a:cs typeface="Courier New" pitchFamily="34" charset="-120"/>
              </a:rPr>
              <a:t> # Alertmanager</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charge                  </a:t>
            </a:r>
            <a:r>
              <a:rPr lang="en-US" sz="1300" dirty="0">
                <a:solidFill>
                  <a:schemeClr val="accent1"/>
                </a:solidFill>
                <a:latin typeface="Courier New" pitchFamily="34" charset="0"/>
                <a:ea typeface="Courier New" pitchFamily="34" charset="-122"/>
                <a:cs typeface="Courier New" pitchFamily="34" charset="-120"/>
              </a:rPr>
              <a:t> # trafic sur l'API (2 min)</a:t>
            </a:r>
            <a:endParaRPr lang="en-US" sz="1300" dirty="0"/>
          </a:p>
        </p:txBody>
      </p:sp>
      <p:sp>
        <p:nvSpPr>
          <p:cNvPr id="7" name="carte-191"/>
          <p:cNvSpPr/>
          <p:nvPr/>
        </p:nvSpPr>
        <p:spPr>
          <a:xfrm>
            <a:off x="7571232" y="1645920"/>
            <a:ext cx="4069080" cy="1143000"/>
          </a:xfrm>
          <a:prstGeom prst="roundRect">
            <a:avLst>
              <a:gd name="adj" fmla="val 6400"/>
            </a:avLst>
          </a:prstGeom>
          <a:solidFill>
            <a:schemeClr val="bg1"/>
          </a:solidFill>
          <a:ln w="9525">
            <a:solidFill>
              <a:schemeClr val="accent6"/>
            </a:solidFill>
            <a:prstDash val="solid"/>
          </a:ln>
        </p:spPr>
      </p:sp>
      <p:sp>
        <p:nvSpPr>
          <p:cNvPr id="8" name="pastille-192"/>
          <p:cNvSpPr/>
          <p:nvPr/>
        </p:nvSpPr>
        <p:spPr>
          <a:xfrm>
            <a:off x="7799832" y="1874520"/>
            <a:ext cx="548640" cy="548640"/>
          </a:xfrm>
          <a:prstGeom prst="ellipse">
            <a:avLst/>
          </a:prstGeom>
          <a:solidFill>
            <a:schemeClr val="accent1"/>
          </a:solidFill>
          <a:ln/>
        </p:spPr>
      </p:sp>
      <p:pic>
        <p:nvPicPr>
          <p:cNvPr id="9" name="icone-193" descr="preencoded.png">    </p:cNvPr>
          <p:cNvPicPr>
            <a:picLocks noChangeAspect="1"/>
          </p:cNvPicPr>
          <p:nvPr/>
        </p:nvPicPr>
        <p:blipFill>
          <a:blip r:embed="rId1"/>
          <a:stretch>
            <a:fillRect/>
          </a:stretch>
        </p:blipFill>
        <p:spPr>
          <a:xfrm>
            <a:off x="7920533" y="1995221"/>
            <a:ext cx="307238" cy="307238"/>
          </a:xfrm>
          <a:prstGeom prst="rect">
            <a:avLst/>
          </a:prstGeom>
        </p:spPr>
      </p:pic>
      <p:sp>
        <p:nvSpPr>
          <p:cNvPr id="10" name="texte-194"/>
          <p:cNvSpPr txBox="1"/>
          <p:nvPr/>
        </p:nvSpPr>
        <p:spPr>
          <a:xfrm>
            <a:off x="8485632" y="1874520"/>
            <a:ext cx="2971800" cy="548640"/>
          </a:xfrm>
          <a:prstGeom prst="rect">
            <a:avLst/>
          </a:prstGeom>
          <a:noFill/>
          <a:ln/>
        </p:spPr>
        <p:txBody>
          <a:bodyPr wrap="square" lIns="0" tIns="0" rIns="0" bIns="0" rtlCol="0" anchor="ctr"/>
          <a:lstStyle/>
          <a:p>
            <a:pPr indent="0" marL="0">
              <a:buNone/>
            </a:pPr>
            <a:r>
              <a:rPr lang="en-US" sz="1700" b="1" dirty="0">
                <a:solidFill>
                  <a:schemeClr val="tx2"/>
                </a:solidFill>
              </a:rPr>
              <a:t>Radar</a:t>
            </a:r>
            <a:endParaRPr lang="en-US" sz="1700" dirty="0"/>
          </a:p>
        </p:txBody>
      </p:sp>
      <p:sp>
        <p:nvSpPr>
          <p:cNvPr id="11" name="texte-195"/>
          <p:cNvSpPr txBox="1"/>
          <p:nvPr/>
        </p:nvSpPr>
        <p:spPr>
          <a:xfrm>
            <a:off x="7799832" y="2560320"/>
            <a:ext cx="3611880" cy="91440"/>
          </a:xfrm>
          <a:prstGeom prst="rect">
            <a:avLst/>
          </a:prstGeom>
          <a:noFill/>
          <a:ln/>
        </p:spPr>
        <p:txBody>
          <a:bodyPr wrap="square" lIns="0" tIns="0" rIns="0" bIns="0" rtlCol="0" anchor="t"/>
          <a:lstStyle/>
          <a:p>
            <a:pPr indent="0" marL="0">
              <a:buNone/>
            </a:pPr>
            <a:r>
              <a:rPr lang="en-US" sz="1300" dirty="0">
                <a:solidFill>
                  <a:schemeClr val="tx1"/>
                </a:solidFill>
              </a:rPr>
              <a:t>sujets, verdicts, signaux</a:t>
            </a:r>
            <a:endParaRPr lang="en-US" sz="1300" dirty="0"/>
          </a:p>
        </p:txBody>
      </p:sp>
      <p:sp>
        <p:nvSpPr>
          <p:cNvPr id="12" name="carte-196"/>
          <p:cNvSpPr/>
          <p:nvPr/>
        </p:nvSpPr>
        <p:spPr>
          <a:xfrm>
            <a:off x="7571232" y="2907792"/>
            <a:ext cx="4069080" cy="1143000"/>
          </a:xfrm>
          <a:prstGeom prst="roundRect">
            <a:avLst>
              <a:gd name="adj" fmla="val 6400"/>
            </a:avLst>
          </a:prstGeom>
          <a:solidFill>
            <a:schemeClr val="bg1"/>
          </a:solidFill>
          <a:ln w="9525">
            <a:solidFill>
              <a:schemeClr val="accent6"/>
            </a:solidFill>
            <a:prstDash val="solid"/>
          </a:ln>
        </p:spPr>
      </p:sp>
      <p:sp>
        <p:nvSpPr>
          <p:cNvPr id="13" name="pastille-197"/>
          <p:cNvSpPr/>
          <p:nvPr/>
        </p:nvSpPr>
        <p:spPr>
          <a:xfrm>
            <a:off x="7799832" y="3136392"/>
            <a:ext cx="548640" cy="548640"/>
          </a:xfrm>
          <a:prstGeom prst="ellipse">
            <a:avLst/>
          </a:prstGeom>
          <a:solidFill>
            <a:schemeClr val="accent3"/>
          </a:solidFill>
          <a:ln/>
        </p:spPr>
      </p:sp>
      <p:pic>
        <p:nvPicPr>
          <p:cNvPr id="14" name="icone-198" descr="preencoded.png">    </p:cNvPr>
          <p:cNvPicPr>
            <a:picLocks noChangeAspect="1"/>
          </p:cNvPicPr>
          <p:nvPr/>
        </p:nvPicPr>
        <p:blipFill>
          <a:blip r:embed="rId2"/>
          <a:stretch>
            <a:fillRect/>
          </a:stretch>
        </p:blipFill>
        <p:spPr>
          <a:xfrm>
            <a:off x="7920533" y="3257093"/>
            <a:ext cx="307238" cy="307238"/>
          </a:xfrm>
          <a:prstGeom prst="rect">
            <a:avLst/>
          </a:prstGeom>
        </p:spPr>
      </p:pic>
      <p:sp>
        <p:nvSpPr>
          <p:cNvPr id="15" name="texte-199"/>
          <p:cNvSpPr txBox="1"/>
          <p:nvPr/>
        </p:nvSpPr>
        <p:spPr>
          <a:xfrm>
            <a:off x="8485632" y="3136392"/>
            <a:ext cx="2971800" cy="548640"/>
          </a:xfrm>
          <a:prstGeom prst="rect">
            <a:avLst/>
          </a:prstGeom>
          <a:noFill/>
          <a:ln/>
        </p:spPr>
        <p:txBody>
          <a:bodyPr wrap="square" lIns="0" tIns="0" rIns="0" bIns="0" rtlCol="0" anchor="ctr"/>
          <a:lstStyle/>
          <a:p>
            <a:pPr indent="0" marL="0">
              <a:buNone/>
            </a:pPr>
            <a:r>
              <a:rPr lang="en-US" sz="1700" b="1" dirty="0">
                <a:solidFill>
                  <a:schemeClr val="tx2"/>
                </a:solidFill>
              </a:rPr>
              <a:t>Grafana</a:t>
            </a:r>
            <a:endParaRPr lang="en-US" sz="1700" dirty="0"/>
          </a:p>
        </p:txBody>
      </p:sp>
      <p:sp>
        <p:nvSpPr>
          <p:cNvPr id="16" name="texte-200"/>
          <p:cNvSpPr txBox="1"/>
          <p:nvPr/>
        </p:nvSpPr>
        <p:spPr>
          <a:xfrm>
            <a:off x="7799832" y="3822192"/>
            <a:ext cx="3611880" cy="91440"/>
          </a:xfrm>
          <a:prstGeom prst="rect">
            <a:avLst/>
          </a:prstGeom>
          <a:noFill/>
          <a:ln/>
        </p:spPr>
        <p:txBody>
          <a:bodyPr wrap="square" lIns="0" tIns="0" rIns="0" bIns="0" rtlCol="0" anchor="t"/>
          <a:lstStyle/>
          <a:p>
            <a:pPr indent="0" marL="0">
              <a:buNone/>
            </a:pPr>
            <a:r>
              <a:rPr lang="en-US" sz="1300" dirty="0">
                <a:solidFill>
                  <a:schemeClr val="tx1"/>
                </a:solidFill>
              </a:rPr>
              <a:t>métriques, collecte, Loki</a:t>
            </a:r>
            <a:endParaRPr lang="en-US" sz="1300" dirty="0"/>
          </a:p>
        </p:txBody>
      </p:sp>
      <p:sp>
        <p:nvSpPr>
          <p:cNvPr id="17" name="carte-201"/>
          <p:cNvSpPr/>
          <p:nvPr/>
        </p:nvSpPr>
        <p:spPr>
          <a:xfrm>
            <a:off x="7571232" y="4169664"/>
            <a:ext cx="4069080" cy="1143000"/>
          </a:xfrm>
          <a:prstGeom prst="roundRect">
            <a:avLst>
              <a:gd name="adj" fmla="val 6400"/>
            </a:avLst>
          </a:prstGeom>
          <a:solidFill>
            <a:schemeClr val="bg1"/>
          </a:solidFill>
          <a:ln w="9525">
            <a:solidFill>
              <a:schemeClr val="accent6"/>
            </a:solidFill>
            <a:prstDash val="solid"/>
          </a:ln>
        </p:spPr>
      </p:sp>
      <p:sp>
        <p:nvSpPr>
          <p:cNvPr id="18" name="pastille-202"/>
          <p:cNvSpPr/>
          <p:nvPr/>
        </p:nvSpPr>
        <p:spPr>
          <a:xfrm>
            <a:off x="7799832" y="4398264"/>
            <a:ext cx="548640" cy="548640"/>
          </a:xfrm>
          <a:prstGeom prst="ellipse">
            <a:avLst/>
          </a:prstGeom>
          <a:solidFill>
            <a:schemeClr val="tx2"/>
          </a:solidFill>
          <a:ln/>
        </p:spPr>
      </p:sp>
      <p:pic>
        <p:nvPicPr>
          <p:cNvPr id="19" name="icone-203" descr="preencoded.png">    </p:cNvPr>
          <p:cNvPicPr>
            <a:picLocks noChangeAspect="1"/>
          </p:cNvPicPr>
          <p:nvPr/>
        </p:nvPicPr>
        <p:blipFill>
          <a:blip r:embed="rId3"/>
          <a:stretch>
            <a:fillRect/>
          </a:stretch>
        </p:blipFill>
        <p:spPr>
          <a:xfrm>
            <a:off x="7920533" y="4518965"/>
            <a:ext cx="307238" cy="307238"/>
          </a:xfrm>
          <a:prstGeom prst="rect">
            <a:avLst/>
          </a:prstGeom>
        </p:spPr>
      </p:pic>
      <p:sp>
        <p:nvSpPr>
          <p:cNvPr id="20" name="texte-204"/>
          <p:cNvSpPr txBox="1"/>
          <p:nvPr/>
        </p:nvSpPr>
        <p:spPr>
          <a:xfrm>
            <a:off x="8485632" y="4398264"/>
            <a:ext cx="2971800" cy="548640"/>
          </a:xfrm>
          <a:prstGeom prst="rect">
            <a:avLst/>
          </a:prstGeom>
          <a:noFill/>
          <a:ln/>
        </p:spPr>
        <p:txBody>
          <a:bodyPr wrap="square" lIns="0" tIns="0" rIns="0" bIns="0" rtlCol="0" anchor="ctr"/>
          <a:lstStyle/>
          <a:p>
            <a:pPr indent="0" marL="0">
              <a:buNone/>
            </a:pPr>
            <a:r>
              <a:rPr lang="en-US" sz="1700" b="1" dirty="0">
                <a:solidFill>
                  <a:schemeClr val="tx2"/>
                </a:solidFill>
              </a:rPr>
              <a:t>Alertmanager</a:t>
            </a:r>
            <a:endParaRPr lang="en-US" sz="1700" dirty="0"/>
          </a:p>
        </p:txBody>
      </p:sp>
      <p:sp>
        <p:nvSpPr>
          <p:cNvPr id="21" name="texte-205"/>
          <p:cNvSpPr txBox="1"/>
          <p:nvPr/>
        </p:nvSpPr>
        <p:spPr>
          <a:xfrm>
            <a:off x="7799832" y="5084064"/>
            <a:ext cx="3611880" cy="91440"/>
          </a:xfrm>
          <a:prstGeom prst="rect">
            <a:avLst/>
          </a:prstGeom>
          <a:noFill/>
          <a:ln/>
        </p:spPr>
        <p:txBody>
          <a:bodyPr wrap="square" lIns="0" tIns="0" rIns="0" bIns="0" rtlCol="0" anchor="t"/>
          <a:lstStyle/>
          <a:p>
            <a:pPr indent="0" marL="0">
              <a:buNone/>
            </a:pPr>
            <a:r>
              <a:rPr lang="en-US" sz="1300" dirty="0">
                <a:solidFill>
                  <a:schemeClr val="tx1"/>
                </a:solidFill>
              </a:rPr>
              <a:t>routes par destinataire</a:t>
            </a:r>
            <a:endParaRPr lang="en-US" sz="1300" dirty="0"/>
          </a:p>
        </p:txBody>
      </p:sp>
      <p:sp>
        <p:nvSpPr>
          <p:cNvPr id="22" name="carte-206"/>
          <p:cNvSpPr/>
          <p:nvPr/>
        </p:nvSpPr>
        <p:spPr>
          <a:xfrm>
            <a:off x="548640" y="5440680"/>
            <a:ext cx="11094415" cy="548640"/>
          </a:xfrm>
          <a:prstGeom prst="roundRect">
            <a:avLst>
              <a:gd name="adj" fmla="val 13333"/>
            </a:avLst>
          </a:prstGeom>
          <a:solidFill>
            <a:schemeClr val="tx2"/>
          </a:solidFill>
          <a:ln w="9525">
            <a:solidFill>
              <a:schemeClr val="tx2"/>
            </a:solidFill>
            <a:prstDash val="solid"/>
          </a:ln>
        </p:spPr>
      </p:sp>
      <p:sp>
        <p:nvSpPr>
          <p:cNvPr id="23" name="texte-207"/>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Tout ce qui est décidé se voit en direct : services, réseaux, alertes, journaux, sauvegarde.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PANNE 1 · ISOLATION DES PANNES (D1)</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Le collecteur tombe, le radar tient</a:t>
            </a:r>
            <a:endParaRPr lang="en-US" sz="3200" dirty="0"/>
          </a:p>
        </p:txBody>
      </p:sp>
      <p:sp>
        <p:nvSpPr>
          <p:cNvPr id="5" name="etape-208"/>
          <p:cNvSpPr/>
          <p:nvPr/>
        </p:nvSpPr>
        <p:spPr>
          <a:xfrm>
            <a:off x="548640" y="1828800"/>
            <a:ext cx="2306665" cy="731520"/>
          </a:xfrm>
          <a:prstGeom prst="pentagon">
            <a:avLst/>
          </a:prstGeom>
          <a:solidFill>
            <a:schemeClr val="accent4"/>
          </a:solidFill>
          <a:ln/>
        </p:spPr>
      </p:sp>
      <p:sp>
        <p:nvSpPr>
          <p:cNvPr id="6" name="texte-209"/>
          <p:cNvSpPr txBox="1"/>
          <p:nvPr/>
        </p:nvSpPr>
        <p:spPr>
          <a:xfrm>
            <a:off x="640080" y="1828800"/>
            <a:ext cx="1849465" cy="731520"/>
          </a:xfrm>
          <a:prstGeom prst="rect">
            <a:avLst/>
          </a:prstGeom>
          <a:noFill/>
          <a:ln/>
        </p:spPr>
        <p:txBody>
          <a:bodyPr wrap="square" lIns="0" tIns="0" rIns="0" bIns="0" rtlCol="0" anchor="ctr"/>
          <a:lstStyle/>
          <a:p>
            <a:pPr algn="ctr" indent="0" marL="0">
              <a:buNone/>
            </a:pPr>
            <a:r>
              <a:rPr lang="en-US" sz="1300" b="1" dirty="0">
                <a:solidFill>
                  <a:schemeClr val="bg1"/>
                </a:solidFill>
              </a:rPr>
              <a:t>Arrêt du collecteur</a:t>
            </a:r>
            <a:endParaRPr lang="en-US" sz="1300" dirty="0"/>
          </a:p>
        </p:txBody>
      </p:sp>
      <p:sp>
        <p:nvSpPr>
          <p:cNvPr id="7" name="etape-210"/>
          <p:cNvSpPr/>
          <p:nvPr/>
        </p:nvSpPr>
        <p:spPr>
          <a:xfrm>
            <a:off x="2745577" y="1828800"/>
            <a:ext cx="2306665" cy="731520"/>
          </a:xfrm>
          <a:prstGeom prst="chevron">
            <a:avLst/>
          </a:prstGeom>
          <a:solidFill>
            <a:schemeClr val="accent3"/>
          </a:solidFill>
          <a:ln/>
        </p:spPr>
      </p:sp>
      <p:sp>
        <p:nvSpPr>
          <p:cNvPr id="8" name="texte-211"/>
          <p:cNvSpPr txBox="1"/>
          <p:nvPr/>
        </p:nvSpPr>
        <p:spPr>
          <a:xfrm>
            <a:off x="3038185" y="1828800"/>
            <a:ext cx="1849465" cy="731520"/>
          </a:xfrm>
          <a:prstGeom prst="rect">
            <a:avLst/>
          </a:prstGeom>
          <a:noFill/>
          <a:ln/>
        </p:spPr>
        <p:txBody>
          <a:bodyPr wrap="square" lIns="0" tIns="0" rIns="0" bIns="0" rtlCol="0" anchor="ctr"/>
          <a:lstStyle/>
          <a:p>
            <a:pPr algn="ctr" indent="0" marL="0">
              <a:buNone/>
            </a:pPr>
            <a:r>
              <a:rPr lang="en-US" sz="1300" b="1" dirty="0">
                <a:solidFill>
                  <a:schemeClr val="bg1"/>
                </a:solidFill>
              </a:rPr>
              <a:t>Radar consultable</a:t>
            </a:r>
            <a:endParaRPr lang="en-US" sz="1300" dirty="0"/>
          </a:p>
        </p:txBody>
      </p:sp>
      <p:sp>
        <p:nvSpPr>
          <p:cNvPr id="9" name="etape-212"/>
          <p:cNvSpPr/>
          <p:nvPr/>
        </p:nvSpPr>
        <p:spPr>
          <a:xfrm>
            <a:off x="4942515" y="1828800"/>
            <a:ext cx="2306665" cy="731520"/>
          </a:xfrm>
          <a:prstGeom prst="chevron">
            <a:avLst/>
          </a:prstGeom>
          <a:solidFill>
            <a:schemeClr val="accent1"/>
          </a:solidFill>
          <a:ln/>
        </p:spPr>
      </p:sp>
      <p:sp>
        <p:nvSpPr>
          <p:cNvPr id="10" name="texte-213"/>
          <p:cNvSpPr txBox="1"/>
          <p:nvPr/>
        </p:nvSpPr>
        <p:spPr>
          <a:xfrm>
            <a:off x="5235123" y="1828800"/>
            <a:ext cx="1849465" cy="731520"/>
          </a:xfrm>
          <a:prstGeom prst="rect">
            <a:avLst/>
          </a:prstGeom>
          <a:noFill/>
          <a:ln/>
        </p:spPr>
        <p:txBody>
          <a:bodyPr wrap="square" lIns="0" tIns="0" rIns="0" bIns="0" rtlCol="0" anchor="ctr"/>
          <a:lstStyle/>
          <a:p>
            <a:pPr algn="ctr" indent="0" marL="0">
              <a:buNone/>
            </a:pPr>
            <a:r>
              <a:rPr lang="en-US" sz="1300" b="1" dirty="0">
                <a:solidFill>
                  <a:schemeClr val="tx2"/>
                </a:solidFill>
              </a:rPr>
              <a:t>Veille figée</a:t>
            </a:r>
            <a:endParaRPr lang="en-US" sz="1300" dirty="0"/>
          </a:p>
        </p:txBody>
      </p:sp>
      <p:sp>
        <p:nvSpPr>
          <p:cNvPr id="11" name="etape-214"/>
          <p:cNvSpPr/>
          <p:nvPr/>
        </p:nvSpPr>
        <p:spPr>
          <a:xfrm>
            <a:off x="7139452" y="1828800"/>
            <a:ext cx="2306665" cy="731520"/>
          </a:xfrm>
          <a:prstGeom prst="chevron">
            <a:avLst/>
          </a:prstGeom>
          <a:solidFill>
            <a:schemeClr val="accent2"/>
          </a:solidFill>
          <a:ln/>
        </p:spPr>
      </p:sp>
      <p:sp>
        <p:nvSpPr>
          <p:cNvPr id="12" name="texte-215"/>
          <p:cNvSpPr txBox="1"/>
          <p:nvPr/>
        </p:nvSpPr>
        <p:spPr>
          <a:xfrm>
            <a:off x="7432060" y="1828800"/>
            <a:ext cx="1849465" cy="731520"/>
          </a:xfrm>
          <a:prstGeom prst="rect">
            <a:avLst/>
          </a:prstGeom>
          <a:noFill/>
          <a:ln/>
        </p:spPr>
        <p:txBody>
          <a:bodyPr wrap="square" lIns="0" tIns="0" rIns="0" bIns="0" rtlCol="0" anchor="ctr"/>
          <a:lstStyle/>
          <a:p>
            <a:pPr algn="ctr" indent="0" marL="0">
              <a:buNone/>
            </a:pPr>
            <a:r>
              <a:rPr lang="en-US" sz="1300" b="1" dirty="0">
                <a:solidFill>
                  <a:schemeClr val="tx2"/>
                </a:solidFill>
              </a:rPr>
              <a:t>Alerte en ~1 min</a:t>
            </a:r>
            <a:endParaRPr lang="en-US" sz="1300" dirty="0"/>
          </a:p>
        </p:txBody>
      </p:sp>
      <p:sp>
        <p:nvSpPr>
          <p:cNvPr id="13" name="etape-216"/>
          <p:cNvSpPr/>
          <p:nvPr/>
        </p:nvSpPr>
        <p:spPr>
          <a:xfrm>
            <a:off x="9336390" y="1828800"/>
            <a:ext cx="2306665" cy="731520"/>
          </a:xfrm>
          <a:prstGeom prst="chevron">
            <a:avLst/>
          </a:prstGeom>
          <a:solidFill>
            <a:schemeClr val="tx2"/>
          </a:solidFill>
          <a:ln/>
        </p:spPr>
      </p:sp>
      <p:sp>
        <p:nvSpPr>
          <p:cNvPr id="14" name="texte-217"/>
          <p:cNvSpPr txBox="1"/>
          <p:nvPr/>
        </p:nvSpPr>
        <p:spPr>
          <a:xfrm>
            <a:off x="9628998" y="1828800"/>
            <a:ext cx="1849465" cy="731520"/>
          </a:xfrm>
          <a:prstGeom prst="rect">
            <a:avLst/>
          </a:prstGeom>
          <a:noFill/>
          <a:ln/>
        </p:spPr>
        <p:txBody>
          <a:bodyPr wrap="square" lIns="0" tIns="0" rIns="0" bIns="0" rtlCol="0" anchor="ctr"/>
          <a:lstStyle/>
          <a:p>
            <a:pPr algn="ctr" indent="0" marL="0">
              <a:buNone/>
            </a:pPr>
            <a:r>
              <a:rPr lang="en-US" sz="1300" b="1" dirty="0">
                <a:solidFill>
                  <a:schemeClr val="bg1"/>
                </a:solidFill>
              </a:rPr>
              <a:t>Canal ops</a:t>
            </a:r>
            <a:endParaRPr lang="en-US" sz="1300" dirty="0"/>
          </a:p>
        </p:txBody>
      </p:sp>
      <p:sp>
        <p:nvSpPr>
          <p:cNvPr id="15" name="carte-218"/>
          <p:cNvSpPr/>
          <p:nvPr/>
        </p:nvSpPr>
        <p:spPr>
          <a:xfrm>
            <a:off x="548640" y="2926080"/>
            <a:ext cx="3566160" cy="1554480"/>
          </a:xfrm>
          <a:prstGeom prst="roundRect">
            <a:avLst>
              <a:gd name="adj" fmla="val 4706"/>
            </a:avLst>
          </a:prstGeom>
          <a:solidFill>
            <a:schemeClr val="bg1"/>
          </a:solidFill>
          <a:ln w="9525">
            <a:solidFill>
              <a:schemeClr val="accent6"/>
            </a:solidFill>
            <a:prstDash val="solid"/>
          </a:ln>
        </p:spPr>
      </p:sp>
      <p:sp>
        <p:nvSpPr>
          <p:cNvPr id="16" name="texte-219"/>
          <p:cNvSpPr txBox="1"/>
          <p:nvPr/>
        </p:nvSpPr>
        <p:spPr>
          <a:xfrm>
            <a:off x="822960" y="3017520"/>
            <a:ext cx="301752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API ET FRONT</a:t>
            </a:r>
            <a:endParaRPr lang="en-US" sz="1100" dirty="0"/>
          </a:p>
        </p:txBody>
      </p:sp>
      <p:sp>
        <p:nvSpPr>
          <p:cNvPr id="17" name="texte-220"/>
          <p:cNvSpPr txBox="1"/>
          <p:nvPr/>
        </p:nvSpPr>
        <p:spPr>
          <a:xfrm>
            <a:off x="822960" y="3291840"/>
            <a:ext cx="3017520" cy="68580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en service</a:t>
            </a:r>
            <a:endParaRPr lang="en-US" sz="3000" dirty="0"/>
          </a:p>
        </p:txBody>
      </p:sp>
      <p:sp>
        <p:nvSpPr>
          <p:cNvPr id="18" name="texte-221"/>
          <p:cNvSpPr txBox="1"/>
          <p:nvPr/>
        </p:nvSpPr>
        <p:spPr>
          <a:xfrm>
            <a:off x="822960" y="3977640"/>
            <a:ext cx="3017520" cy="411480"/>
          </a:xfrm>
          <a:prstGeom prst="rect">
            <a:avLst/>
          </a:prstGeom>
          <a:noFill/>
          <a:ln/>
        </p:spPr>
        <p:txBody>
          <a:bodyPr wrap="square" lIns="0" tIns="0" rIns="0" bIns="0" rtlCol="0" anchor="t"/>
          <a:lstStyle/>
          <a:p>
            <a:pPr indent="0" marL="0">
              <a:buNone/>
            </a:pPr>
            <a:r>
              <a:rPr lang="en-US" sz="1300" dirty="0">
                <a:solidFill>
                  <a:schemeClr val="tx1"/>
                </a:solidFill>
              </a:rPr>
              <a:t>isolation des pannes (D1)</a:t>
            </a:r>
            <a:endParaRPr lang="en-US" sz="1300" dirty="0"/>
          </a:p>
        </p:txBody>
      </p:sp>
      <p:sp>
        <p:nvSpPr>
          <p:cNvPr id="19" name="carte-222"/>
          <p:cNvSpPr/>
          <p:nvPr/>
        </p:nvSpPr>
        <p:spPr>
          <a:xfrm>
            <a:off x="4297680" y="2926080"/>
            <a:ext cx="3566160" cy="1554480"/>
          </a:xfrm>
          <a:prstGeom prst="roundRect">
            <a:avLst>
              <a:gd name="adj" fmla="val 4706"/>
            </a:avLst>
          </a:prstGeom>
          <a:solidFill>
            <a:schemeClr val="bg1"/>
          </a:solidFill>
          <a:ln w="9525">
            <a:solidFill>
              <a:schemeClr val="accent6"/>
            </a:solidFill>
            <a:prstDash val="solid"/>
          </a:ln>
        </p:spPr>
      </p:sp>
      <p:sp>
        <p:nvSpPr>
          <p:cNvPr id="20" name="texte-223"/>
          <p:cNvSpPr txBox="1"/>
          <p:nvPr/>
        </p:nvSpPr>
        <p:spPr>
          <a:xfrm>
            <a:off x="4572000" y="3017520"/>
            <a:ext cx="301752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VEILLE</a:t>
            </a:r>
            <a:endParaRPr lang="en-US" sz="1100" dirty="0"/>
          </a:p>
        </p:txBody>
      </p:sp>
      <p:sp>
        <p:nvSpPr>
          <p:cNvPr id="21" name="texte-224"/>
          <p:cNvSpPr txBox="1"/>
          <p:nvPr/>
        </p:nvSpPr>
        <p:spPr>
          <a:xfrm>
            <a:off x="4572000" y="3291840"/>
            <a:ext cx="3017520" cy="68580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figée</a:t>
            </a:r>
            <a:endParaRPr lang="en-US" sz="3000" dirty="0"/>
          </a:p>
        </p:txBody>
      </p:sp>
      <p:sp>
        <p:nvSpPr>
          <p:cNvPr id="22" name="texte-225"/>
          <p:cNvSpPr txBox="1"/>
          <p:nvPr/>
        </p:nvSpPr>
        <p:spPr>
          <a:xfrm>
            <a:off x="4572000" y="3977640"/>
            <a:ext cx="3017520" cy="411480"/>
          </a:xfrm>
          <a:prstGeom prst="rect">
            <a:avLst/>
          </a:prstGeom>
          <a:noFill/>
          <a:ln/>
        </p:spPr>
        <p:txBody>
          <a:bodyPr wrap="square" lIns="0" tIns="0" rIns="0" bIns="0" rtlCol="0" anchor="t"/>
          <a:lstStyle/>
          <a:p>
            <a:pPr indent="0" marL="0">
              <a:buNone/>
            </a:pPr>
            <a:r>
              <a:rPr lang="en-US" sz="1300" dirty="0">
                <a:solidFill>
                  <a:schemeClr val="tx1"/>
                </a:solidFill>
              </a:rPr>
              <a:t>plus aucun nouveau signal</a:t>
            </a:r>
            <a:endParaRPr lang="en-US" sz="1300" dirty="0"/>
          </a:p>
        </p:txBody>
      </p:sp>
      <p:sp>
        <p:nvSpPr>
          <p:cNvPr id="23" name="carte-226"/>
          <p:cNvSpPr/>
          <p:nvPr/>
        </p:nvSpPr>
        <p:spPr>
          <a:xfrm>
            <a:off x="8046720" y="2926080"/>
            <a:ext cx="3566160" cy="1554480"/>
          </a:xfrm>
          <a:prstGeom prst="roundRect">
            <a:avLst>
              <a:gd name="adj" fmla="val 4706"/>
            </a:avLst>
          </a:prstGeom>
          <a:solidFill>
            <a:schemeClr val="bg1"/>
          </a:solidFill>
          <a:ln w="9525">
            <a:solidFill>
              <a:schemeClr val="accent6"/>
            </a:solidFill>
            <a:prstDash val="solid"/>
          </a:ln>
        </p:spPr>
      </p:sp>
      <p:sp>
        <p:nvSpPr>
          <p:cNvPr id="24" name="texte-227"/>
          <p:cNvSpPr txBox="1"/>
          <p:nvPr/>
        </p:nvSpPr>
        <p:spPr>
          <a:xfrm>
            <a:off x="8321040" y="3017520"/>
            <a:ext cx="301752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DESTINATAIRE</a:t>
            </a:r>
            <a:endParaRPr lang="en-US" sz="1100" dirty="0"/>
          </a:p>
        </p:txBody>
      </p:sp>
      <p:sp>
        <p:nvSpPr>
          <p:cNvPr id="25" name="texte-228"/>
          <p:cNvSpPr txBox="1"/>
          <p:nvPr/>
        </p:nvSpPr>
        <p:spPr>
          <a:xfrm>
            <a:off x="8321040" y="3291840"/>
            <a:ext cx="3017520" cy="68580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ops</a:t>
            </a:r>
            <a:endParaRPr lang="en-US" sz="3000" dirty="0"/>
          </a:p>
        </p:txBody>
      </p:sp>
      <p:sp>
        <p:nvSpPr>
          <p:cNvPr id="26" name="texte-229"/>
          <p:cNvSpPr txBox="1"/>
          <p:nvPr/>
        </p:nvSpPr>
        <p:spPr>
          <a:xfrm>
            <a:off x="8321040" y="3977640"/>
            <a:ext cx="3017520" cy="411480"/>
          </a:xfrm>
          <a:prstGeom prst="rect">
            <a:avLst/>
          </a:prstGeom>
          <a:noFill/>
          <a:ln/>
        </p:spPr>
        <p:txBody>
          <a:bodyPr wrap="square" lIns="0" tIns="0" rIns="0" bIns="0" rtlCol="0" anchor="t"/>
          <a:lstStyle/>
          <a:p>
            <a:pPr indent="0" marL="0">
              <a:buNone/>
            </a:pPr>
            <a:r>
              <a:rPr lang="en-US" sz="1300" dirty="0">
                <a:solidFill>
                  <a:schemeClr val="tx1"/>
                </a:solidFill>
              </a:rPr>
              <a:t>RadarCollectorDown · avertissement</a:t>
            </a:r>
            <a:endParaRPr lang="en-US" sz="1300" dirty="0"/>
          </a:p>
        </p:txBody>
      </p:sp>
      <p:sp>
        <p:nvSpPr>
          <p:cNvPr id="27" name="code-230"/>
          <p:cNvSpPr/>
          <p:nvPr/>
        </p:nvSpPr>
        <p:spPr>
          <a:xfrm>
            <a:off x="548640" y="4617720"/>
            <a:ext cx="11094415" cy="548640"/>
          </a:xfrm>
          <a:prstGeom prst="roundRect">
            <a:avLst>
              <a:gd name="adj" fmla="val 10000"/>
            </a:avLst>
          </a:prstGeom>
          <a:solidFill>
            <a:schemeClr val="tx2"/>
          </a:solidFill>
          <a:ln/>
        </p:spPr>
      </p:sp>
      <p:sp>
        <p:nvSpPr>
          <p:cNvPr id="28" name="code-texte-231"/>
          <p:cNvSpPr txBox="1"/>
          <p:nvPr/>
        </p:nvSpPr>
        <p:spPr>
          <a:xfrm>
            <a:off x="777240" y="4800600"/>
            <a:ext cx="10637215" cy="182880"/>
          </a:xfrm>
          <a:prstGeom prst="rect">
            <a:avLst/>
          </a:prstGeom>
          <a:noFill/>
          <a:ln/>
        </p:spPr>
        <p:txBody>
          <a:bodyPr wrap="square" lIns="0" tIns="0" rIns="0" bIns="0" rtlCol="0" anchor="t"/>
          <a:lstStyle/>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panne-collecteur     </a:t>
            </a:r>
            <a:r>
              <a:rPr lang="en-US" sz="1300" dirty="0">
                <a:solidFill>
                  <a:schemeClr val="accent1"/>
                </a:solidFill>
                <a:latin typeface="Courier New" pitchFamily="34" charset="0"/>
                <a:ea typeface="Courier New" pitchFamily="34" charset="-122"/>
                <a:cs typeface="Courier New" pitchFamily="34" charset="-120"/>
              </a:rPr>
              <a:t> # puis : make retour-collecteur</a:t>
            </a:r>
            <a:endParaRPr lang="en-US" sz="1300" dirty="0"/>
          </a:p>
        </p:txBody>
      </p:sp>
      <p:sp>
        <p:nvSpPr>
          <p:cNvPr id="29" name="carte-232"/>
          <p:cNvSpPr/>
          <p:nvPr/>
        </p:nvSpPr>
        <p:spPr>
          <a:xfrm>
            <a:off x="548640" y="5394960"/>
            <a:ext cx="11094415" cy="640080"/>
          </a:xfrm>
          <a:prstGeom prst="roundRect">
            <a:avLst>
              <a:gd name="adj" fmla="val 11429"/>
            </a:avLst>
          </a:prstGeom>
          <a:solidFill>
            <a:schemeClr val="tx2"/>
          </a:solidFill>
          <a:ln w="9525">
            <a:solidFill>
              <a:schemeClr val="tx2"/>
            </a:solidFill>
            <a:prstDash val="solid"/>
          </a:ln>
        </p:spPr>
      </p:sp>
      <p:sp>
        <p:nvSpPr>
          <p:cNvPr id="30" name="texte-233"/>
          <p:cNvSpPr txBox="1"/>
          <p:nvPr/>
        </p:nvSpPr>
        <p:spPr>
          <a:xfrm>
            <a:off x="822960" y="5394960"/>
            <a:ext cx="10545775" cy="64008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Une panne de collecte est un incident de veille : avertissement au canal d'exploitation, correction dans la journée, mention dans la note de veille.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PANNE 2 · ALERTE CRITIQUE (D2, D6)</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L'API tombe : l'astreinte est alertée</a:t>
            </a:r>
            <a:endParaRPr lang="en-US" sz="3200" dirty="0"/>
          </a:p>
        </p:txBody>
      </p:sp>
      <p:sp>
        <p:nvSpPr>
          <p:cNvPr id="5" name="code-234"/>
          <p:cNvSpPr/>
          <p:nvPr/>
        </p:nvSpPr>
        <p:spPr>
          <a:xfrm>
            <a:off x="548640" y="1645920"/>
            <a:ext cx="5669280" cy="1371600"/>
          </a:xfrm>
          <a:prstGeom prst="roundRect">
            <a:avLst>
              <a:gd name="adj" fmla="val 4000"/>
            </a:avLst>
          </a:prstGeom>
          <a:solidFill>
            <a:schemeClr val="tx2"/>
          </a:solidFill>
          <a:ln/>
        </p:spPr>
      </p:sp>
      <p:sp>
        <p:nvSpPr>
          <p:cNvPr id="6" name="code-texte-235"/>
          <p:cNvSpPr txBox="1"/>
          <p:nvPr/>
        </p:nvSpPr>
        <p:spPr>
          <a:xfrm>
            <a:off x="777240" y="1828800"/>
            <a:ext cx="5212080" cy="1005840"/>
          </a:xfrm>
          <a:prstGeom prst="rect">
            <a:avLst/>
          </a:prstGeom>
          <a:noFill/>
          <a:ln/>
        </p:spPr>
        <p:txBody>
          <a:bodyPr wrap="square" lIns="0" tIns="0" rIns="0" bIns="0" rtlCol="0" anchor="t"/>
          <a:lstStyle/>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panne-api    </a:t>
            </a:r>
            <a:r>
              <a:rPr lang="en-US" sz="1300" dirty="0">
                <a:solidFill>
                  <a:schemeClr val="accent1"/>
                </a:solidFill>
                <a:latin typeface="Courier New" pitchFamily="34" charset="0"/>
                <a:ea typeface="Courier New" pitchFamily="34" charset="-122"/>
                <a:cs typeface="Courier New" pitchFamily="34" charset="-120"/>
              </a:rPr>
              <a:t> # le front : « API indisponible »</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 </a:t>
            </a:r>
            <a:r>
              <a:rPr lang="en-US" sz="1300" dirty="0">
                <a:solidFill>
                  <a:schemeClr val="accent1"/>
                </a:solidFill>
                <a:latin typeface="Courier New" pitchFamily="34" charset="0"/>
                <a:ea typeface="Courier New" pitchFamily="34" charset="-122"/>
                <a:cs typeface="Courier New" pitchFamily="34" charset="-120"/>
              </a:rPr>
              <a:t># résultat : RadarApiDown (critique) : astreinte</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retour-api   </a:t>
            </a:r>
            <a:r>
              <a:rPr lang="en-US" sz="1300" dirty="0">
                <a:solidFill>
                  <a:schemeClr val="accent1"/>
                </a:solidFill>
                <a:latin typeface="Courier New" pitchFamily="34" charset="0"/>
                <a:ea typeface="Courier New" pitchFamily="34" charset="-122"/>
                <a:cs typeface="Courier New" pitchFamily="34" charset="-120"/>
              </a:rPr>
              <a:t> # rétablir d'abord</a:t>
            </a:r>
            <a:endParaRPr lang="en-US" sz="1300" dirty="0"/>
          </a:p>
        </p:txBody>
      </p:sp>
      <p:sp>
        <p:nvSpPr>
          <p:cNvPr id="7" name="code-236"/>
          <p:cNvSpPr/>
          <p:nvPr/>
        </p:nvSpPr>
        <p:spPr>
          <a:xfrm>
            <a:off x="548640" y="3200400"/>
            <a:ext cx="5669280" cy="1280160"/>
          </a:xfrm>
          <a:prstGeom prst="roundRect">
            <a:avLst>
              <a:gd name="adj" fmla="val 4286"/>
            </a:avLst>
          </a:prstGeom>
          <a:solidFill>
            <a:schemeClr val="tx2"/>
          </a:solidFill>
          <a:ln/>
        </p:spPr>
      </p:sp>
      <p:sp>
        <p:nvSpPr>
          <p:cNvPr id="8" name="code-texte-237"/>
          <p:cNvSpPr txBox="1"/>
          <p:nvPr/>
        </p:nvSpPr>
        <p:spPr>
          <a:xfrm>
            <a:off x="777240" y="3383280"/>
            <a:ext cx="5212080" cy="914400"/>
          </a:xfrm>
          <a:prstGeom prst="rect">
            <a:avLst/>
          </a:prstGeom>
          <a:noFill/>
          <a:ln/>
        </p:spPr>
        <p:txBody>
          <a:bodyPr wrap="square" lIns="0" tIns="0" rIns="0" bIns="0" rtlCol="0" anchor="t"/>
          <a:lstStyle/>
          <a:p>
            <a:pPr indent="0" marL="0">
              <a:lnSpc>
                <a:spcPct val="105000"/>
              </a:lnSpc>
              <a:buNone/>
            </a:pPr>
            <a:r>
              <a:rPr lang="en-US" sz="1200" dirty="0">
                <a:solidFill>
                  <a:schemeClr val="bg1"/>
                </a:solidFill>
                <a:latin typeface="Courier New" pitchFamily="34" charset="0"/>
                <a:ea typeface="Courier New" pitchFamily="34" charset="-122"/>
                <a:cs typeface="Courier New" pitchFamily="34" charset="-120"/>
              </a:rPr>
              <a:t>radar-api:</a:t>
            </a:r>
            <a:endParaRPr lang="en-US" sz="1200" dirty="0"/>
          </a:p>
          <a:p>
            <a:pPr indent="0" marL="0">
              <a:lnSpc>
                <a:spcPct val="105000"/>
              </a:lnSpc>
              <a:buNone/>
            </a:pPr>
            <a:r>
              <a:rPr lang="en-US" sz="1200" dirty="0">
                <a:solidFill>
                  <a:schemeClr val="bg1"/>
                </a:solidFill>
                <a:latin typeface="Courier New" pitchFamily="34" charset="0"/>
                <a:ea typeface="Courier New" pitchFamily="34" charset="-122"/>
                <a:cs typeface="Courier New" pitchFamily="34" charset="-120"/>
              </a:rPr>
              <a:t>  image: radar/radar-api:${RADAR_VERSION:-1.0.0}</a:t>
            </a:r>
            <a:endParaRPr lang="en-US" sz="1200" dirty="0"/>
          </a:p>
          <a:p>
            <a:pPr indent="0" marL="0">
              <a:lnSpc>
                <a:spcPct val="105000"/>
              </a:lnSpc>
              <a:buNone/>
            </a:pPr>
            <a:r>
              <a:rPr lang="en-US" sz="1200" dirty="0">
                <a:solidFill>
                  <a:schemeClr val="bg1"/>
                </a:solidFill>
                <a:latin typeface="Courier New" pitchFamily="34" charset="0"/>
                <a:ea typeface="Courier New" pitchFamily="34" charset="-122"/>
                <a:cs typeface="Courier New" pitchFamily="34" charset="-120"/>
              </a:rPr>
              <a:t>  restart: unless-stopped   </a:t>
            </a:r>
            <a:r>
              <a:rPr lang="en-US" sz="1200" dirty="0">
                <a:solidFill>
                  <a:schemeClr val="accent1"/>
                </a:solidFill>
                <a:latin typeface="Courier New" pitchFamily="34" charset="0"/>
                <a:ea typeface="Courier New" pitchFamily="34" charset="-122"/>
                <a:cs typeface="Courier New" pitchFamily="34" charset="-120"/>
              </a:rPr>
              <a:t> # après un plantage</a:t>
            </a:r>
            <a:endParaRPr lang="en-US" sz="1200" dirty="0"/>
          </a:p>
        </p:txBody>
      </p:sp>
      <p:sp>
        <p:nvSpPr>
          <p:cNvPr id="9" name="carte-238"/>
          <p:cNvSpPr/>
          <p:nvPr/>
        </p:nvSpPr>
        <p:spPr>
          <a:xfrm>
            <a:off x="6428232" y="1645920"/>
            <a:ext cx="5212080" cy="2834640"/>
          </a:xfrm>
          <a:prstGeom prst="roundRect">
            <a:avLst>
              <a:gd name="adj" fmla="val 2581"/>
            </a:avLst>
          </a:prstGeom>
          <a:solidFill>
            <a:schemeClr val="bg1"/>
          </a:solidFill>
          <a:ln w="9525">
            <a:solidFill>
              <a:schemeClr val="accent6"/>
            </a:solidFill>
            <a:prstDash val="solid"/>
          </a:ln>
        </p:spPr>
      </p:sp>
      <p:sp>
        <p:nvSpPr>
          <p:cNvPr id="10" name="pastille-239"/>
          <p:cNvSpPr/>
          <p:nvPr/>
        </p:nvSpPr>
        <p:spPr>
          <a:xfrm>
            <a:off x="6656832" y="1874520"/>
            <a:ext cx="548640" cy="548640"/>
          </a:xfrm>
          <a:prstGeom prst="ellipse">
            <a:avLst/>
          </a:prstGeom>
          <a:solidFill>
            <a:schemeClr val="accent4"/>
          </a:solidFill>
          <a:ln/>
        </p:spPr>
      </p:sp>
      <p:pic>
        <p:nvPicPr>
          <p:cNvPr id="11" name="icone-240" descr="preencoded.png">    </p:cNvPr>
          <p:cNvPicPr>
            <a:picLocks noChangeAspect="1"/>
          </p:cNvPicPr>
          <p:nvPr/>
        </p:nvPicPr>
        <p:blipFill>
          <a:blip r:embed="rId1"/>
          <a:stretch>
            <a:fillRect/>
          </a:stretch>
        </p:blipFill>
        <p:spPr>
          <a:xfrm>
            <a:off x="6777533" y="1995221"/>
            <a:ext cx="307238" cy="307238"/>
          </a:xfrm>
          <a:prstGeom prst="rect">
            <a:avLst/>
          </a:prstGeom>
        </p:spPr>
      </p:pic>
      <p:sp>
        <p:nvSpPr>
          <p:cNvPr id="12" name="texte-241"/>
          <p:cNvSpPr txBox="1"/>
          <p:nvPr/>
        </p:nvSpPr>
        <p:spPr>
          <a:xfrm>
            <a:off x="7342632" y="1874520"/>
            <a:ext cx="4114800" cy="548640"/>
          </a:xfrm>
          <a:prstGeom prst="rect">
            <a:avLst/>
          </a:prstGeom>
          <a:noFill/>
          <a:ln/>
        </p:spPr>
        <p:txBody>
          <a:bodyPr wrap="square" lIns="0" tIns="0" rIns="0" bIns="0" rtlCol="0" anchor="ctr"/>
          <a:lstStyle/>
          <a:p>
            <a:pPr indent="0" marL="0">
              <a:buNone/>
            </a:pPr>
            <a:r>
              <a:rPr lang="en-US" sz="1700" b="1" dirty="0">
                <a:solidFill>
                  <a:schemeClr val="tx2"/>
                </a:solidFill>
              </a:rPr>
              <a:t>Rétablir d'abord</a:t>
            </a:r>
            <a:endParaRPr lang="en-US" sz="1700" dirty="0"/>
          </a:p>
        </p:txBody>
      </p:sp>
      <p:sp>
        <p:nvSpPr>
          <p:cNvPr id="13" name="texte-242"/>
          <p:cNvSpPr txBox="1"/>
          <p:nvPr/>
        </p:nvSpPr>
        <p:spPr>
          <a:xfrm>
            <a:off x="6656832" y="2560320"/>
            <a:ext cx="4754880" cy="17830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Docker redémarre après un plantage</a:t>
            </a:r>
            <a:endParaRPr lang="en-US" sz="1500" dirty="0"/>
          </a:p>
          <a:p>
            <a:pPr marL="203200" indent="-203200">
              <a:spcAft>
                <a:spcPts val="800"/>
              </a:spcAft>
              <a:buSzPct val="100000"/>
              <a:buChar char="•"/>
            </a:pPr>
            <a:r>
              <a:rPr lang="en-US" sz="1500" dirty="0">
                <a:solidFill>
                  <a:schemeClr val="tx1"/>
                </a:solidFill>
              </a:rPr>
              <a:t>Le budget d'erreur est une ressource commune</a:t>
            </a:r>
            <a:endParaRPr lang="en-US" sz="1500" dirty="0"/>
          </a:p>
          <a:p>
            <a:pPr marL="203200" indent="-203200">
              <a:spcAft>
                <a:spcPts val="800"/>
              </a:spcAft>
              <a:buSzPct val="100000"/>
              <a:buChar char="•"/>
            </a:pPr>
            <a:r>
              <a:rPr lang="en-US" sz="1500" dirty="0">
                <a:solidFill>
                  <a:schemeClr val="tx1"/>
                </a:solidFill>
              </a:rPr>
              <a:t>Chaque minute sous incident le consomme</a:t>
            </a:r>
            <a:endParaRPr lang="en-US" sz="1500" dirty="0"/>
          </a:p>
          <a:p>
            <a:pPr marL="203200" indent="-203200">
              <a:spcAft>
                <a:spcPts val="800"/>
              </a:spcAft>
              <a:buSzPct val="100000"/>
              <a:buChar char="•"/>
            </a:pPr>
            <a:r>
              <a:rPr lang="en-US" sz="1500" dirty="0">
                <a:solidFill>
                  <a:schemeClr val="tx1"/>
                </a:solidFill>
              </a:rPr>
              <a:t>Diagnostic ensuite, à froid</a:t>
            </a:r>
            <a:endParaRPr lang="en-US" sz="1500" dirty="0"/>
          </a:p>
        </p:txBody>
      </p:sp>
      <p:sp>
        <p:nvSpPr>
          <p:cNvPr id="14" name="carte-243"/>
          <p:cNvSpPr/>
          <p:nvPr/>
        </p:nvSpPr>
        <p:spPr>
          <a:xfrm>
            <a:off x="548640" y="5120640"/>
            <a:ext cx="11094415" cy="685800"/>
          </a:xfrm>
          <a:prstGeom prst="roundRect">
            <a:avLst>
              <a:gd name="adj" fmla="val 10667"/>
            </a:avLst>
          </a:prstGeom>
          <a:solidFill>
            <a:schemeClr val="tx2"/>
          </a:solidFill>
          <a:ln w="9525">
            <a:solidFill>
              <a:schemeClr val="tx2"/>
            </a:solidFill>
            <a:prstDash val="solid"/>
          </a:ln>
        </p:spPr>
      </p:sp>
      <p:sp>
        <p:nvSpPr>
          <p:cNvPr id="15" name="texte-244"/>
          <p:cNvSpPr txBox="1"/>
          <p:nvPr/>
        </p:nvSpPr>
        <p:spPr>
          <a:xfrm>
            <a:off x="822960" y="5120640"/>
            <a:ext cx="10545775" cy="68580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Alerte critique : astreinte. Rétablir d'abord, diagnostiquer ensuite.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PANNE 3 · MISE EN PRODUCTION DÉFECTUEUSE (D2)</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Une version défectueuse : revenir en une commande</a:t>
            </a:r>
            <a:endParaRPr lang="en-US" sz="3200" dirty="0"/>
          </a:p>
        </p:txBody>
      </p:sp>
      <p:sp>
        <p:nvSpPr>
          <p:cNvPr id="5" name="etape-245"/>
          <p:cNvSpPr/>
          <p:nvPr/>
        </p:nvSpPr>
        <p:spPr>
          <a:xfrm>
            <a:off x="548640" y="1783080"/>
            <a:ext cx="2306665" cy="731520"/>
          </a:xfrm>
          <a:prstGeom prst="pentagon">
            <a:avLst/>
          </a:prstGeom>
          <a:solidFill>
            <a:schemeClr val="accent6"/>
          </a:solidFill>
          <a:ln/>
        </p:spPr>
      </p:sp>
      <p:sp>
        <p:nvSpPr>
          <p:cNvPr id="6" name="texte-246"/>
          <p:cNvSpPr txBox="1"/>
          <p:nvPr/>
        </p:nvSpPr>
        <p:spPr>
          <a:xfrm>
            <a:off x="640080" y="1783080"/>
            <a:ext cx="1849465" cy="731520"/>
          </a:xfrm>
          <a:prstGeom prst="rect">
            <a:avLst/>
          </a:prstGeom>
          <a:noFill/>
          <a:ln/>
        </p:spPr>
        <p:txBody>
          <a:bodyPr wrap="square" lIns="0" tIns="0" rIns="0" bIns="0" rtlCol="0" anchor="ctr"/>
          <a:lstStyle/>
          <a:p>
            <a:pPr algn="ctr" indent="0" marL="0">
              <a:buNone/>
            </a:pPr>
            <a:r>
              <a:rPr lang="en-US" sz="1300" b="1" dirty="0">
                <a:solidFill>
                  <a:schemeClr val="tx2"/>
                </a:solidFill>
              </a:rPr>
              <a:t>Mise en production 1.1.0</a:t>
            </a:r>
            <a:endParaRPr lang="en-US" sz="1300" dirty="0"/>
          </a:p>
        </p:txBody>
      </p:sp>
      <p:sp>
        <p:nvSpPr>
          <p:cNvPr id="7" name="etape-247"/>
          <p:cNvSpPr/>
          <p:nvPr/>
        </p:nvSpPr>
        <p:spPr>
          <a:xfrm>
            <a:off x="2745577" y="1783080"/>
            <a:ext cx="2306665" cy="731520"/>
          </a:xfrm>
          <a:prstGeom prst="chevron">
            <a:avLst/>
          </a:prstGeom>
          <a:solidFill>
            <a:schemeClr val="accent4"/>
          </a:solidFill>
          <a:ln/>
        </p:spPr>
      </p:sp>
      <p:sp>
        <p:nvSpPr>
          <p:cNvPr id="8" name="texte-248"/>
          <p:cNvSpPr txBox="1"/>
          <p:nvPr/>
        </p:nvSpPr>
        <p:spPr>
          <a:xfrm>
            <a:off x="3038185" y="1783080"/>
            <a:ext cx="1849465" cy="731520"/>
          </a:xfrm>
          <a:prstGeom prst="rect">
            <a:avLst/>
          </a:prstGeom>
          <a:noFill/>
          <a:ln/>
        </p:spPr>
        <p:txBody>
          <a:bodyPr wrap="square" lIns="0" tIns="0" rIns="0" bIns="0" rtlCol="0" anchor="ctr"/>
          <a:lstStyle/>
          <a:p>
            <a:pPr algn="ctr" indent="0" marL="0">
              <a:buNone/>
            </a:pPr>
            <a:r>
              <a:rPr lang="en-US" sz="1300" b="1" dirty="0">
                <a:solidFill>
                  <a:schemeClr val="bg1"/>
                </a:solidFill>
              </a:rPr>
              <a:t>Erreurs en hausse</a:t>
            </a:r>
            <a:endParaRPr lang="en-US" sz="1300" dirty="0"/>
          </a:p>
        </p:txBody>
      </p:sp>
      <p:sp>
        <p:nvSpPr>
          <p:cNvPr id="9" name="etape-249"/>
          <p:cNvSpPr/>
          <p:nvPr/>
        </p:nvSpPr>
        <p:spPr>
          <a:xfrm>
            <a:off x="4942515" y="1783080"/>
            <a:ext cx="2306665" cy="731520"/>
          </a:xfrm>
          <a:prstGeom prst="chevron">
            <a:avLst/>
          </a:prstGeom>
          <a:solidFill>
            <a:schemeClr val="accent4"/>
          </a:solidFill>
          <a:ln/>
        </p:spPr>
      </p:sp>
      <p:sp>
        <p:nvSpPr>
          <p:cNvPr id="10" name="texte-250"/>
          <p:cNvSpPr txBox="1"/>
          <p:nvPr/>
        </p:nvSpPr>
        <p:spPr>
          <a:xfrm>
            <a:off x="5235123" y="1783080"/>
            <a:ext cx="1849465" cy="731520"/>
          </a:xfrm>
          <a:prstGeom prst="rect">
            <a:avLst/>
          </a:prstGeom>
          <a:noFill/>
          <a:ln/>
        </p:spPr>
        <p:txBody>
          <a:bodyPr wrap="square" lIns="0" tIns="0" rIns="0" bIns="0" rtlCol="0" anchor="ctr"/>
          <a:lstStyle/>
          <a:p>
            <a:pPr algn="ctr" indent="0" marL="0">
              <a:buNone/>
            </a:pPr>
            <a:r>
              <a:rPr lang="en-US" sz="1300" b="1" dirty="0">
                <a:solidFill>
                  <a:schemeClr val="bg1"/>
                </a:solidFill>
              </a:rPr>
              <a:t>Alerte astreinte</a:t>
            </a:r>
            <a:endParaRPr lang="en-US" sz="1300" dirty="0"/>
          </a:p>
        </p:txBody>
      </p:sp>
      <p:sp>
        <p:nvSpPr>
          <p:cNvPr id="11" name="etape-251"/>
          <p:cNvSpPr/>
          <p:nvPr/>
        </p:nvSpPr>
        <p:spPr>
          <a:xfrm>
            <a:off x="7139452" y="1783080"/>
            <a:ext cx="2306665" cy="731520"/>
          </a:xfrm>
          <a:prstGeom prst="chevron">
            <a:avLst/>
          </a:prstGeom>
          <a:solidFill>
            <a:schemeClr val="accent3"/>
          </a:solidFill>
          <a:ln/>
        </p:spPr>
      </p:sp>
      <p:sp>
        <p:nvSpPr>
          <p:cNvPr id="12" name="texte-252"/>
          <p:cNvSpPr txBox="1"/>
          <p:nvPr/>
        </p:nvSpPr>
        <p:spPr>
          <a:xfrm>
            <a:off x="7432060" y="1783080"/>
            <a:ext cx="1849465" cy="731520"/>
          </a:xfrm>
          <a:prstGeom prst="rect">
            <a:avLst/>
          </a:prstGeom>
          <a:noFill/>
          <a:ln/>
        </p:spPr>
        <p:txBody>
          <a:bodyPr wrap="square" lIns="0" tIns="0" rIns="0" bIns="0" rtlCol="0" anchor="ctr"/>
          <a:lstStyle/>
          <a:p>
            <a:pPr algn="ctr" indent="0" marL="0">
              <a:buNone/>
            </a:pPr>
            <a:r>
              <a:rPr lang="en-US" sz="1300" b="1" dirty="0">
                <a:solidFill>
                  <a:schemeClr val="bg1"/>
                </a:solidFill>
              </a:rPr>
              <a:t>Retour à 1.0.0</a:t>
            </a:r>
            <a:endParaRPr lang="en-US" sz="1300" dirty="0"/>
          </a:p>
        </p:txBody>
      </p:sp>
      <p:sp>
        <p:nvSpPr>
          <p:cNvPr id="13" name="etape-253"/>
          <p:cNvSpPr/>
          <p:nvPr/>
        </p:nvSpPr>
        <p:spPr>
          <a:xfrm>
            <a:off x="9336390" y="1783080"/>
            <a:ext cx="2306665" cy="731520"/>
          </a:xfrm>
          <a:prstGeom prst="chevron">
            <a:avLst/>
          </a:prstGeom>
          <a:solidFill>
            <a:schemeClr val="tx2"/>
          </a:solidFill>
          <a:ln/>
        </p:spPr>
      </p:sp>
      <p:sp>
        <p:nvSpPr>
          <p:cNvPr id="14" name="texte-254"/>
          <p:cNvSpPr txBox="1"/>
          <p:nvPr/>
        </p:nvSpPr>
        <p:spPr>
          <a:xfrm>
            <a:off x="9628998" y="1783080"/>
            <a:ext cx="1849465" cy="731520"/>
          </a:xfrm>
          <a:prstGeom prst="rect">
            <a:avLst/>
          </a:prstGeom>
          <a:noFill/>
          <a:ln/>
        </p:spPr>
        <p:txBody>
          <a:bodyPr wrap="square" lIns="0" tIns="0" rIns="0" bIns="0" rtlCol="0" anchor="ctr"/>
          <a:lstStyle/>
          <a:p>
            <a:pPr algn="ctr" indent="0" marL="0">
              <a:buNone/>
            </a:pPr>
            <a:r>
              <a:rPr lang="en-US" sz="1300" b="1" dirty="0">
                <a:solidFill>
                  <a:schemeClr val="bg1"/>
                </a:solidFill>
              </a:rPr>
              <a:t>Analyse à froid</a:t>
            </a:r>
            <a:endParaRPr lang="en-US" sz="1300" dirty="0"/>
          </a:p>
        </p:txBody>
      </p:sp>
      <p:sp>
        <p:nvSpPr>
          <p:cNvPr id="15" name="code-255"/>
          <p:cNvSpPr/>
          <p:nvPr/>
        </p:nvSpPr>
        <p:spPr>
          <a:xfrm>
            <a:off x="548640" y="2697480"/>
            <a:ext cx="11094415" cy="731520"/>
          </a:xfrm>
          <a:prstGeom prst="roundRect">
            <a:avLst>
              <a:gd name="adj" fmla="val 7500"/>
            </a:avLst>
          </a:prstGeom>
          <a:solidFill>
            <a:schemeClr val="tx2"/>
          </a:solidFill>
          <a:ln/>
        </p:spPr>
      </p:sp>
      <p:sp>
        <p:nvSpPr>
          <p:cNvPr id="16" name="code-texte-256"/>
          <p:cNvSpPr txBox="1"/>
          <p:nvPr/>
        </p:nvSpPr>
        <p:spPr>
          <a:xfrm>
            <a:off x="777240" y="2880360"/>
            <a:ext cx="10637215" cy="365760"/>
          </a:xfrm>
          <a:prstGeom prst="rect">
            <a:avLst/>
          </a:prstGeom>
          <a:noFill/>
          <a:ln/>
        </p:spPr>
        <p:txBody>
          <a:bodyPr wrap="square" lIns="0" tIns="0" rIns="0" bIns="0" rtlCol="0" anchor="t"/>
          <a:lstStyle/>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RADAR_VERSION=1.1.0 docker compose up -d --build radar-api    </a:t>
            </a:r>
            <a:r>
              <a:rPr lang="en-US" sz="1300" dirty="0">
                <a:solidFill>
                  <a:schemeClr val="accent1"/>
                </a:solidFill>
                <a:latin typeface="Courier New" pitchFamily="34" charset="0"/>
                <a:ea typeface="Courier New" pitchFamily="34" charset="-122"/>
                <a:cs typeface="Courier New" pitchFamily="34" charset="-120"/>
              </a:rPr>
              <a:t> # mise en production</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RADAR_VERSION=1.0.0 docker compose up -d --no-build radar-api </a:t>
            </a:r>
            <a:r>
              <a:rPr lang="en-US" sz="1300" dirty="0">
                <a:solidFill>
                  <a:schemeClr val="accent1"/>
                </a:solidFill>
                <a:latin typeface="Courier New" pitchFamily="34" charset="0"/>
                <a:ea typeface="Courier New" pitchFamily="34" charset="-122"/>
                <a:cs typeface="Courier New" pitchFamily="34" charset="-120"/>
              </a:rPr>
              <a:t> # retour arrière</a:t>
            </a:r>
            <a:endParaRPr lang="en-US" sz="1300" dirty="0"/>
          </a:p>
        </p:txBody>
      </p:sp>
      <p:graphicFrame>
        <p:nvGraphicFramePr>
          <p:cNvPr id="19" name="tableau-257"/>
          <p:cNvGraphicFramePr>
            <a:graphicFrameLocks noGrp="1"/>
          </p:cNvGraphicFramePr>
          <p:nvPr>
            <p:extLst>
              <p:ext uri="{D42A27DB-BD31-4B8C-83A1-F6EECF244321}">
                <p14:modId xmlns:p14="http://schemas.microsoft.com/office/powerpoint/2010/main" val="1579011935"/>
              </p:ext>
            </p:extLst>
          </p:nvPr>
        </p:nvGraphicFramePr>
        <p:xfrm>
          <a:off x="548640" y="3566160"/>
          <a:ext cx="11094415" cy="914400"/>
        </p:xfrm>
        <a:graphic>
          <a:graphicData uri="http://schemas.openxmlformats.org/drawingml/2006/table">
            <a:tbl>
              <a:tblPr/>
              <a:tblGrid>
                <a:gridCol w="3474720"/>
                <a:gridCol w="5120640"/>
                <a:gridCol w="2496312"/>
              </a:tblGrid>
              <a:tr h="43891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Risque résiduel</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Coût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Remplacer l'image sans version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Retour arrière par reconstruction, lent et risqué</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Images versionnées (retenu)</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BD8"/>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Tous les utilisateurs exposés quelques minutes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BD8"/>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rgbClr val="FDEBD8"/>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Canari derrière le point d'entrée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Faible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Deux versions à faire tourner</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18" name="carte-258"/>
          <p:cNvSpPr/>
          <p:nvPr/>
        </p:nvSpPr>
        <p:spPr>
          <a:xfrm>
            <a:off x="548640" y="5577840"/>
            <a:ext cx="11094415" cy="548640"/>
          </a:xfrm>
          <a:prstGeom prst="roundRect">
            <a:avLst>
              <a:gd name="adj" fmla="val 13333"/>
            </a:avLst>
          </a:prstGeom>
          <a:solidFill>
            <a:schemeClr val="tx2"/>
          </a:solidFill>
          <a:ln w="9525">
            <a:solidFill>
              <a:schemeClr val="tx2"/>
            </a:solidFill>
            <a:prstDash val="solid"/>
          </a:ln>
        </p:spPr>
      </p:sp>
      <p:sp>
        <p:nvSpPr>
          <p:cNvPr id="19" name="texte-259"/>
          <p:cNvSpPr txBox="1"/>
          <p:nvPr/>
        </p:nvSpPr>
        <p:spPr>
          <a:xfrm>
            <a:off x="822960" y="5577840"/>
            <a:ext cx="10545775" cy="54864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Images versionnées, retour arrière en une commande. Révision : plus d'une mise en production par semaine.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PANNES 4 ET 5 · BONUS SÉCURITÉ</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La base s'arrête, un signal de rupture, un collecteur piraté</a:t>
            </a:r>
            <a:endParaRPr lang="en-US" sz="3200" dirty="0"/>
          </a:p>
        </p:txBody>
      </p:sp>
      <p:sp>
        <p:nvSpPr>
          <p:cNvPr id="5" name="carte-260"/>
          <p:cNvSpPr/>
          <p:nvPr/>
        </p:nvSpPr>
        <p:spPr>
          <a:xfrm>
            <a:off x="548640" y="1691640"/>
            <a:ext cx="3566160" cy="2926080"/>
          </a:xfrm>
          <a:prstGeom prst="roundRect">
            <a:avLst>
              <a:gd name="adj" fmla="val 2500"/>
            </a:avLst>
          </a:prstGeom>
          <a:solidFill>
            <a:schemeClr val="bg1"/>
          </a:solidFill>
          <a:ln w="9525">
            <a:solidFill>
              <a:schemeClr val="accent6"/>
            </a:solidFill>
            <a:prstDash val="solid"/>
          </a:ln>
        </p:spPr>
      </p:sp>
      <p:sp>
        <p:nvSpPr>
          <p:cNvPr id="6" name="pastille-261"/>
          <p:cNvSpPr/>
          <p:nvPr/>
        </p:nvSpPr>
        <p:spPr>
          <a:xfrm>
            <a:off x="777240" y="1920240"/>
            <a:ext cx="548640" cy="548640"/>
          </a:xfrm>
          <a:prstGeom prst="ellipse">
            <a:avLst/>
          </a:prstGeom>
          <a:solidFill>
            <a:schemeClr val="accent3"/>
          </a:solidFill>
          <a:ln/>
        </p:spPr>
      </p:sp>
      <p:pic>
        <p:nvPicPr>
          <p:cNvPr id="7" name="icone-262" descr="preencoded.png">    </p:cNvPr>
          <p:cNvPicPr>
            <a:picLocks noChangeAspect="1"/>
          </p:cNvPicPr>
          <p:nvPr/>
        </p:nvPicPr>
        <p:blipFill>
          <a:blip r:embed="rId1"/>
          <a:stretch>
            <a:fillRect/>
          </a:stretch>
        </p:blipFill>
        <p:spPr>
          <a:xfrm>
            <a:off x="897941" y="2040941"/>
            <a:ext cx="307238" cy="307238"/>
          </a:xfrm>
          <a:prstGeom prst="rect">
            <a:avLst/>
          </a:prstGeom>
        </p:spPr>
      </p:pic>
      <p:sp>
        <p:nvSpPr>
          <p:cNvPr id="8" name="texte-263"/>
          <p:cNvSpPr txBox="1"/>
          <p:nvPr/>
        </p:nvSpPr>
        <p:spPr>
          <a:xfrm>
            <a:off x="1463040" y="1920240"/>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Panne 4 · La base s'arrête</a:t>
            </a:r>
            <a:endParaRPr lang="en-US" sz="1700" dirty="0"/>
          </a:p>
        </p:txBody>
      </p:sp>
      <p:sp>
        <p:nvSpPr>
          <p:cNvPr id="9" name="texte-264"/>
          <p:cNvSpPr txBox="1"/>
          <p:nvPr/>
        </p:nvSpPr>
        <p:spPr>
          <a:xfrm>
            <a:off x="777240" y="2606040"/>
            <a:ext cx="3108960" cy="1874520"/>
          </a:xfrm>
          <a:prstGeom prst="rect">
            <a:avLst/>
          </a:prstGeom>
          <a:noFill/>
          <a:ln/>
        </p:spPr>
        <p:txBody>
          <a:bodyPr wrap="square" lIns="0" tIns="0" rIns="0" bIns="0" rtlCol="0" anchor="t"/>
          <a:lstStyle/>
          <a:p>
            <a:pPr indent="0" marL="0">
              <a:buNone/>
            </a:pPr>
            <a:r>
              <a:rPr lang="en-US" sz="1500" dirty="0">
                <a:solidFill>
                  <a:schemeClr val="tx1"/>
                </a:solidFill>
              </a:rPr>
              <a:t>L'API répond en erreur : RadarApiErrorRate, astreinte. Redémarrer la base ; si le disque est perdu, restaurer la dernière sauvegarde (moins de 30 min).</a:t>
            </a:r>
            <a:endParaRPr lang="en-US" sz="1500" dirty="0"/>
          </a:p>
        </p:txBody>
      </p:sp>
      <p:sp>
        <p:nvSpPr>
          <p:cNvPr id="10" name="carte-265"/>
          <p:cNvSpPr/>
          <p:nvPr/>
        </p:nvSpPr>
        <p:spPr>
          <a:xfrm>
            <a:off x="4297680" y="1691640"/>
            <a:ext cx="3566160" cy="2926080"/>
          </a:xfrm>
          <a:prstGeom prst="roundRect">
            <a:avLst>
              <a:gd name="adj" fmla="val 2500"/>
            </a:avLst>
          </a:prstGeom>
          <a:solidFill>
            <a:schemeClr val="bg1"/>
          </a:solidFill>
          <a:ln w="9525">
            <a:solidFill>
              <a:schemeClr val="accent6"/>
            </a:solidFill>
            <a:prstDash val="solid"/>
          </a:ln>
        </p:spPr>
      </p:sp>
      <p:sp>
        <p:nvSpPr>
          <p:cNvPr id="11" name="pastille-266"/>
          <p:cNvSpPr/>
          <p:nvPr/>
        </p:nvSpPr>
        <p:spPr>
          <a:xfrm>
            <a:off x="4526280" y="1920240"/>
            <a:ext cx="548640" cy="548640"/>
          </a:xfrm>
          <a:prstGeom prst="ellipse">
            <a:avLst/>
          </a:prstGeom>
          <a:solidFill>
            <a:schemeClr val="accent1"/>
          </a:solidFill>
          <a:ln/>
        </p:spPr>
      </p:sp>
      <p:pic>
        <p:nvPicPr>
          <p:cNvPr id="12" name="icone-267" descr="preencoded.png">    </p:cNvPr>
          <p:cNvPicPr>
            <a:picLocks noChangeAspect="1"/>
          </p:cNvPicPr>
          <p:nvPr/>
        </p:nvPicPr>
        <p:blipFill>
          <a:blip r:embed="rId2"/>
          <a:stretch>
            <a:fillRect/>
          </a:stretch>
        </p:blipFill>
        <p:spPr>
          <a:xfrm>
            <a:off x="4646981" y="2040941"/>
            <a:ext cx="307238" cy="307238"/>
          </a:xfrm>
          <a:prstGeom prst="rect">
            <a:avLst/>
          </a:prstGeom>
        </p:spPr>
      </p:pic>
      <p:sp>
        <p:nvSpPr>
          <p:cNvPr id="13" name="texte-268"/>
          <p:cNvSpPr txBox="1"/>
          <p:nvPr/>
        </p:nvSpPr>
        <p:spPr>
          <a:xfrm>
            <a:off x="5212080" y="1920240"/>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Panne 5 · Signal de rupture</a:t>
            </a:r>
            <a:endParaRPr lang="en-US" sz="1700" dirty="0"/>
          </a:p>
        </p:txBody>
      </p:sp>
      <p:sp>
        <p:nvSpPr>
          <p:cNvPr id="14" name="texte-269"/>
          <p:cNvSpPr txBox="1"/>
          <p:nvPr/>
        </p:nvSpPr>
        <p:spPr>
          <a:xfrm>
            <a:off x="4526280" y="2606040"/>
            <a:ext cx="3108960" cy="1874520"/>
          </a:xfrm>
          <a:prstGeom prst="rect">
            <a:avLst/>
          </a:prstGeom>
          <a:noFill/>
          <a:ln/>
        </p:spPr>
        <p:txBody>
          <a:bodyPr wrap="square" lIns="0" tIns="0" rIns="0" bIns="0" rtlCol="0" anchor="t"/>
          <a:lstStyle/>
          <a:p>
            <a:pPr indent="0" marL="0">
              <a:buNone/>
            </a:pPr>
            <a:r>
              <a:rPr lang="en-US" sz="1500" dirty="0">
                <a:solidFill>
                  <a:schemeClr val="tx1"/>
                </a:solidFill>
              </a:rPr>
              <a:t>Un sujet dépasse l'indice de rupture : RadarDisruptionDetected va à l'équipe veille, en revue hebdomadaire. Jamais à l'astreinte.</a:t>
            </a:r>
            <a:endParaRPr lang="en-US" sz="1500" dirty="0"/>
          </a:p>
        </p:txBody>
      </p:sp>
      <p:sp>
        <p:nvSpPr>
          <p:cNvPr id="15" name="carte-270"/>
          <p:cNvSpPr/>
          <p:nvPr/>
        </p:nvSpPr>
        <p:spPr>
          <a:xfrm>
            <a:off x="8046720" y="1691640"/>
            <a:ext cx="3566160" cy="2926080"/>
          </a:xfrm>
          <a:prstGeom prst="roundRect">
            <a:avLst>
              <a:gd name="adj" fmla="val 2500"/>
            </a:avLst>
          </a:prstGeom>
          <a:solidFill>
            <a:schemeClr val="bg1"/>
          </a:solidFill>
          <a:ln w="9525">
            <a:solidFill>
              <a:schemeClr val="accent6"/>
            </a:solidFill>
            <a:prstDash val="solid"/>
          </a:ln>
        </p:spPr>
      </p:sp>
      <p:sp>
        <p:nvSpPr>
          <p:cNvPr id="16" name="pastille-271"/>
          <p:cNvSpPr/>
          <p:nvPr/>
        </p:nvSpPr>
        <p:spPr>
          <a:xfrm>
            <a:off x="8275320" y="1920240"/>
            <a:ext cx="548640" cy="548640"/>
          </a:xfrm>
          <a:prstGeom prst="ellipse">
            <a:avLst/>
          </a:prstGeom>
          <a:solidFill>
            <a:schemeClr val="accent4"/>
          </a:solidFill>
          <a:ln/>
        </p:spPr>
      </p:sp>
      <p:pic>
        <p:nvPicPr>
          <p:cNvPr id="17" name="icone-272" descr="preencoded.png">    </p:cNvPr>
          <p:cNvPicPr>
            <a:picLocks noChangeAspect="1"/>
          </p:cNvPicPr>
          <p:nvPr/>
        </p:nvPicPr>
        <p:blipFill>
          <a:blip r:embed="rId3"/>
          <a:stretch>
            <a:fillRect/>
          </a:stretch>
        </p:blipFill>
        <p:spPr>
          <a:xfrm>
            <a:off x="8396021" y="2040941"/>
            <a:ext cx="307238" cy="307238"/>
          </a:xfrm>
          <a:prstGeom prst="rect">
            <a:avLst/>
          </a:prstGeom>
        </p:spPr>
      </p:pic>
      <p:sp>
        <p:nvSpPr>
          <p:cNvPr id="18" name="texte-273"/>
          <p:cNvSpPr txBox="1"/>
          <p:nvPr/>
        </p:nvSpPr>
        <p:spPr>
          <a:xfrm>
            <a:off x="8961120" y="1920240"/>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Bonus · Collecteur piraté</a:t>
            </a:r>
            <a:endParaRPr lang="en-US" sz="1700" dirty="0"/>
          </a:p>
        </p:txBody>
      </p:sp>
      <p:sp>
        <p:nvSpPr>
          <p:cNvPr id="19" name="texte-274"/>
          <p:cNvSpPr txBox="1"/>
          <p:nvPr/>
        </p:nvSpPr>
        <p:spPr>
          <a:xfrm>
            <a:off x="8275320" y="2606040"/>
            <a:ext cx="3108960" cy="1874520"/>
          </a:xfrm>
          <a:prstGeom prst="rect">
            <a:avLst/>
          </a:prstGeom>
          <a:noFill/>
          <a:ln/>
        </p:spPr>
        <p:txBody>
          <a:bodyPr wrap="square" lIns="0" tIns="0" rIns="0" bIns="0" rtlCol="0" anchor="t"/>
          <a:lstStyle/>
          <a:p>
            <a:pPr indent="0" marL="0">
              <a:buNone/>
            </a:pPr>
            <a:r>
              <a:rPr lang="en-US" sz="1500" dirty="0">
                <a:solidFill>
                  <a:schemeClr val="tx1"/>
                </a:solidFill>
              </a:rPr>
              <a:t>Il ne voit que l'API (réseau collecte), jamais la base. Risque résiduel : faux signaux, d'où la validation humaine.</a:t>
            </a:r>
            <a:endParaRPr lang="en-US" sz="1500" dirty="0"/>
          </a:p>
        </p:txBody>
      </p:sp>
      <p:sp>
        <p:nvSpPr>
          <p:cNvPr id="20" name="code-275"/>
          <p:cNvSpPr/>
          <p:nvPr/>
        </p:nvSpPr>
        <p:spPr>
          <a:xfrm>
            <a:off x="548640" y="4754880"/>
            <a:ext cx="11094415" cy="457200"/>
          </a:xfrm>
          <a:prstGeom prst="roundRect">
            <a:avLst>
              <a:gd name="adj" fmla="val 12000"/>
            </a:avLst>
          </a:prstGeom>
          <a:solidFill>
            <a:schemeClr val="tx2"/>
          </a:solidFill>
          <a:ln/>
        </p:spPr>
      </p:sp>
      <p:sp>
        <p:nvSpPr>
          <p:cNvPr id="21" name="code-texte-276"/>
          <p:cNvSpPr txBox="1"/>
          <p:nvPr/>
        </p:nvSpPr>
        <p:spPr>
          <a:xfrm>
            <a:off x="777240" y="4937760"/>
            <a:ext cx="10637215" cy="91440"/>
          </a:xfrm>
          <a:prstGeom prst="rect">
            <a:avLst/>
          </a:prstGeom>
          <a:noFill/>
          <a:ln/>
        </p:spPr>
        <p:txBody>
          <a:bodyPr wrap="square" lIns="0" tIns="0" rIns="0" bIns="0" rtlCol="0" anchor="t"/>
          <a:lstStyle/>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make panne-base    make charge    make retour-base    make restauration</a:t>
            </a:r>
            <a:endParaRPr lang="en-US" sz="1300" dirty="0"/>
          </a:p>
        </p:txBody>
      </p:sp>
      <p:sp>
        <p:nvSpPr>
          <p:cNvPr id="22" name="carte-277"/>
          <p:cNvSpPr/>
          <p:nvPr/>
        </p:nvSpPr>
        <p:spPr>
          <a:xfrm>
            <a:off x="548640" y="5349240"/>
            <a:ext cx="11094415" cy="640080"/>
          </a:xfrm>
          <a:prstGeom prst="roundRect">
            <a:avLst>
              <a:gd name="adj" fmla="val 11429"/>
            </a:avLst>
          </a:prstGeom>
          <a:solidFill>
            <a:schemeClr val="tx2"/>
          </a:solidFill>
          <a:ln w="9525">
            <a:solidFill>
              <a:schemeClr val="tx2"/>
            </a:solidFill>
            <a:prstDash val="solid"/>
          </a:ln>
        </p:spPr>
      </p:sp>
      <p:sp>
        <p:nvSpPr>
          <p:cNvPr id="23" name="texte-278"/>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600" b="1" dirty="0">
                <a:solidFill>
                  <a:schemeClr val="accent1"/>
                </a:solidFill>
              </a:rPr>
              <a:t>Décision  </a:t>
            </a:r>
            <a:r>
              <a:rPr lang="en-US" sz="1600" dirty="0">
                <a:solidFill>
                  <a:schemeClr val="bg1"/>
                </a:solidFill>
              </a:rPr>
              <a:t>Une sauvegarde jamais restaurée n'est pas une sauvegarde ; une alerte métier ne réveille jamais l'astreinte.</a:t>
            </a:r>
            <a:endParaRPr lang="en-US" sz="16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SYNTHÈSE · REGISTRE DES DÉCISIONS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Registre des décisions</a:t>
            </a:r>
            <a:endParaRPr lang="en-US" sz="3200" dirty="0"/>
          </a:p>
        </p:txBody>
      </p:sp>
      <p:graphicFrame>
        <p:nvGraphicFramePr>
          <p:cNvPr id="21" name="tableau-279"/>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914400"/>
                <a:gridCol w="3840480"/>
                <a:gridCol w="2926080"/>
                <a:gridCol w="3410712"/>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Décision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Écartée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Signal de révision</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 services + front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Monolithe ; microservices fins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Plus de 10 sources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Docker Compose, 1 serveur UE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Kubernetes managé ; PaaS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Charge &gt; 1 serveur, exigence 99,9 %</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Point d'entrée HTTPS, réseaux séparés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Service mesh</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Passage à plusieurs serveurs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PostgreSQL, sauvegarde chaque nuit</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Réplique ; base managée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24 h de perte devenues inacceptables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Prometheus, Grafana, Vector, Loki</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Offre SaaS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Adoption d'OpenTelemetry</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Trois destinataires d'alertes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Une seule boîte d'alertes</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Alertes ignorées (fatigue)</a:t>
                      </a:r>
                      <a:endParaRPr lang="en-US" sz="1400" dirty="0">
                        <a:latin typeface="Calibri" charset="0"/>
                        <a:ea typeface="Calibri" charset="0"/>
                        <a:cs typeface="Calibri" charset="0"/>
                      </a:endParaRPr>
                    </a:p>
                  </a:txBody>
                  <a:tcPr marL="88900" marR="88900" marT="50800" marB="50800" anchor="ctr">
                    <a:lnL w="9525" cap="flat" cmpd="sng" algn="ctr">
                      <a:solidFill>
                        <a:srgbClr val="DCE1EA"/>
                      </a:solidFill>
                      <a:prstDash val="solid"/>
                      <a:round/>
                      <a:headEnd type="none" w="med" len="med"/>
                      <a:tailEnd type="none" w="med" len="med"/>
                    </a:lnL>
                    <a:lnR w="9525" cap="flat" cmpd="sng" algn="ctr">
                      <a:solidFill>
                        <a:srgbClr val="DCE1EA"/>
                      </a:solidFill>
                      <a:prstDash val="solid"/>
                      <a:round/>
                      <a:headEnd type="none" w="med" len="med"/>
                      <a:tailEnd type="none" w="med" len="med"/>
                    </a:lnR>
                    <a:lnT w="9525" cap="flat" cmpd="sng" algn="ctr">
                      <a:solidFill>
                        <a:srgbClr val="DCE1EA"/>
                      </a:solidFill>
                      <a:prstDash val="solid"/>
                      <a:round/>
                      <a:headEnd type="none" w="med" len="med"/>
                      <a:tailEnd type="none" w="med" len="med"/>
                    </a:lnT>
                    <a:lnB w="9525" cap="flat" cmpd="sng" algn="ctr">
                      <a:solidFill>
                        <a:srgbClr val="DCE1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SYNTHÈSE · À RETENIR</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Ce qu'il faut retenir</a:t>
            </a:r>
            <a:endParaRPr lang="en-US" sz="3200" dirty="0"/>
          </a:p>
        </p:txBody>
      </p:sp>
      <p:sp>
        <p:nvSpPr>
          <p:cNvPr id="5" name="carte-280"/>
          <p:cNvSpPr/>
          <p:nvPr/>
        </p:nvSpPr>
        <p:spPr>
          <a:xfrm>
            <a:off x="548640" y="1645920"/>
            <a:ext cx="11094415" cy="749808"/>
          </a:xfrm>
          <a:prstGeom prst="roundRect">
            <a:avLst>
              <a:gd name="adj" fmla="val 9756"/>
            </a:avLst>
          </a:prstGeom>
          <a:solidFill>
            <a:schemeClr val="bg1"/>
          </a:solidFill>
          <a:ln w="9525">
            <a:solidFill>
              <a:schemeClr val="accent6"/>
            </a:solidFill>
            <a:prstDash val="solid"/>
          </a:ln>
        </p:spPr>
      </p:sp>
      <p:sp>
        <p:nvSpPr>
          <p:cNvPr id="6" name="numero-281"/>
          <p:cNvSpPr/>
          <p:nvPr/>
        </p:nvSpPr>
        <p:spPr>
          <a:xfrm>
            <a:off x="731520" y="1764792"/>
            <a:ext cx="512064" cy="512064"/>
          </a:xfrm>
          <a:prstGeom prst="ellipse">
            <a:avLst/>
          </a:prstGeom>
          <a:solidFill>
            <a:schemeClr val="accent2"/>
          </a:solidFill>
          <a:ln/>
        </p:spPr>
      </p:sp>
      <p:sp>
        <p:nvSpPr>
          <p:cNvPr id="7" name="texte-282"/>
          <p:cNvSpPr txBox="1"/>
          <p:nvPr/>
        </p:nvSpPr>
        <p:spPr>
          <a:xfrm>
            <a:off x="731520" y="1764792"/>
            <a:ext cx="512064" cy="51206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1</a:t>
            </a:r>
            <a:endParaRPr lang="en-US" sz="1600" dirty="0"/>
          </a:p>
        </p:txBody>
      </p:sp>
      <p:sp>
        <p:nvSpPr>
          <p:cNvPr id="8" name="texte-283"/>
          <p:cNvSpPr txBox="1"/>
          <p:nvPr/>
        </p:nvSpPr>
        <p:spPr>
          <a:xfrm>
            <a:off x="1463040" y="1645920"/>
            <a:ext cx="9997135" cy="749808"/>
          </a:xfrm>
          <a:prstGeom prst="rect">
            <a:avLst/>
          </a:prstGeom>
          <a:noFill/>
          <a:ln/>
        </p:spPr>
        <p:txBody>
          <a:bodyPr wrap="square" lIns="0" tIns="0" rIns="0" bIns="0" rtlCol="0" anchor="ctr"/>
          <a:lstStyle/>
          <a:p>
            <a:pPr indent="0" marL="0">
              <a:buNone/>
            </a:pPr>
            <a:r>
              <a:rPr lang="en-US" sz="1500" b="1" dirty="0">
                <a:solidFill>
                  <a:schemeClr val="tx2"/>
                </a:solidFill>
              </a:rPr>
              <a:t>Une veille en panne est pire qu'une absence de veille  </a:t>
            </a:r>
            <a:r>
              <a:rPr lang="en-US" sz="1500" dirty="0">
                <a:solidFill>
                  <a:schemeClr val="tx1"/>
                </a:solidFill>
              </a:rPr>
              <a:t>Elle donne une fausse assurance : la fraîcheur se surveille.</a:t>
            </a:r>
            <a:endParaRPr lang="en-US" sz="1500" dirty="0"/>
          </a:p>
        </p:txBody>
      </p:sp>
      <p:sp>
        <p:nvSpPr>
          <p:cNvPr id="9" name="carte-284"/>
          <p:cNvSpPr/>
          <p:nvPr/>
        </p:nvSpPr>
        <p:spPr>
          <a:xfrm>
            <a:off x="548640" y="2514600"/>
            <a:ext cx="11094415" cy="749808"/>
          </a:xfrm>
          <a:prstGeom prst="roundRect">
            <a:avLst>
              <a:gd name="adj" fmla="val 9756"/>
            </a:avLst>
          </a:prstGeom>
          <a:solidFill>
            <a:schemeClr val="bg1"/>
          </a:solidFill>
          <a:ln w="9525">
            <a:solidFill>
              <a:schemeClr val="accent6"/>
            </a:solidFill>
            <a:prstDash val="solid"/>
          </a:ln>
        </p:spPr>
      </p:sp>
      <p:sp>
        <p:nvSpPr>
          <p:cNvPr id="10" name="numero-285"/>
          <p:cNvSpPr/>
          <p:nvPr/>
        </p:nvSpPr>
        <p:spPr>
          <a:xfrm>
            <a:off x="731520" y="2633472"/>
            <a:ext cx="512064" cy="512064"/>
          </a:xfrm>
          <a:prstGeom prst="ellipse">
            <a:avLst/>
          </a:prstGeom>
          <a:solidFill>
            <a:schemeClr val="accent1"/>
          </a:solidFill>
          <a:ln/>
        </p:spPr>
      </p:sp>
      <p:sp>
        <p:nvSpPr>
          <p:cNvPr id="11" name="texte-286"/>
          <p:cNvSpPr txBox="1"/>
          <p:nvPr/>
        </p:nvSpPr>
        <p:spPr>
          <a:xfrm>
            <a:off x="731520" y="2633472"/>
            <a:ext cx="512064" cy="51206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2</a:t>
            </a:r>
            <a:endParaRPr lang="en-US" sz="1600" dirty="0"/>
          </a:p>
        </p:txBody>
      </p:sp>
      <p:sp>
        <p:nvSpPr>
          <p:cNvPr id="12" name="texte-287"/>
          <p:cNvSpPr txBox="1"/>
          <p:nvPr/>
        </p:nvSpPr>
        <p:spPr>
          <a:xfrm>
            <a:off x="1463040" y="2514600"/>
            <a:ext cx="9997135" cy="749808"/>
          </a:xfrm>
          <a:prstGeom prst="rect">
            <a:avLst/>
          </a:prstGeom>
          <a:noFill/>
          <a:ln/>
        </p:spPr>
        <p:txBody>
          <a:bodyPr wrap="square" lIns="0" tIns="0" rIns="0" bIns="0" rtlCol="0" anchor="ctr"/>
          <a:lstStyle/>
          <a:p>
            <a:pPr indent="0" marL="0">
              <a:buNone/>
            </a:pPr>
            <a:r>
              <a:rPr lang="en-US" sz="1500" b="1" dirty="0">
                <a:solidFill>
                  <a:schemeClr val="tx2"/>
                </a:solidFill>
              </a:rPr>
              <a:t>Une architecture se choisit dans un contexte  </a:t>
            </a:r>
            <a:r>
              <a:rPr lang="en-US" sz="1500" dirty="0">
                <a:solidFill>
                  <a:schemeClr val="tx1"/>
                </a:solidFill>
              </a:rPr>
              <a:t>Docker Compose suffit à Altéa aujourd'hui ; Kubernetes serait un coût sans bénéfice.</a:t>
            </a:r>
            <a:endParaRPr lang="en-US" sz="1500" dirty="0"/>
          </a:p>
        </p:txBody>
      </p:sp>
      <p:sp>
        <p:nvSpPr>
          <p:cNvPr id="13" name="carte-288"/>
          <p:cNvSpPr/>
          <p:nvPr/>
        </p:nvSpPr>
        <p:spPr>
          <a:xfrm>
            <a:off x="548640" y="3383280"/>
            <a:ext cx="11094415" cy="749808"/>
          </a:xfrm>
          <a:prstGeom prst="roundRect">
            <a:avLst>
              <a:gd name="adj" fmla="val 9756"/>
            </a:avLst>
          </a:prstGeom>
          <a:solidFill>
            <a:schemeClr val="bg1"/>
          </a:solidFill>
          <a:ln w="9525">
            <a:solidFill>
              <a:schemeClr val="accent6"/>
            </a:solidFill>
            <a:prstDash val="solid"/>
          </a:ln>
        </p:spPr>
      </p:sp>
      <p:sp>
        <p:nvSpPr>
          <p:cNvPr id="14" name="numero-289"/>
          <p:cNvSpPr/>
          <p:nvPr/>
        </p:nvSpPr>
        <p:spPr>
          <a:xfrm>
            <a:off x="731520" y="3502152"/>
            <a:ext cx="512064" cy="512064"/>
          </a:xfrm>
          <a:prstGeom prst="ellipse">
            <a:avLst/>
          </a:prstGeom>
          <a:solidFill>
            <a:schemeClr val="accent2"/>
          </a:solidFill>
          <a:ln/>
        </p:spPr>
      </p:sp>
      <p:sp>
        <p:nvSpPr>
          <p:cNvPr id="15" name="texte-290"/>
          <p:cNvSpPr txBox="1"/>
          <p:nvPr/>
        </p:nvSpPr>
        <p:spPr>
          <a:xfrm>
            <a:off x="731520" y="3502152"/>
            <a:ext cx="512064" cy="51206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3</a:t>
            </a:r>
            <a:endParaRPr lang="en-US" sz="1600" dirty="0"/>
          </a:p>
        </p:txBody>
      </p:sp>
      <p:sp>
        <p:nvSpPr>
          <p:cNvPr id="16" name="texte-291"/>
          <p:cNvSpPr txBox="1"/>
          <p:nvPr/>
        </p:nvSpPr>
        <p:spPr>
          <a:xfrm>
            <a:off x="1463040" y="3383280"/>
            <a:ext cx="9997135" cy="749808"/>
          </a:xfrm>
          <a:prstGeom prst="rect">
            <a:avLst/>
          </a:prstGeom>
          <a:noFill/>
          <a:ln/>
        </p:spPr>
        <p:txBody>
          <a:bodyPr wrap="square" lIns="0" tIns="0" rIns="0" bIns="0" rtlCol="0" anchor="ctr"/>
          <a:lstStyle/>
          <a:p>
            <a:pPr indent="0" marL="0">
              <a:buNone/>
            </a:pPr>
            <a:r>
              <a:rPr lang="en-US" sz="1500" b="1" dirty="0">
                <a:solidFill>
                  <a:schemeClr val="tx2"/>
                </a:solidFill>
              </a:rPr>
              <a:t>Une sauvegarde jamais restaurée n'est pas une sauvegarde  </a:t>
            </a:r>
            <a:r>
              <a:rPr lang="en-US" sz="1500" dirty="0">
                <a:solidFill>
                  <a:schemeClr val="tx1"/>
                </a:solidFill>
              </a:rPr>
              <a:t>La restauration se teste chaque mois.</a:t>
            </a:r>
            <a:endParaRPr lang="en-US" sz="1500" dirty="0"/>
          </a:p>
        </p:txBody>
      </p:sp>
      <p:sp>
        <p:nvSpPr>
          <p:cNvPr id="17" name="carte-292"/>
          <p:cNvSpPr/>
          <p:nvPr/>
        </p:nvSpPr>
        <p:spPr>
          <a:xfrm>
            <a:off x="548640" y="4251960"/>
            <a:ext cx="11094415" cy="749808"/>
          </a:xfrm>
          <a:prstGeom prst="roundRect">
            <a:avLst>
              <a:gd name="adj" fmla="val 9756"/>
            </a:avLst>
          </a:prstGeom>
          <a:solidFill>
            <a:schemeClr val="bg1"/>
          </a:solidFill>
          <a:ln w="9525">
            <a:solidFill>
              <a:schemeClr val="accent6"/>
            </a:solidFill>
            <a:prstDash val="solid"/>
          </a:ln>
        </p:spPr>
      </p:sp>
      <p:sp>
        <p:nvSpPr>
          <p:cNvPr id="18" name="numero-293"/>
          <p:cNvSpPr/>
          <p:nvPr/>
        </p:nvSpPr>
        <p:spPr>
          <a:xfrm>
            <a:off x="731520" y="4370832"/>
            <a:ext cx="512064" cy="512064"/>
          </a:xfrm>
          <a:prstGeom prst="ellipse">
            <a:avLst/>
          </a:prstGeom>
          <a:solidFill>
            <a:schemeClr val="accent2"/>
          </a:solidFill>
          <a:ln/>
        </p:spPr>
      </p:sp>
      <p:sp>
        <p:nvSpPr>
          <p:cNvPr id="19" name="texte-294"/>
          <p:cNvSpPr txBox="1"/>
          <p:nvPr/>
        </p:nvSpPr>
        <p:spPr>
          <a:xfrm>
            <a:off x="731520" y="4370832"/>
            <a:ext cx="512064" cy="51206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4</a:t>
            </a:r>
            <a:endParaRPr lang="en-US" sz="1600" dirty="0"/>
          </a:p>
        </p:txBody>
      </p:sp>
      <p:sp>
        <p:nvSpPr>
          <p:cNvPr id="20" name="texte-295"/>
          <p:cNvSpPr txBox="1"/>
          <p:nvPr/>
        </p:nvSpPr>
        <p:spPr>
          <a:xfrm>
            <a:off x="1463040" y="4251960"/>
            <a:ext cx="9997135" cy="749808"/>
          </a:xfrm>
          <a:prstGeom prst="rect">
            <a:avLst/>
          </a:prstGeom>
          <a:noFill/>
          <a:ln/>
        </p:spPr>
        <p:txBody>
          <a:bodyPr wrap="square" lIns="0" tIns="0" rIns="0" bIns="0" rtlCol="0" anchor="ctr"/>
          <a:lstStyle/>
          <a:p>
            <a:pPr indent="0" marL="0">
              <a:buNone/>
            </a:pPr>
            <a:r>
              <a:rPr lang="en-US" sz="1500" b="1" dirty="0">
                <a:solidFill>
                  <a:schemeClr val="tx2"/>
                </a:solidFill>
              </a:rPr>
              <a:t>Toutes les alertes ne se valent pas  </a:t>
            </a:r>
            <a:r>
              <a:rPr lang="en-US" sz="1500" dirty="0">
                <a:solidFill>
                  <a:schemeClr val="tx1"/>
                </a:solidFill>
              </a:rPr>
              <a:t>Astreinte, exploitation, équipe veille : chacune son canal.</a:t>
            </a:r>
            <a:endParaRPr lang="en-US" sz="1500" dirty="0"/>
          </a:p>
        </p:txBody>
      </p:sp>
      <p:sp>
        <p:nvSpPr>
          <p:cNvPr id="21" name="carte-296"/>
          <p:cNvSpPr/>
          <p:nvPr/>
        </p:nvSpPr>
        <p:spPr>
          <a:xfrm>
            <a:off x="548640" y="5120640"/>
            <a:ext cx="11094415" cy="749808"/>
          </a:xfrm>
          <a:prstGeom prst="roundRect">
            <a:avLst>
              <a:gd name="adj" fmla="val 9756"/>
            </a:avLst>
          </a:prstGeom>
          <a:solidFill>
            <a:schemeClr val="bg1"/>
          </a:solidFill>
          <a:ln w="9525">
            <a:solidFill>
              <a:schemeClr val="accent6"/>
            </a:solidFill>
            <a:prstDash val="solid"/>
          </a:ln>
        </p:spPr>
      </p:sp>
      <p:sp>
        <p:nvSpPr>
          <p:cNvPr id="22" name="numero-297"/>
          <p:cNvSpPr/>
          <p:nvPr/>
        </p:nvSpPr>
        <p:spPr>
          <a:xfrm>
            <a:off x="731520" y="5239512"/>
            <a:ext cx="512064" cy="512064"/>
          </a:xfrm>
          <a:prstGeom prst="ellipse">
            <a:avLst/>
          </a:prstGeom>
          <a:solidFill>
            <a:schemeClr val="accent2"/>
          </a:solidFill>
          <a:ln/>
        </p:spPr>
      </p:sp>
      <p:sp>
        <p:nvSpPr>
          <p:cNvPr id="23" name="texte-298"/>
          <p:cNvSpPr txBox="1"/>
          <p:nvPr/>
        </p:nvSpPr>
        <p:spPr>
          <a:xfrm>
            <a:off x="731520" y="5239512"/>
            <a:ext cx="512064" cy="51206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5</a:t>
            </a:r>
            <a:endParaRPr lang="en-US" sz="1600" dirty="0"/>
          </a:p>
        </p:txBody>
      </p:sp>
      <p:sp>
        <p:nvSpPr>
          <p:cNvPr id="24" name="texte-299"/>
          <p:cNvSpPr txBox="1"/>
          <p:nvPr/>
        </p:nvSpPr>
        <p:spPr>
          <a:xfrm>
            <a:off x="1463040" y="5120640"/>
            <a:ext cx="9997135" cy="749808"/>
          </a:xfrm>
          <a:prstGeom prst="rect">
            <a:avLst/>
          </a:prstGeom>
          <a:noFill/>
          <a:ln/>
        </p:spPr>
        <p:txBody>
          <a:bodyPr wrap="square" lIns="0" tIns="0" rIns="0" bIns="0" rtlCol="0" anchor="ctr"/>
          <a:lstStyle/>
          <a:p>
            <a:pPr indent="0" marL="0">
              <a:buNone/>
            </a:pPr>
            <a:r>
              <a:rPr lang="en-US" sz="1500" b="1" dirty="0">
                <a:solidFill>
                  <a:schemeClr val="tx2"/>
                </a:solidFill>
              </a:rPr>
              <a:t>Rétablir d'abord, comprendre ensuite  </a:t>
            </a:r>
            <a:r>
              <a:rPr lang="en-US" sz="1500" dirty="0">
                <a:solidFill>
                  <a:schemeClr val="tx1"/>
                </a:solidFill>
              </a:rPr>
              <a:t>Chaque minute de panne consomme le budget d'erreur.</a:t>
            </a:r>
            <a:endParaRPr lang="en-US" sz="15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5"/>
                </a:solidFill>
                <a:latin typeface="Calibri" pitchFamily="34" charset="0"/>
                <a:ea typeface="Calibri" pitchFamily="34" charset="-122"/>
                <a:cs typeface="Calibri" pitchFamily="34" charset="-120"/>
              </a:rPr>
              <a:t>SYNTHÈSE · RETOUR À LA VEILLE</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Le radar surveille sa propre architecture</a:t>
            </a:r>
            <a:endParaRPr lang="en-US" sz="3200" dirty="0"/>
          </a:p>
        </p:txBody>
      </p:sp>
      <p:sp>
        <p:nvSpPr>
          <p:cNvPr id="5" name="carte-300"/>
          <p:cNvSpPr/>
          <p:nvPr/>
        </p:nvSpPr>
        <p:spPr>
          <a:xfrm>
            <a:off x="548640" y="1691640"/>
            <a:ext cx="11094415" cy="1097280"/>
          </a:xfrm>
          <a:prstGeom prst="roundRect">
            <a:avLst>
              <a:gd name="adj" fmla="val 6667"/>
            </a:avLst>
          </a:prstGeom>
          <a:solidFill>
            <a:schemeClr val="tx2"/>
          </a:solidFill>
          <a:ln w="9525">
            <a:solidFill>
              <a:schemeClr val="tx2"/>
            </a:solidFill>
            <a:prstDash val="solid"/>
          </a:ln>
        </p:spPr>
      </p:sp>
      <p:sp>
        <p:nvSpPr>
          <p:cNvPr id="6" name="texte-301"/>
          <p:cNvSpPr txBox="1"/>
          <p:nvPr/>
        </p:nvSpPr>
        <p:spPr>
          <a:xfrm>
            <a:off x="868680" y="1691640"/>
            <a:ext cx="10454335" cy="10972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KIT-5 · Plateforme et exploitation</a:t>
            </a:r>
            <a:endParaRPr lang="en-US" sz="1600" dirty="0"/>
          </a:p>
          <a:p>
            <a:pPr indent="0" marL="0">
              <a:buNone/>
            </a:pPr>
            <a:r>
              <a:rPr lang="en-US" sz="1600" dirty="0">
                <a:solidFill>
                  <a:schemeClr val="bg1"/>
                </a:solidFill>
                <a:latin typeface="Calibri" pitchFamily="34" charset="0"/>
                <a:ea typeface="Calibri" pitchFamily="34" charset="-122"/>
                <a:cs typeface="Calibri" pitchFamily="34" charset="-120"/>
              </a:rPr>
              <a:t>Les signaux de révision du registre deviennent des questions de veille.</a:t>
            </a:r>
            <a:endParaRPr lang="en-US" sz="1600" dirty="0"/>
          </a:p>
        </p:txBody>
      </p:sp>
      <p:sp>
        <p:nvSpPr>
          <p:cNvPr id="7" name="carte-302"/>
          <p:cNvSpPr/>
          <p:nvPr/>
        </p:nvSpPr>
        <p:spPr>
          <a:xfrm>
            <a:off x="548640" y="3017520"/>
            <a:ext cx="11094415" cy="841248"/>
          </a:xfrm>
          <a:prstGeom prst="roundRect">
            <a:avLst>
              <a:gd name="adj" fmla="val 8696"/>
            </a:avLst>
          </a:prstGeom>
          <a:solidFill>
            <a:schemeClr val="bg1"/>
          </a:solidFill>
          <a:ln w="9525">
            <a:solidFill>
              <a:schemeClr val="accent6"/>
            </a:solidFill>
            <a:prstDash val="solid"/>
          </a:ln>
        </p:spPr>
      </p:sp>
      <p:sp>
        <p:nvSpPr>
          <p:cNvPr id="8" name="pastille-303"/>
          <p:cNvSpPr/>
          <p:nvPr/>
        </p:nvSpPr>
        <p:spPr>
          <a:xfrm>
            <a:off x="777240" y="3218688"/>
            <a:ext cx="1280160" cy="438912"/>
          </a:xfrm>
          <a:prstGeom prst="roundRect">
            <a:avLst>
              <a:gd name="adj" fmla="val 50000"/>
            </a:avLst>
          </a:prstGeom>
          <a:solidFill>
            <a:schemeClr val="accent2"/>
          </a:solidFill>
          <a:ln/>
        </p:spPr>
      </p:sp>
      <p:sp>
        <p:nvSpPr>
          <p:cNvPr id="9" name="texte-304"/>
          <p:cNvSpPr txBox="1"/>
          <p:nvPr/>
        </p:nvSpPr>
        <p:spPr>
          <a:xfrm>
            <a:off x="777240" y="3218688"/>
            <a:ext cx="1280160" cy="438912"/>
          </a:xfrm>
          <a:prstGeom prst="rect">
            <a:avLst/>
          </a:prstGeom>
          <a:noFill/>
          <a:ln/>
        </p:spPr>
        <p:txBody>
          <a:bodyPr wrap="square" lIns="0" tIns="0" rIns="0" bIns="0" rtlCol="0" anchor="ctr"/>
          <a:lstStyle/>
          <a:p>
            <a:pPr algn="ctr" indent="0" marL="0">
              <a:buNone/>
            </a:pPr>
            <a:r>
              <a:rPr lang="en-US" sz="1400" b="1" dirty="0">
                <a:solidFill>
                  <a:schemeClr val="tx2"/>
                </a:solidFill>
              </a:rPr>
              <a:t>KIQ-5.1</a:t>
            </a:r>
            <a:endParaRPr lang="en-US" sz="1400" dirty="0"/>
          </a:p>
        </p:txBody>
      </p:sp>
      <p:sp>
        <p:nvSpPr>
          <p:cNvPr id="10" name="texte-305"/>
          <p:cNvSpPr txBox="1"/>
          <p:nvPr/>
        </p:nvSpPr>
        <p:spPr>
          <a:xfrm>
            <a:off x="2286000" y="3017520"/>
            <a:ext cx="8138160" cy="841248"/>
          </a:xfrm>
          <a:prstGeom prst="rect">
            <a:avLst/>
          </a:prstGeom>
          <a:noFill/>
          <a:ln/>
        </p:spPr>
        <p:txBody>
          <a:bodyPr wrap="square" lIns="0" tIns="0" rIns="0" bIns="0" rtlCol="0" anchor="ctr"/>
          <a:lstStyle/>
          <a:p>
            <a:pPr indent="0" marL="0">
              <a:buNone/>
            </a:pPr>
            <a:r>
              <a:rPr lang="en-US" sz="1600" dirty="0">
                <a:solidFill>
                  <a:schemeClr val="tx1"/>
                </a:solidFill>
              </a:rPr>
              <a:t>À partir de quelle charge un orchestrateur de conteneurs devient-il rentable pour nous ?</a:t>
            </a:r>
            <a:endParaRPr lang="en-US" sz="1600" dirty="0"/>
          </a:p>
        </p:txBody>
      </p:sp>
      <p:sp>
        <p:nvSpPr>
          <p:cNvPr id="11" name="pastille-306"/>
          <p:cNvSpPr/>
          <p:nvPr/>
        </p:nvSpPr>
        <p:spPr>
          <a:xfrm>
            <a:off x="10042855" y="3218688"/>
            <a:ext cx="1371600" cy="438912"/>
          </a:xfrm>
          <a:prstGeom prst="roundRect">
            <a:avLst>
              <a:gd name="adj" fmla="val 50000"/>
            </a:avLst>
          </a:prstGeom>
          <a:solidFill>
            <a:schemeClr val="accent6"/>
          </a:solidFill>
          <a:ln/>
        </p:spPr>
      </p:sp>
      <p:sp>
        <p:nvSpPr>
          <p:cNvPr id="12" name="texte-307"/>
          <p:cNvSpPr txBox="1"/>
          <p:nvPr/>
        </p:nvSpPr>
        <p:spPr>
          <a:xfrm>
            <a:off x="10042855" y="3218688"/>
            <a:ext cx="1371600" cy="438912"/>
          </a:xfrm>
          <a:prstGeom prst="rect">
            <a:avLst/>
          </a:prstGeom>
          <a:noFill/>
          <a:ln/>
        </p:spPr>
        <p:txBody>
          <a:bodyPr wrap="square" lIns="0" tIns="0" rIns="0" bIns="0" rtlCol="0" anchor="ctr"/>
          <a:lstStyle/>
          <a:p>
            <a:pPr algn="ctr" indent="0" marL="0">
              <a:buNone/>
            </a:pPr>
            <a:r>
              <a:rPr lang="en-US" sz="1300" b="1" dirty="0">
                <a:solidFill>
                  <a:schemeClr val="tx2"/>
                </a:solidFill>
              </a:rPr>
              <a:t>révise D2</a:t>
            </a:r>
            <a:endParaRPr lang="en-US" sz="1300" dirty="0"/>
          </a:p>
        </p:txBody>
      </p:sp>
      <p:sp>
        <p:nvSpPr>
          <p:cNvPr id="13" name="carte-308"/>
          <p:cNvSpPr/>
          <p:nvPr/>
        </p:nvSpPr>
        <p:spPr>
          <a:xfrm>
            <a:off x="548640" y="4005072"/>
            <a:ext cx="11094415" cy="841248"/>
          </a:xfrm>
          <a:prstGeom prst="roundRect">
            <a:avLst>
              <a:gd name="adj" fmla="val 8696"/>
            </a:avLst>
          </a:prstGeom>
          <a:solidFill>
            <a:schemeClr val="bg1"/>
          </a:solidFill>
          <a:ln w="9525">
            <a:solidFill>
              <a:schemeClr val="accent6"/>
            </a:solidFill>
            <a:prstDash val="solid"/>
          </a:ln>
        </p:spPr>
      </p:sp>
      <p:sp>
        <p:nvSpPr>
          <p:cNvPr id="14" name="pastille-309"/>
          <p:cNvSpPr/>
          <p:nvPr/>
        </p:nvSpPr>
        <p:spPr>
          <a:xfrm>
            <a:off x="777240" y="4206240"/>
            <a:ext cx="1280160" cy="438912"/>
          </a:xfrm>
          <a:prstGeom prst="roundRect">
            <a:avLst>
              <a:gd name="adj" fmla="val 50000"/>
            </a:avLst>
          </a:prstGeom>
          <a:solidFill>
            <a:schemeClr val="accent2"/>
          </a:solidFill>
          <a:ln/>
        </p:spPr>
      </p:sp>
      <p:sp>
        <p:nvSpPr>
          <p:cNvPr id="15" name="texte-310"/>
          <p:cNvSpPr txBox="1"/>
          <p:nvPr/>
        </p:nvSpPr>
        <p:spPr>
          <a:xfrm>
            <a:off x="777240" y="4206240"/>
            <a:ext cx="1280160" cy="438912"/>
          </a:xfrm>
          <a:prstGeom prst="rect">
            <a:avLst/>
          </a:prstGeom>
          <a:noFill/>
          <a:ln/>
        </p:spPr>
        <p:txBody>
          <a:bodyPr wrap="square" lIns="0" tIns="0" rIns="0" bIns="0" rtlCol="0" anchor="ctr"/>
          <a:lstStyle/>
          <a:p>
            <a:pPr algn="ctr" indent="0" marL="0">
              <a:buNone/>
            </a:pPr>
            <a:r>
              <a:rPr lang="en-US" sz="1400" b="1" dirty="0">
                <a:solidFill>
                  <a:schemeClr val="tx2"/>
                </a:solidFill>
              </a:rPr>
              <a:t>KIQ-5.2</a:t>
            </a:r>
            <a:endParaRPr lang="en-US" sz="1400" dirty="0"/>
          </a:p>
        </p:txBody>
      </p:sp>
      <p:sp>
        <p:nvSpPr>
          <p:cNvPr id="16" name="texte-311"/>
          <p:cNvSpPr txBox="1"/>
          <p:nvPr/>
        </p:nvSpPr>
        <p:spPr>
          <a:xfrm>
            <a:off x="2286000" y="4005072"/>
            <a:ext cx="8138160" cy="841248"/>
          </a:xfrm>
          <a:prstGeom prst="rect">
            <a:avLst/>
          </a:prstGeom>
          <a:noFill/>
          <a:ln/>
        </p:spPr>
        <p:txBody>
          <a:bodyPr wrap="square" lIns="0" tIns="0" rIns="0" bIns="0" rtlCol="0" anchor="ctr"/>
          <a:lstStyle/>
          <a:p>
            <a:pPr indent="0" marL="0">
              <a:buNone/>
            </a:pPr>
            <a:r>
              <a:rPr lang="en-US" sz="1600" dirty="0">
                <a:solidFill>
                  <a:schemeClr val="tx1"/>
                </a:solidFill>
              </a:rPr>
              <a:t>OpenTelemetry est-il devenu le standard de collecte de nos journaux, métriques et traces ?</a:t>
            </a:r>
            <a:endParaRPr lang="en-US" sz="1600" dirty="0"/>
          </a:p>
        </p:txBody>
      </p:sp>
      <p:sp>
        <p:nvSpPr>
          <p:cNvPr id="17" name="pastille-312"/>
          <p:cNvSpPr/>
          <p:nvPr/>
        </p:nvSpPr>
        <p:spPr>
          <a:xfrm>
            <a:off x="10042855" y="4206240"/>
            <a:ext cx="1371600" cy="438912"/>
          </a:xfrm>
          <a:prstGeom prst="roundRect">
            <a:avLst>
              <a:gd name="adj" fmla="val 50000"/>
            </a:avLst>
          </a:prstGeom>
          <a:solidFill>
            <a:schemeClr val="accent6"/>
          </a:solidFill>
          <a:ln/>
        </p:spPr>
      </p:sp>
      <p:sp>
        <p:nvSpPr>
          <p:cNvPr id="18" name="texte-313"/>
          <p:cNvSpPr txBox="1"/>
          <p:nvPr/>
        </p:nvSpPr>
        <p:spPr>
          <a:xfrm>
            <a:off x="10042855" y="4206240"/>
            <a:ext cx="1371600" cy="438912"/>
          </a:xfrm>
          <a:prstGeom prst="rect">
            <a:avLst/>
          </a:prstGeom>
          <a:noFill/>
          <a:ln/>
        </p:spPr>
        <p:txBody>
          <a:bodyPr wrap="square" lIns="0" tIns="0" rIns="0" bIns="0" rtlCol="0" anchor="ctr"/>
          <a:lstStyle/>
          <a:p>
            <a:pPr algn="ctr" indent="0" marL="0">
              <a:buNone/>
            </a:pPr>
            <a:r>
              <a:rPr lang="en-US" sz="1300" b="1" dirty="0">
                <a:solidFill>
                  <a:schemeClr val="tx2"/>
                </a:solidFill>
              </a:rPr>
              <a:t>révise D5</a:t>
            </a:r>
            <a:endParaRPr lang="en-US" sz="1300" dirty="0"/>
          </a:p>
        </p:txBody>
      </p:sp>
      <p:sp>
        <p:nvSpPr>
          <p:cNvPr id="19" name="carte-314"/>
          <p:cNvSpPr/>
          <p:nvPr/>
        </p:nvSpPr>
        <p:spPr>
          <a:xfrm>
            <a:off x="548640" y="4992624"/>
            <a:ext cx="11094415" cy="841248"/>
          </a:xfrm>
          <a:prstGeom prst="roundRect">
            <a:avLst>
              <a:gd name="adj" fmla="val 8696"/>
            </a:avLst>
          </a:prstGeom>
          <a:solidFill>
            <a:schemeClr val="bg1"/>
          </a:solidFill>
          <a:ln w="9525">
            <a:solidFill>
              <a:schemeClr val="accent6"/>
            </a:solidFill>
            <a:prstDash val="solid"/>
          </a:ln>
        </p:spPr>
      </p:sp>
      <p:sp>
        <p:nvSpPr>
          <p:cNvPr id="20" name="pastille-315"/>
          <p:cNvSpPr/>
          <p:nvPr/>
        </p:nvSpPr>
        <p:spPr>
          <a:xfrm>
            <a:off x="777240" y="5193792"/>
            <a:ext cx="1280160" cy="438912"/>
          </a:xfrm>
          <a:prstGeom prst="roundRect">
            <a:avLst>
              <a:gd name="adj" fmla="val 50000"/>
            </a:avLst>
          </a:prstGeom>
          <a:solidFill>
            <a:schemeClr val="accent2"/>
          </a:solidFill>
          <a:ln/>
        </p:spPr>
      </p:sp>
      <p:sp>
        <p:nvSpPr>
          <p:cNvPr id="21" name="texte-316"/>
          <p:cNvSpPr txBox="1"/>
          <p:nvPr/>
        </p:nvSpPr>
        <p:spPr>
          <a:xfrm>
            <a:off x="777240" y="5193792"/>
            <a:ext cx="1280160" cy="438912"/>
          </a:xfrm>
          <a:prstGeom prst="rect">
            <a:avLst/>
          </a:prstGeom>
          <a:noFill/>
          <a:ln/>
        </p:spPr>
        <p:txBody>
          <a:bodyPr wrap="square" lIns="0" tIns="0" rIns="0" bIns="0" rtlCol="0" anchor="ctr"/>
          <a:lstStyle/>
          <a:p>
            <a:pPr algn="ctr" indent="0" marL="0">
              <a:buNone/>
            </a:pPr>
            <a:r>
              <a:rPr lang="en-US" sz="1400" b="1" dirty="0">
                <a:solidFill>
                  <a:schemeClr val="tx2"/>
                </a:solidFill>
              </a:rPr>
              <a:t>KIQ-5.3</a:t>
            </a:r>
            <a:endParaRPr lang="en-US" sz="1400" dirty="0"/>
          </a:p>
        </p:txBody>
      </p:sp>
      <p:sp>
        <p:nvSpPr>
          <p:cNvPr id="22" name="texte-317"/>
          <p:cNvSpPr txBox="1"/>
          <p:nvPr/>
        </p:nvSpPr>
        <p:spPr>
          <a:xfrm>
            <a:off x="2286000" y="4992624"/>
            <a:ext cx="8138160" cy="841248"/>
          </a:xfrm>
          <a:prstGeom prst="rect">
            <a:avLst/>
          </a:prstGeom>
          <a:noFill/>
          <a:ln/>
        </p:spPr>
        <p:txBody>
          <a:bodyPr wrap="square" lIns="0" tIns="0" rIns="0" bIns="0" rtlCol="0" anchor="ctr"/>
          <a:lstStyle/>
          <a:p>
            <a:pPr indent="0" marL="0">
              <a:buNone/>
            </a:pPr>
            <a:r>
              <a:rPr lang="en-US" sz="1600" dirty="0">
                <a:solidFill>
                  <a:schemeClr val="tx1"/>
                </a:solidFill>
              </a:rPr>
              <a:t>Une offre PostgreSQL managée européenne ferait-elle mieux que nos sauvegardes ?</a:t>
            </a:r>
            <a:endParaRPr lang="en-US" sz="1600" dirty="0"/>
          </a:p>
        </p:txBody>
      </p:sp>
      <p:sp>
        <p:nvSpPr>
          <p:cNvPr id="23" name="pastille-318"/>
          <p:cNvSpPr/>
          <p:nvPr/>
        </p:nvSpPr>
        <p:spPr>
          <a:xfrm>
            <a:off x="10042855" y="5193792"/>
            <a:ext cx="1371600" cy="438912"/>
          </a:xfrm>
          <a:prstGeom prst="roundRect">
            <a:avLst>
              <a:gd name="adj" fmla="val 50000"/>
            </a:avLst>
          </a:prstGeom>
          <a:solidFill>
            <a:schemeClr val="accent6"/>
          </a:solidFill>
          <a:ln/>
        </p:spPr>
      </p:sp>
      <p:sp>
        <p:nvSpPr>
          <p:cNvPr id="24" name="texte-319"/>
          <p:cNvSpPr txBox="1"/>
          <p:nvPr/>
        </p:nvSpPr>
        <p:spPr>
          <a:xfrm>
            <a:off x="10042855" y="5193792"/>
            <a:ext cx="1371600" cy="438912"/>
          </a:xfrm>
          <a:prstGeom prst="rect">
            <a:avLst/>
          </a:prstGeom>
          <a:noFill/>
          <a:ln/>
        </p:spPr>
        <p:txBody>
          <a:bodyPr wrap="square" lIns="0" tIns="0" rIns="0" bIns="0" rtlCol="0" anchor="ctr"/>
          <a:lstStyle/>
          <a:p>
            <a:pPr algn="ctr" indent="0" marL="0">
              <a:buNone/>
            </a:pPr>
            <a:r>
              <a:rPr lang="en-US" sz="1300" b="1" dirty="0">
                <a:solidFill>
                  <a:schemeClr val="tx2"/>
                </a:solidFill>
              </a:rPr>
              <a:t>révise D4</a:t>
            </a:r>
            <a:endParaRPr lang="en-US" sz="13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ÉCHANGES</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Pistes de discussion</a:t>
            </a:r>
            <a:endParaRPr lang="en-US" sz="3400" dirty="0"/>
          </a:p>
        </p:txBody>
      </p:sp>
      <p:sp>
        <p:nvSpPr>
          <p:cNvPr id="5" name="numero-320"/>
          <p:cNvSpPr/>
          <p:nvPr/>
        </p:nvSpPr>
        <p:spPr>
          <a:xfrm>
            <a:off x="548640" y="1764792"/>
            <a:ext cx="548640" cy="548640"/>
          </a:xfrm>
          <a:prstGeom prst="ellipse">
            <a:avLst/>
          </a:prstGeom>
          <a:solidFill>
            <a:schemeClr val="accent1"/>
          </a:solidFill>
          <a:ln/>
        </p:spPr>
      </p:sp>
      <p:sp>
        <p:nvSpPr>
          <p:cNvPr id="6" name="texte-321"/>
          <p:cNvSpPr txBox="1"/>
          <p:nvPr/>
        </p:nvSpPr>
        <p:spPr>
          <a:xfrm>
            <a:off x="548640" y="1764792"/>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latin typeface="Cambria" pitchFamily="34" charset="0"/>
                <a:ea typeface="Cambria" pitchFamily="34" charset="-122"/>
                <a:cs typeface="Cambria" pitchFamily="34" charset="-120"/>
              </a:rPr>
              <a:t>1</a:t>
            </a:r>
            <a:endParaRPr lang="en-US" sz="1800" dirty="0"/>
          </a:p>
        </p:txBody>
      </p:sp>
      <p:sp>
        <p:nvSpPr>
          <p:cNvPr id="7" name="texte-322"/>
          <p:cNvSpPr txBox="1"/>
          <p:nvPr/>
        </p:nvSpPr>
        <p:spPr>
          <a:xfrm>
            <a:off x="1325880" y="1691640"/>
            <a:ext cx="10241280" cy="694944"/>
          </a:xfrm>
          <a:prstGeom prst="rect">
            <a:avLst/>
          </a:prstGeom>
          <a:noFill/>
          <a:ln/>
        </p:spPr>
        <p:txBody>
          <a:bodyPr wrap="square" lIns="0" tIns="0" rIns="0" bIns="0" rtlCol="0" anchor="ctr"/>
          <a:lstStyle/>
          <a:p>
            <a:pPr indent="0" marL="0">
              <a:buNone/>
            </a:pPr>
            <a:r>
              <a:rPr lang="en-US" sz="1800" dirty="0">
                <a:solidFill>
                  <a:schemeClr val="bg1"/>
                </a:solidFill>
              </a:rPr>
              <a:t>À partir de quel volume ou de quelle exigence Altéa devrait-elle passer à Kubernetes ?</a:t>
            </a:r>
            <a:endParaRPr lang="en-US" sz="1800" dirty="0"/>
          </a:p>
        </p:txBody>
      </p:sp>
      <p:sp>
        <p:nvSpPr>
          <p:cNvPr id="8" name="numero-323"/>
          <p:cNvSpPr/>
          <p:nvPr/>
        </p:nvSpPr>
        <p:spPr>
          <a:xfrm>
            <a:off x="548640" y="2633472"/>
            <a:ext cx="548640" cy="548640"/>
          </a:xfrm>
          <a:prstGeom prst="ellipse">
            <a:avLst/>
          </a:prstGeom>
          <a:solidFill>
            <a:schemeClr val="accent2"/>
          </a:solidFill>
          <a:ln/>
        </p:spPr>
      </p:sp>
      <p:sp>
        <p:nvSpPr>
          <p:cNvPr id="9" name="texte-324"/>
          <p:cNvSpPr txBox="1"/>
          <p:nvPr/>
        </p:nvSpPr>
        <p:spPr>
          <a:xfrm>
            <a:off x="548640" y="2633472"/>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latin typeface="Cambria" pitchFamily="34" charset="0"/>
                <a:ea typeface="Cambria" pitchFamily="34" charset="-122"/>
                <a:cs typeface="Cambria" pitchFamily="34" charset="-120"/>
              </a:rPr>
              <a:t>2</a:t>
            </a:r>
            <a:endParaRPr lang="en-US" sz="1800" dirty="0"/>
          </a:p>
        </p:txBody>
      </p:sp>
      <p:sp>
        <p:nvSpPr>
          <p:cNvPr id="10" name="texte-325"/>
          <p:cNvSpPr txBox="1"/>
          <p:nvPr/>
        </p:nvSpPr>
        <p:spPr>
          <a:xfrm>
            <a:off x="1325880" y="2560320"/>
            <a:ext cx="10241280" cy="694944"/>
          </a:xfrm>
          <a:prstGeom prst="rect">
            <a:avLst/>
          </a:prstGeom>
          <a:noFill/>
          <a:ln/>
        </p:spPr>
        <p:txBody>
          <a:bodyPr wrap="square" lIns="0" tIns="0" rIns="0" bIns="0" rtlCol="0" anchor="ctr"/>
          <a:lstStyle/>
          <a:p>
            <a:pPr indent="0" marL="0">
              <a:buNone/>
            </a:pPr>
            <a:r>
              <a:rPr lang="en-US" sz="1800" dirty="0">
                <a:solidFill>
                  <a:schemeClr val="bg1"/>
                </a:solidFill>
              </a:rPr>
              <a:t>Le service tourne sur un seul serveur : quel est le risque, et comment le réduire sans tout complexifier ?</a:t>
            </a:r>
            <a:endParaRPr lang="en-US" sz="1800" dirty="0"/>
          </a:p>
        </p:txBody>
      </p:sp>
      <p:sp>
        <p:nvSpPr>
          <p:cNvPr id="11" name="numero-326"/>
          <p:cNvSpPr/>
          <p:nvPr/>
        </p:nvSpPr>
        <p:spPr>
          <a:xfrm>
            <a:off x="548640" y="3502152"/>
            <a:ext cx="548640" cy="548640"/>
          </a:xfrm>
          <a:prstGeom prst="ellipse">
            <a:avLst/>
          </a:prstGeom>
          <a:solidFill>
            <a:schemeClr val="accent2"/>
          </a:solidFill>
          <a:ln/>
        </p:spPr>
      </p:sp>
      <p:sp>
        <p:nvSpPr>
          <p:cNvPr id="12" name="texte-327"/>
          <p:cNvSpPr txBox="1"/>
          <p:nvPr/>
        </p:nvSpPr>
        <p:spPr>
          <a:xfrm>
            <a:off x="548640" y="3502152"/>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latin typeface="Cambria" pitchFamily="34" charset="0"/>
                <a:ea typeface="Cambria" pitchFamily="34" charset="-122"/>
                <a:cs typeface="Cambria" pitchFamily="34" charset="-120"/>
              </a:rPr>
              <a:t>3</a:t>
            </a:r>
            <a:endParaRPr lang="en-US" sz="1800" dirty="0"/>
          </a:p>
        </p:txBody>
      </p:sp>
      <p:sp>
        <p:nvSpPr>
          <p:cNvPr id="13" name="texte-328"/>
          <p:cNvSpPr txBox="1"/>
          <p:nvPr/>
        </p:nvSpPr>
        <p:spPr>
          <a:xfrm>
            <a:off x="1325880" y="3429000"/>
            <a:ext cx="10241280" cy="694944"/>
          </a:xfrm>
          <a:prstGeom prst="rect">
            <a:avLst/>
          </a:prstGeom>
          <a:noFill/>
          <a:ln/>
        </p:spPr>
        <p:txBody>
          <a:bodyPr wrap="square" lIns="0" tIns="0" rIns="0" bIns="0" rtlCol="0" anchor="ctr"/>
          <a:lstStyle/>
          <a:p>
            <a:pPr indent="0" marL="0">
              <a:buNone/>
            </a:pPr>
            <a:r>
              <a:rPr lang="en-US" sz="1800" dirty="0">
                <a:solidFill>
                  <a:schemeClr val="bg1"/>
                </a:solidFill>
              </a:rPr>
              <a:t>Comment rendre le collecteur plus robuste sans collecter deux fois ?</a:t>
            </a:r>
            <a:endParaRPr lang="en-US" sz="1800" dirty="0"/>
          </a:p>
        </p:txBody>
      </p:sp>
      <p:sp>
        <p:nvSpPr>
          <p:cNvPr id="14" name="numero-329"/>
          <p:cNvSpPr/>
          <p:nvPr/>
        </p:nvSpPr>
        <p:spPr>
          <a:xfrm>
            <a:off x="548640" y="4370832"/>
            <a:ext cx="548640" cy="548640"/>
          </a:xfrm>
          <a:prstGeom prst="ellipse">
            <a:avLst/>
          </a:prstGeom>
          <a:solidFill>
            <a:schemeClr val="accent2"/>
          </a:solidFill>
          <a:ln/>
        </p:spPr>
      </p:sp>
      <p:sp>
        <p:nvSpPr>
          <p:cNvPr id="15" name="texte-330"/>
          <p:cNvSpPr txBox="1"/>
          <p:nvPr/>
        </p:nvSpPr>
        <p:spPr>
          <a:xfrm>
            <a:off x="548640" y="4370832"/>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latin typeface="Cambria" pitchFamily="34" charset="0"/>
                <a:ea typeface="Cambria" pitchFamily="34" charset="-122"/>
                <a:cs typeface="Cambria" pitchFamily="34" charset="-120"/>
              </a:rPr>
              <a:t>4</a:t>
            </a:r>
            <a:endParaRPr lang="en-US" sz="1800" dirty="0"/>
          </a:p>
        </p:txBody>
      </p:sp>
      <p:sp>
        <p:nvSpPr>
          <p:cNvPr id="16" name="texte-331"/>
          <p:cNvSpPr txBox="1"/>
          <p:nvPr/>
        </p:nvSpPr>
        <p:spPr>
          <a:xfrm>
            <a:off x="1325880" y="4297680"/>
            <a:ext cx="10241280" cy="694944"/>
          </a:xfrm>
          <a:prstGeom prst="rect">
            <a:avLst/>
          </a:prstGeom>
          <a:noFill/>
          <a:ln/>
        </p:spPr>
        <p:txBody>
          <a:bodyPr wrap="square" lIns="0" tIns="0" rIns="0" bIns="0" rtlCol="0" anchor="ctr"/>
          <a:lstStyle/>
          <a:p>
            <a:pPr indent="0" marL="0">
              <a:buNone/>
            </a:pPr>
            <a:r>
              <a:rPr lang="en-US" sz="1800" dirty="0">
                <a:solidFill>
                  <a:schemeClr val="bg1"/>
                </a:solidFill>
              </a:rPr>
              <a:t>Quels indicateurs présenter au CODIR pour justifier le coût du service ?</a:t>
            </a:r>
            <a:endParaRPr lang="en-US" sz="1800" dirty="0"/>
          </a:p>
        </p:txBody>
      </p:sp>
      <p:sp>
        <p:nvSpPr>
          <p:cNvPr id="17" name="numero-332"/>
          <p:cNvSpPr/>
          <p:nvPr/>
        </p:nvSpPr>
        <p:spPr>
          <a:xfrm>
            <a:off x="548640" y="5239512"/>
            <a:ext cx="548640" cy="548640"/>
          </a:xfrm>
          <a:prstGeom prst="ellipse">
            <a:avLst/>
          </a:prstGeom>
          <a:solidFill>
            <a:schemeClr val="accent2"/>
          </a:solidFill>
          <a:ln/>
        </p:spPr>
      </p:sp>
      <p:sp>
        <p:nvSpPr>
          <p:cNvPr id="18" name="texte-333"/>
          <p:cNvSpPr txBox="1"/>
          <p:nvPr/>
        </p:nvSpPr>
        <p:spPr>
          <a:xfrm>
            <a:off x="548640" y="5239512"/>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latin typeface="Cambria" pitchFamily="34" charset="0"/>
                <a:ea typeface="Cambria" pitchFamily="34" charset="-122"/>
                <a:cs typeface="Cambria" pitchFamily="34" charset="-120"/>
              </a:rPr>
              <a:t>5</a:t>
            </a:r>
            <a:endParaRPr lang="en-US" sz="1800" dirty="0"/>
          </a:p>
        </p:txBody>
      </p:sp>
      <p:sp>
        <p:nvSpPr>
          <p:cNvPr id="19" name="texte-334"/>
          <p:cNvSpPr txBox="1"/>
          <p:nvPr/>
        </p:nvSpPr>
        <p:spPr>
          <a:xfrm>
            <a:off x="1325880" y="5166360"/>
            <a:ext cx="10241280" cy="694944"/>
          </a:xfrm>
          <a:prstGeom prst="rect">
            <a:avLst/>
          </a:prstGeom>
          <a:noFill/>
          <a:ln/>
        </p:spPr>
        <p:txBody>
          <a:bodyPr wrap="square" lIns="0" tIns="0" rIns="0" bIns="0" rtlCol="0" anchor="ctr"/>
          <a:lstStyle/>
          <a:p>
            <a:pPr indent="0" marL="0">
              <a:buNone/>
            </a:pPr>
            <a:r>
              <a:rPr lang="en-US" sz="1800" dirty="0">
                <a:solidFill>
                  <a:schemeClr val="bg1"/>
                </a:solidFill>
              </a:rPr>
              <a:t>Quelles décisions nouvelles pour l'ouverture aux clients (authentification, isolation, réversibilité) ?</a:t>
            </a:r>
            <a:endParaRPr lang="en-US" sz="1800" dirty="0"/>
          </a:p>
        </p:txBody>
      </p:sp>
      <p:sp>
        <p:nvSpPr>
          <p:cNvPr id="25" name="Slide Number Placeholder 0"/>
          <p:cNvSpPr>
            <a:spLocks noGrp="1"/>
          </p:cNvSpPr>
          <p:nvPr>
            <p:ph type="sldNum" sz="quarter" idx="4294967295"/>
          </p:nvPr>
        </p:nvSpPr>
        <p:spPr>
          <a:xfrm>
            <a:off x="11064240" y="6382512"/>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Live MBA Veille">
  <a:themeElements>
    <a:clrScheme name="Live MBA Veille">
      <a:dk1>
        <a:srgbClr val="1B2236"/>
      </a:dk1>
      <a:lt1>
        <a:srgbClr val="FFFFFF"/>
      </a:lt1>
      <a:dk2>
        <a:srgbClr val="14213D"/>
      </a:dk2>
      <a:lt2>
        <a:srgbClr val="F6F4EF"/>
      </a:lt2>
      <a:accent1>
        <a:srgbClr val="F4A259"/>
      </a:accent1>
      <a:accent2>
        <a:srgbClr val="8ECAE6"/>
      </a:accent2>
      <a:accent3>
        <a:srgbClr val="2A9D8F"/>
      </a:accent3>
      <a:accent4>
        <a:srgbClr val="E76F51"/>
      </a:accent4>
      <a:accent5>
        <a:srgbClr val="5B6B8C"/>
      </a:accent5>
      <a:accent6>
        <a:srgbClr val="DCE1EA"/>
      </a:accent6>
      <a:hlink>
        <a:srgbClr val="2A6FDB"/>
      </a:hlink>
      <a:folHlink>
        <a:srgbClr val="5B6B8C"/>
      </a:folHlink>
    </a:clrScheme>
    <a:fontScheme name="Live MBA Veil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Live MBA · Mastère CTO &amp; Tech Lead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Étude de cas : Industrialiser le radar d'innovation</dc:title>
  <dc:subject>Kubernetes, Istio, PostgreSQL haute disponibilité et observabilité : décisions d'architecture</dc:subject>
  <dc:creator>Nathan DERHORE</dc:creator>
  <cp:lastModifiedBy>Nathan DERHORE</cp:lastModifiedBy>
  <cp:revision>1</cp:revision>
  <dcterms:created xsi:type="dcterms:W3CDTF">2026-10-07T17:02:25Z</dcterms:created>
  <dcterms:modified xsi:type="dcterms:W3CDTF">2026-10-07T17:02:25Z</dcterms:modified>
</cp:coreProperties>
</file>